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4.svg" ContentType="image/svg+xml"/>
  <Override PartName="/ppt/media/image26.svg" ContentType="image/svg+xml"/>
  <Override PartName="/ppt/media/image3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314" r:id="rId3"/>
    <p:sldId id="326" r:id="rId5"/>
    <p:sldId id="319" r:id="rId6"/>
    <p:sldId id="320" r:id="rId7"/>
    <p:sldId id="321" r:id="rId8"/>
    <p:sldId id="329" r:id="rId9"/>
    <p:sldId id="330" r:id="rId10"/>
    <p:sldId id="331" r:id="rId11"/>
    <p:sldId id="332" r:id="rId12"/>
    <p:sldId id="333" r:id="rId13"/>
    <p:sldId id="334" r:id="rId14"/>
    <p:sldId id="323" r:id="rId15"/>
    <p:sldId id="309" r:id="rId16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5388" autoAdjust="0"/>
  </p:normalViewPr>
  <p:slideViewPr>
    <p:cSldViewPr snapToGrid="0" showGuides="1">
      <p:cViewPr varScale="1">
        <p:scale>
          <a:sx n="74" d="100"/>
          <a:sy n="74" d="100"/>
        </p:scale>
        <p:origin x="327" y="4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4008" y="1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customXml" Target="../customXml/item3.xml"/><Relationship Id="rId23" Type="http://schemas.openxmlformats.org/officeDocument/2006/relationships/customXml" Target="../customXml/item2.xml"/><Relationship Id="rId22" Type="http://schemas.openxmlformats.org/officeDocument/2006/relationships/customXml" Target="../customXml/item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E3DED6F7-DFE3-45DE-96E7-814492E197A1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4BF9A36D-7FAC-478F-9944-F324014F6FD1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C147B4B-AA4A-4D17-978B-7D7ECF36018C}" type="datetime1">
              <a:rPr lang="en-US" altLang="zh-CN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zh-CN"/>
            </a:defPPr>
          </a:lstStyle>
          <a:p>
            <a:pPr lvl="0" rtl="0"/>
            <a:r>
              <a:rPr lang="zh-CN" dirty="0"/>
              <a:t>单击此处编辑母版文本样式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4B9A9E5-4F7F-4A7D-9DE1-899232329269}" type="slidenum">
              <a:rPr lang="en-US" altLang="zh-CN" smtClean="0"/>
            </a:fld>
            <a:endParaRPr lang="en-US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D4B9A9E5-4F7F-4A7D-9DE1-899232329269}" type="slidenum">
              <a:rPr lang="zh-CN" smtClean="0"/>
            </a:fld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D4B9A9E5-4F7F-4A7D-9DE1-899232329269}" type="slidenum">
              <a:rPr lang="en-US" altLang="zh-CN" smtClean="0"/>
            </a:fld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D4B9A9E5-4F7F-4A7D-9DE1-899232329269}" type="slidenum">
              <a:rPr lang="en-US" altLang="zh-CN" smtClean="0"/>
            </a:fld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D4B9A9E5-4F7F-4A7D-9DE1-899232329269}" type="slidenum">
              <a:rPr lang="en-US" altLang="zh-CN" smtClean="0"/>
            </a:fld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zh-CN" smtClean="0"/>
            </a:fld>
            <a:endParaRPr lang="en-US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D4B9A9E5-4F7F-4A7D-9DE1-899232329269}" type="slidenum">
              <a:rPr lang="en-US" altLang="zh-CN" smtClean="0"/>
            </a:fld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D4B9A9E5-4F7F-4A7D-9DE1-899232329269}" type="slidenum">
              <a:rPr lang="en-US" altLang="zh-CN" smtClean="0"/>
            </a:fld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D4B9A9E5-4F7F-4A7D-9DE1-899232329269}" type="slidenum">
              <a:rPr lang="en-US" altLang="zh-CN" smtClean="0"/>
            </a:fld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4.svg"/><Relationship Id="rId4" Type="http://schemas.openxmlformats.org/officeDocument/2006/relationships/image" Target="../media/image15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rtlCol="0" anchor="b">
            <a:normAutofit/>
          </a:bodyPr>
          <a:lstStyle>
            <a:lvl1pPr>
              <a:defRPr lang="zh-CN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dirty="0"/>
              <a:t>单击此处添加标题</a:t>
            </a:r>
            <a:endParaRPr lang="zh-CN" dirty="0"/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>
            <a:fillRect/>
          </a:stretch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>
            <a:fillRect/>
          </a:stretch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图形 9"/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>
            <a:fillRect/>
          </a:stretch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rtlCol="0" anchor="b">
            <a:normAutofit/>
          </a:bodyPr>
          <a:lstStyle>
            <a:lvl1pPr>
              <a:defRPr lang="zh-CN" sz="3200"/>
            </a:lvl1pPr>
          </a:lstStyle>
          <a:p>
            <a:pPr rtl="0"/>
            <a:r>
              <a:rPr lang="zh-CN" dirty="0"/>
              <a:t>单击此处添加标题</a:t>
            </a:r>
            <a:endParaRPr lang="zh-CN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lang="zh-CN" sz="2000"/>
            </a:lvl1pPr>
            <a:lvl2pPr>
              <a:lnSpc>
                <a:spcPct val="120000"/>
              </a:lnSpc>
              <a:defRPr lang="zh-CN" sz="1800"/>
            </a:lvl2pPr>
            <a:lvl3pPr>
              <a:lnSpc>
                <a:spcPct val="120000"/>
              </a:lnSpc>
              <a:defRPr lang="zh-CN" sz="1600"/>
            </a:lvl3pPr>
            <a:lvl4pPr>
              <a:lnSpc>
                <a:spcPct val="120000"/>
              </a:lnSpc>
              <a:defRPr lang="zh-CN" sz="1400"/>
            </a:lvl4pPr>
            <a:lvl5pPr>
              <a:lnSpc>
                <a:spcPct val="120000"/>
              </a:lnSpc>
              <a:defRPr lang="zh-CN" sz="1400"/>
            </a:lvl5pPr>
          </a:lstStyle>
          <a:p>
            <a:pPr lvl="0" rtl="0"/>
            <a:r>
              <a:rPr lang="zh-CN" dirty="0"/>
              <a:t>单击此处添加文本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5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</a:fld>
            <a:endParaRPr 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>
            <a:fillRect/>
          </a:stretch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rtlCol="0" anchor="b">
            <a:normAutofit/>
          </a:bodyPr>
          <a:lstStyle>
            <a:lvl1pPr>
              <a:defRPr lang="zh-CN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dirty="0"/>
              <a:t>单击此处添加标题</a:t>
            </a:r>
            <a:endParaRPr lang="zh-CN" dirty="0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-1" fmla="*/ 0 w 6116320"/>
              <a:gd name="connsiteY0-2" fmla="*/ 0 h 6880225"/>
              <a:gd name="connsiteX1-3" fmla="*/ 6116320 w 6116320"/>
              <a:gd name="connsiteY1-4" fmla="*/ 0 h 6880225"/>
              <a:gd name="connsiteX2-5" fmla="*/ 6116320 w 6116320"/>
              <a:gd name="connsiteY2-6" fmla="*/ 6880225 h 6880225"/>
              <a:gd name="connsiteX3-7" fmla="*/ 2052320 w 6116320"/>
              <a:gd name="connsiteY3-8" fmla="*/ 6880225 h 6880225"/>
              <a:gd name="connsiteX4-9" fmla="*/ 0 w 6116320"/>
              <a:gd name="connsiteY4-10" fmla="*/ 0 h 68802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zh-CN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dirty="0"/>
              <a:t>单击图标插入图片</a:t>
            </a:r>
            <a:endParaRPr 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概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>
            <a:fillRect/>
          </a:stretch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lvl1pPr>
              <a:defRPr lang="zh-CN" sz="4800"/>
            </a:lvl1pPr>
          </a:lstStyle>
          <a:p>
            <a:pPr rtl="0"/>
            <a:r>
              <a:rPr lang="zh-CN" dirty="0"/>
              <a:t>单击此处添加标题</a:t>
            </a:r>
            <a:endParaRPr lang="zh-CN" dirty="0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-1" fmla="*/ 0 w 6096000"/>
              <a:gd name="connsiteY0-2" fmla="*/ 0 h 6858000"/>
              <a:gd name="connsiteX1-3" fmla="*/ 6096000 w 6096000"/>
              <a:gd name="connsiteY1-4" fmla="*/ 0 h 6858000"/>
              <a:gd name="connsiteX2-5" fmla="*/ 4053840 w 6096000"/>
              <a:gd name="connsiteY2-6" fmla="*/ 6858000 h 6858000"/>
              <a:gd name="connsiteX3-7" fmla="*/ 0 w 6096000"/>
              <a:gd name="connsiteY3-8" fmla="*/ 6858000 h 6858000"/>
              <a:gd name="connsiteX4-9" fmla="*/ 0 w 6096000"/>
              <a:gd name="connsiteY4-1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zh-CN" sz="2000"/>
            </a:lvl1pPr>
          </a:lstStyle>
          <a:p>
            <a:pPr rtl="0"/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10" name="内容占位符 9"/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zh-CN" sz="2000"/>
            </a:lvl1pPr>
            <a:lvl2pPr marL="457200" indent="0">
              <a:buNone/>
              <a:defRPr lang="zh-CN" sz="1800"/>
            </a:lvl2pPr>
            <a:lvl3pPr marL="914400" indent="0">
              <a:buNone/>
              <a:defRPr lang="zh-CN" sz="1600"/>
            </a:lvl3pPr>
            <a:lvl4pPr marL="1371600" indent="0">
              <a:buNone/>
              <a:defRPr lang="zh-CN" sz="1400"/>
            </a:lvl4pPr>
            <a:lvl5pPr marL="1828800" indent="0">
              <a:buNone/>
              <a:defRPr lang="zh-CN" sz="1400"/>
            </a:lvl5pPr>
          </a:lstStyle>
          <a:p>
            <a:pPr lvl="0" rtl="0"/>
            <a:r>
              <a:rPr lang="zh-CN" dirty="0"/>
              <a:t>单击此处添加文本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>
            <a:fillRect/>
          </a:stretch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图形 8"/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>
            <a:fillRect/>
          </a:stretch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 rtlCol="0">
            <a:normAutofit/>
          </a:bodyPr>
          <a:lstStyle>
            <a:lvl1pPr>
              <a:defRPr lang="zh-CN" sz="3200"/>
            </a:lvl1pPr>
          </a:lstStyle>
          <a:p>
            <a:pPr rtl="0"/>
            <a:r>
              <a:rPr lang="zh-CN" dirty="0"/>
              <a:t>单击此处添加标题</a:t>
            </a:r>
            <a:endParaRPr lang="zh-CN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zh-CN" sz="2000"/>
            </a:lvl1pPr>
            <a:lvl2pPr>
              <a:spcBef>
                <a:spcPts val="0"/>
              </a:spcBef>
              <a:spcAft>
                <a:spcPts val="1200"/>
              </a:spcAft>
              <a:defRPr lang="zh-CN" sz="1800"/>
            </a:lvl2pPr>
            <a:lvl3pPr>
              <a:spcBef>
                <a:spcPts val="0"/>
              </a:spcBef>
              <a:spcAft>
                <a:spcPts val="1200"/>
              </a:spcAft>
              <a:defRPr lang="zh-CN" sz="1600"/>
            </a:lvl3pPr>
            <a:lvl4pPr>
              <a:spcBef>
                <a:spcPts val="0"/>
              </a:spcBef>
              <a:spcAft>
                <a:spcPts val="1200"/>
              </a:spcAft>
              <a:defRPr lang="zh-CN" sz="1400"/>
            </a:lvl4pPr>
            <a:lvl5pPr>
              <a:spcBef>
                <a:spcPts val="0"/>
              </a:spcBef>
              <a:spcAft>
                <a:spcPts val="1200"/>
              </a:spcAft>
              <a:defRPr lang="zh-CN" sz="1400"/>
            </a:lvl5pPr>
          </a:lstStyle>
          <a:p>
            <a:pPr lvl="0" rtl="0"/>
            <a:r>
              <a:rPr lang="zh-CN" dirty="0"/>
              <a:t>单击此处添加文本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5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</a:fld>
            <a:endParaRPr 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和左侧图像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lvl1pPr>
              <a:defRPr lang="zh-CN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-1" fmla="*/ 0 w 6096000"/>
              <a:gd name="connsiteY0-2" fmla="*/ 0 h 6858000"/>
              <a:gd name="connsiteX1-3" fmla="*/ 4053840 w 6096000"/>
              <a:gd name="connsiteY1-4" fmla="*/ 0 h 6858000"/>
              <a:gd name="connsiteX2-5" fmla="*/ 6096000 w 6096000"/>
              <a:gd name="connsiteY2-6" fmla="*/ 6858000 h 6858000"/>
              <a:gd name="connsiteX3-7" fmla="*/ 0 w 6096000"/>
              <a:gd name="connsiteY3-8" fmla="*/ 6858000 h 6858000"/>
              <a:gd name="connsiteX4-9" fmla="*/ 0 w 6096000"/>
              <a:gd name="connsiteY4-10" fmla="*/ 0 h 6858000"/>
              <a:gd name="connsiteX0-11" fmla="*/ 586 w 6096586"/>
              <a:gd name="connsiteY0-12" fmla="*/ 0 h 6858000"/>
              <a:gd name="connsiteX1-13" fmla="*/ 4054426 w 6096586"/>
              <a:gd name="connsiteY1-14" fmla="*/ 0 h 6858000"/>
              <a:gd name="connsiteX2-15" fmla="*/ 6096586 w 6096586"/>
              <a:gd name="connsiteY2-16" fmla="*/ 6858000 h 6858000"/>
              <a:gd name="connsiteX3-17" fmla="*/ 586 w 6096586"/>
              <a:gd name="connsiteY3-18" fmla="*/ 6858000 h 6858000"/>
              <a:gd name="connsiteX4-19" fmla="*/ 586 w 6096586"/>
              <a:gd name="connsiteY4-20" fmla="*/ 3669792 h 6858000"/>
              <a:gd name="connsiteX5" fmla="*/ 586 w 6096586"/>
              <a:gd name="connsiteY5" fmla="*/ 0 h 6858000"/>
              <a:gd name="connsiteX0-21" fmla="*/ 0 w 6096000"/>
              <a:gd name="connsiteY0-22" fmla="*/ 0 h 6858000"/>
              <a:gd name="connsiteX1-23" fmla="*/ 4053840 w 6096000"/>
              <a:gd name="connsiteY1-24" fmla="*/ 0 h 6858000"/>
              <a:gd name="connsiteX2-25" fmla="*/ 6096000 w 6096000"/>
              <a:gd name="connsiteY2-26" fmla="*/ 6858000 h 6858000"/>
              <a:gd name="connsiteX3-27" fmla="*/ 950976 w 6096000"/>
              <a:gd name="connsiteY3-28" fmla="*/ 6858000 h 6858000"/>
              <a:gd name="connsiteX4-29" fmla="*/ 0 w 6096000"/>
              <a:gd name="connsiteY4-30" fmla="*/ 3669792 h 6858000"/>
              <a:gd name="connsiteX5-31" fmla="*/ 0 w 6096000"/>
              <a:gd name="connsiteY5-32" fmla="*/ 0 h 6858000"/>
              <a:gd name="connsiteX0-33" fmla="*/ 0 w 6096000"/>
              <a:gd name="connsiteY0-34" fmla="*/ 0 h 6858000"/>
              <a:gd name="connsiteX1-35" fmla="*/ 4053840 w 6096000"/>
              <a:gd name="connsiteY1-36" fmla="*/ 0 h 6858000"/>
              <a:gd name="connsiteX2-37" fmla="*/ 6096000 w 6096000"/>
              <a:gd name="connsiteY2-38" fmla="*/ 6858000 h 6858000"/>
              <a:gd name="connsiteX3-39" fmla="*/ 950976 w 6096000"/>
              <a:gd name="connsiteY3-40" fmla="*/ 6858000 h 6858000"/>
              <a:gd name="connsiteX4-41" fmla="*/ 0 w 6096000"/>
              <a:gd name="connsiteY4-42" fmla="*/ 3669792 h 6858000"/>
              <a:gd name="connsiteX5-43" fmla="*/ 0 w 6096000"/>
              <a:gd name="connsiteY5-44" fmla="*/ 0 h 6858000"/>
              <a:gd name="connsiteX0-45" fmla="*/ 0 w 6096000"/>
              <a:gd name="connsiteY0-46" fmla="*/ 0 h 6858000"/>
              <a:gd name="connsiteX1-47" fmla="*/ 4053840 w 6096000"/>
              <a:gd name="connsiteY1-48" fmla="*/ 0 h 6858000"/>
              <a:gd name="connsiteX2-49" fmla="*/ 6096000 w 6096000"/>
              <a:gd name="connsiteY2-50" fmla="*/ 6858000 h 6858000"/>
              <a:gd name="connsiteX3-51" fmla="*/ 950976 w 6096000"/>
              <a:gd name="connsiteY3-52" fmla="*/ 6858000 h 6858000"/>
              <a:gd name="connsiteX4-53" fmla="*/ 0 w 6096000"/>
              <a:gd name="connsiteY4-54" fmla="*/ 3669792 h 6858000"/>
              <a:gd name="connsiteX5-55" fmla="*/ 0 w 6096000"/>
              <a:gd name="connsiteY5-56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31" y="connsiteY5-32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l">
              <a:buNone/>
              <a:defRPr lang="zh-CN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9" name="内容占位符 10"/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zh-CN"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zh-CN"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zh-CN"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zh-CN"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zh-CN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dirty="0"/>
              <a:t>单击此处添加文本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内容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>
            <a:fillRect/>
          </a:stretch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>
            <a:fillRect/>
          </a:stretch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lvl1pPr>
              <a:defRPr lang="zh-CN" sz="3200"/>
            </a:lvl1pPr>
          </a:lstStyle>
          <a:p>
            <a:pPr rtl="0"/>
            <a:r>
              <a:rPr lang="zh-CN" dirty="0"/>
              <a:t>单击此处添加标题</a:t>
            </a:r>
            <a:endParaRPr lang="zh-CN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zh-CN" sz="2000"/>
            </a:lvl1pPr>
            <a:lvl2pPr>
              <a:spcBef>
                <a:spcPts val="0"/>
              </a:spcBef>
              <a:spcAft>
                <a:spcPts val="1200"/>
              </a:spcAft>
              <a:defRPr lang="zh-CN" sz="1800"/>
            </a:lvl2pPr>
            <a:lvl3pPr>
              <a:spcBef>
                <a:spcPts val="0"/>
              </a:spcBef>
              <a:spcAft>
                <a:spcPts val="1200"/>
              </a:spcAft>
              <a:defRPr lang="zh-CN" sz="1600"/>
            </a:lvl3pPr>
            <a:lvl4pPr>
              <a:spcBef>
                <a:spcPts val="0"/>
              </a:spcBef>
              <a:spcAft>
                <a:spcPts val="1200"/>
              </a:spcAft>
              <a:defRPr lang="zh-CN" sz="1400"/>
            </a:lvl4pPr>
            <a:lvl5pPr>
              <a:spcBef>
                <a:spcPts val="0"/>
              </a:spcBef>
              <a:spcAft>
                <a:spcPts val="1200"/>
              </a:spcAft>
              <a:defRPr lang="zh-CN" sz="1400"/>
            </a:lvl5pPr>
          </a:lstStyle>
          <a:p>
            <a:pPr lvl="0" rtl="0"/>
            <a:r>
              <a:rPr lang="zh-CN" dirty="0"/>
              <a:t>单击此处添加文本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12" name="内容占位符 10"/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zh-CN" sz="2000"/>
            </a:lvl1pPr>
            <a:lvl2pPr>
              <a:spcBef>
                <a:spcPts val="0"/>
              </a:spcBef>
              <a:spcAft>
                <a:spcPts val="1200"/>
              </a:spcAft>
              <a:defRPr lang="zh-CN" sz="1800"/>
            </a:lvl2pPr>
            <a:lvl3pPr>
              <a:spcBef>
                <a:spcPts val="0"/>
              </a:spcBef>
              <a:spcAft>
                <a:spcPts val="1200"/>
              </a:spcAft>
              <a:defRPr lang="zh-CN" sz="1600"/>
            </a:lvl3pPr>
            <a:lvl4pPr>
              <a:spcBef>
                <a:spcPts val="0"/>
              </a:spcBef>
              <a:spcAft>
                <a:spcPts val="1200"/>
              </a:spcAft>
              <a:defRPr lang="zh-CN" sz="1400"/>
            </a:lvl4pPr>
            <a:lvl5pPr>
              <a:spcBef>
                <a:spcPts val="0"/>
              </a:spcBef>
              <a:spcAft>
                <a:spcPts val="1200"/>
              </a:spcAft>
              <a:defRPr lang="zh-CN" sz="1400"/>
            </a:lvl5pPr>
          </a:lstStyle>
          <a:p>
            <a:pPr lvl="0" rtl="0"/>
            <a:r>
              <a:rPr lang="zh-CN" dirty="0"/>
              <a:t>单击此处添加文本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5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</a:fld>
            <a:endParaRPr 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内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>
            <a:fillRect/>
          </a:stretch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>
            <a:fillRect/>
          </a:stretch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 rtlCol="0">
            <a:normAutofit/>
          </a:bodyPr>
          <a:lstStyle>
            <a:lvl1pPr>
              <a:defRPr lang="zh-CN" sz="3200"/>
            </a:lvl1pPr>
          </a:lstStyle>
          <a:p>
            <a:pPr rtl="0"/>
            <a:r>
              <a:rPr lang="zh-CN" dirty="0"/>
              <a:t>单击此处添加标题</a:t>
            </a:r>
            <a:endParaRPr lang="zh-CN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zh-CN" sz="2000" b="1"/>
            </a:lvl1pPr>
            <a:lvl2pPr>
              <a:spcBef>
                <a:spcPts val="0"/>
              </a:spcBef>
              <a:spcAft>
                <a:spcPts val="1200"/>
              </a:spcAft>
              <a:defRPr lang="zh-CN" sz="1800" b="1"/>
            </a:lvl2pPr>
            <a:lvl3pPr>
              <a:spcBef>
                <a:spcPts val="0"/>
              </a:spcBef>
              <a:spcAft>
                <a:spcPts val="1200"/>
              </a:spcAft>
              <a:defRPr lang="zh-CN" sz="1600" b="1"/>
            </a:lvl3pPr>
            <a:lvl4pPr>
              <a:spcBef>
                <a:spcPts val="0"/>
              </a:spcBef>
              <a:spcAft>
                <a:spcPts val="1200"/>
              </a:spcAft>
              <a:defRPr lang="zh-CN" sz="1400" b="1"/>
            </a:lvl4pPr>
            <a:lvl5pPr>
              <a:spcBef>
                <a:spcPts val="0"/>
              </a:spcBef>
              <a:spcAft>
                <a:spcPts val="1200"/>
              </a:spcAft>
              <a:defRPr lang="zh-CN" sz="1400" b="1"/>
            </a:lvl5pPr>
          </a:lstStyle>
          <a:p>
            <a:pPr lvl="0" rtl="0"/>
            <a:r>
              <a:rPr lang="zh-CN" dirty="0"/>
              <a:t>单击此处添加文本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12" name="内容占位符 10"/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zh-CN" sz="2000"/>
            </a:lvl1pPr>
            <a:lvl2pPr>
              <a:spcBef>
                <a:spcPts val="0"/>
              </a:spcBef>
              <a:spcAft>
                <a:spcPts val="1200"/>
              </a:spcAft>
              <a:defRPr lang="zh-CN" sz="1800"/>
            </a:lvl2pPr>
            <a:lvl3pPr>
              <a:spcBef>
                <a:spcPts val="0"/>
              </a:spcBef>
              <a:spcAft>
                <a:spcPts val="1200"/>
              </a:spcAft>
              <a:defRPr lang="zh-CN" sz="1600"/>
            </a:lvl3pPr>
            <a:lvl4pPr>
              <a:spcBef>
                <a:spcPts val="0"/>
              </a:spcBef>
              <a:spcAft>
                <a:spcPts val="1200"/>
              </a:spcAft>
              <a:defRPr lang="zh-CN" sz="1400"/>
            </a:lvl4pPr>
            <a:lvl5pPr>
              <a:spcBef>
                <a:spcPts val="0"/>
              </a:spcBef>
              <a:spcAft>
                <a:spcPts val="1200"/>
              </a:spcAft>
              <a:defRPr lang="zh-CN" sz="1400"/>
            </a:lvl5pPr>
          </a:lstStyle>
          <a:p>
            <a:pPr lvl="0" rtl="0"/>
            <a:r>
              <a:rPr lang="zh-CN" dirty="0"/>
              <a:t>单击此处添加文本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5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</a:fld>
            <a:endParaRPr 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和右侧图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>
            <a:fillRect/>
          </a:stretch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 rtlCol="0">
            <a:normAutofit/>
          </a:bodyPr>
          <a:lstStyle>
            <a:lvl1pPr>
              <a:defRPr lang="zh-CN" sz="3200"/>
            </a:lvl1pPr>
          </a:lstStyle>
          <a:p>
            <a:pPr rtl="0"/>
            <a:r>
              <a:rPr lang="zh-CN" dirty="0"/>
              <a:t>单击此处添加标题</a:t>
            </a:r>
            <a:endParaRPr lang="zh-CN" dirty="0"/>
          </a:p>
        </p:txBody>
      </p:sp>
      <p:sp>
        <p:nvSpPr>
          <p:cNvPr id="10" name="内容占位符 10"/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zh-CN" sz="2000" b="0"/>
            </a:lvl1pPr>
            <a:lvl2pPr>
              <a:spcBef>
                <a:spcPts val="0"/>
              </a:spcBef>
              <a:spcAft>
                <a:spcPts val="1200"/>
              </a:spcAft>
              <a:defRPr lang="zh-CN" sz="1800" b="0"/>
            </a:lvl2pPr>
            <a:lvl3pPr>
              <a:spcBef>
                <a:spcPts val="0"/>
              </a:spcBef>
              <a:spcAft>
                <a:spcPts val="1200"/>
              </a:spcAft>
              <a:defRPr lang="zh-CN" sz="1600" b="0"/>
            </a:lvl3pPr>
            <a:lvl4pPr>
              <a:spcBef>
                <a:spcPts val="0"/>
              </a:spcBef>
              <a:spcAft>
                <a:spcPts val="1200"/>
              </a:spcAft>
              <a:defRPr lang="zh-CN" sz="1400" b="0"/>
            </a:lvl4pPr>
            <a:lvl5pPr>
              <a:spcBef>
                <a:spcPts val="0"/>
              </a:spcBef>
              <a:spcAft>
                <a:spcPts val="1200"/>
              </a:spcAft>
              <a:defRPr lang="zh-CN" sz="1400" b="0"/>
            </a:lvl5pPr>
          </a:lstStyle>
          <a:p>
            <a:pPr lvl="0" rtl="0"/>
            <a:r>
              <a:rPr lang="zh-CN" dirty="0"/>
              <a:t>单击此处添加文本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5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</a:fld>
            <a:endParaRPr lang="zh-CN" dirty="0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-1" fmla="*/ 2024742 w 6115050"/>
              <a:gd name="connsiteY0-2" fmla="*/ 0 h 6858000"/>
              <a:gd name="connsiteX1-3" fmla="*/ 6115050 w 6115050"/>
              <a:gd name="connsiteY1-4" fmla="*/ 0 h 6858000"/>
              <a:gd name="connsiteX2-5" fmla="*/ 6115050 w 6115050"/>
              <a:gd name="connsiteY2-6" fmla="*/ 6858000 h 6858000"/>
              <a:gd name="connsiteX3-7" fmla="*/ 0 w 6115050"/>
              <a:gd name="connsiteY3-8" fmla="*/ 6858000 h 6858000"/>
              <a:gd name="connsiteX4-9" fmla="*/ 2024742 w 6115050"/>
              <a:gd name="connsiteY4-10" fmla="*/ 0 h 6858000"/>
              <a:gd name="connsiteX0-11" fmla="*/ 2024742 w 6115050"/>
              <a:gd name="connsiteY0-12" fmla="*/ 0 h 6858000"/>
              <a:gd name="connsiteX1-13" fmla="*/ 6115050 w 6115050"/>
              <a:gd name="connsiteY1-14" fmla="*/ 0 h 6858000"/>
              <a:gd name="connsiteX2-15" fmla="*/ 6115050 w 6115050"/>
              <a:gd name="connsiteY2-16" fmla="*/ 3603171 h 6858000"/>
              <a:gd name="connsiteX3-17" fmla="*/ 6115050 w 6115050"/>
              <a:gd name="connsiteY3-18" fmla="*/ 6858000 h 6858000"/>
              <a:gd name="connsiteX4-19" fmla="*/ 0 w 6115050"/>
              <a:gd name="connsiteY4-20" fmla="*/ 6858000 h 6858000"/>
              <a:gd name="connsiteX5" fmla="*/ 2024742 w 6115050"/>
              <a:gd name="connsiteY5" fmla="*/ 0 h 6858000"/>
              <a:gd name="connsiteX0-21" fmla="*/ 2024742 w 6115050"/>
              <a:gd name="connsiteY0-22" fmla="*/ 0 h 6868886"/>
              <a:gd name="connsiteX1-23" fmla="*/ 6115050 w 6115050"/>
              <a:gd name="connsiteY1-24" fmla="*/ 0 h 6868886"/>
              <a:gd name="connsiteX2-25" fmla="*/ 6115050 w 6115050"/>
              <a:gd name="connsiteY2-26" fmla="*/ 3603171 h 6868886"/>
              <a:gd name="connsiteX3-27" fmla="*/ 5157107 w 6115050"/>
              <a:gd name="connsiteY3-28" fmla="*/ 6868886 h 6868886"/>
              <a:gd name="connsiteX4-29" fmla="*/ 0 w 6115050"/>
              <a:gd name="connsiteY4-30" fmla="*/ 6858000 h 6868886"/>
              <a:gd name="connsiteX5-31" fmla="*/ 2024742 w 6115050"/>
              <a:gd name="connsiteY5-32" fmla="*/ 0 h 68688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31" y="connsiteY5-32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r">
              <a:buNone/>
              <a:defRPr lang="zh-CN" sz="20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和表格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>
            <a:fillRect/>
          </a:stretch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长方形 13"/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9" name="图形 8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>
            <a:fillRect/>
          </a:stretch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 rtlCol="0">
            <a:normAutofit/>
          </a:bodyPr>
          <a:lstStyle>
            <a:lvl1pPr>
              <a:defRPr lang="zh-CN" sz="3200"/>
            </a:lvl1pPr>
          </a:lstStyle>
          <a:p>
            <a:pPr rtl="0"/>
            <a:r>
              <a:rPr lang="zh-CN" dirty="0"/>
              <a:t>单击此处添加标题</a:t>
            </a:r>
            <a:endParaRPr lang="zh-CN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zh-CN" sz="2000" b="0"/>
            </a:lvl1pPr>
            <a:lvl2pPr>
              <a:spcBef>
                <a:spcPts val="0"/>
              </a:spcBef>
              <a:spcAft>
                <a:spcPts val="1200"/>
              </a:spcAft>
              <a:defRPr lang="zh-CN" sz="1800" b="0"/>
            </a:lvl2pPr>
            <a:lvl3pPr>
              <a:spcBef>
                <a:spcPts val="0"/>
              </a:spcBef>
              <a:spcAft>
                <a:spcPts val="1200"/>
              </a:spcAft>
              <a:defRPr lang="zh-CN" sz="1600" b="0"/>
            </a:lvl3pPr>
            <a:lvl4pPr>
              <a:spcBef>
                <a:spcPts val="0"/>
              </a:spcBef>
              <a:spcAft>
                <a:spcPts val="1200"/>
              </a:spcAft>
              <a:defRPr lang="zh-CN" sz="1400" b="0"/>
            </a:lvl4pPr>
            <a:lvl5pPr>
              <a:spcBef>
                <a:spcPts val="0"/>
              </a:spcBef>
              <a:spcAft>
                <a:spcPts val="1200"/>
              </a:spcAft>
              <a:defRPr lang="zh-CN" sz="1400" b="0"/>
            </a:lvl5pPr>
          </a:lstStyle>
          <a:p>
            <a:pPr lvl="0" rtl="0"/>
            <a:r>
              <a:rPr lang="zh-CN" dirty="0"/>
              <a:t>单击此处添加文本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13" name="表格占位符 12"/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 rtlCol="0">
            <a:normAutofit/>
          </a:bodyPr>
          <a:lstStyle>
            <a:lvl1pPr>
              <a:defRPr lang="zh-CN" sz="2000"/>
            </a:lvl1pPr>
          </a:lstStyle>
          <a:p>
            <a:pPr rtl="0"/>
            <a:r>
              <a:rPr lang="zh-CN" dirty="0"/>
              <a:t>单击图标插入表格</a:t>
            </a:r>
            <a:endParaRPr lang="zh-CN" dirty="0"/>
          </a:p>
        </p:txBody>
      </p:sp>
      <p:sp>
        <p:nvSpPr>
          <p:cNvPr id="5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</a:fld>
            <a:endParaRPr 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内容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>
            <a:fillRect/>
          </a:stretch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>
            <a:fillRect/>
          </a:stretch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lvl1pPr>
              <a:defRPr lang="zh-CN" sz="3200"/>
            </a:lvl1pPr>
          </a:lstStyle>
          <a:p>
            <a:pPr rtl="0"/>
            <a:r>
              <a:rPr lang="zh-CN" dirty="0"/>
              <a:t>单击此处添加标题</a:t>
            </a:r>
            <a:endParaRPr lang="zh-CN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zh-CN"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lang="zh-CN"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lang="zh-CN"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lang="zh-CN"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lang="zh-CN" sz="1600" b="0"/>
            </a:lvl5pPr>
          </a:lstStyle>
          <a:p>
            <a:pPr lvl="0" rtl="0"/>
            <a:r>
              <a:rPr lang="zh-CN" dirty="0"/>
              <a:t>单击此处添加文本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12" name="内容占位符 10"/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zh-CN"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lang="zh-CN"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lang="zh-CN"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lang="zh-CN"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lang="zh-CN" sz="1400" b="1"/>
            </a:lvl5pPr>
          </a:lstStyle>
          <a:p>
            <a:pPr lvl="0" rtl="0"/>
            <a:r>
              <a:rPr lang="zh-CN" dirty="0"/>
              <a:t>单击此处添加文本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5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</a:fld>
            <a:endParaRPr 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>
            <a:fillRect/>
          </a:stretch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 rtlCol="0">
            <a:normAutofit/>
          </a:bodyPr>
          <a:lstStyle>
            <a:lvl1pPr>
              <a:defRPr lang="zh-CN" sz="3200"/>
            </a:lvl1pPr>
          </a:lstStyle>
          <a:p>
            <a:pPr rtl="0"/>
            <a:r>
              <a:rPr lang="zh-CN" dirty="0"/>
              <a:t>单击此处添加标题</a:t>
            </a:r>
            <a:endParaRPr lang="zh-CN" dirty="0"/>
          </a:p>
        </p:txBody>
      </p:sp>
      <p:sp>
        <p:nvSpPr>
          <p:cNvPr id="9" name="图表占位符 8"/>
          <p:cNvSpPr>
            <a:spLocks noGrp="1"/>
          </p:cNvSpPr>
          <p:nvPr>
            <p:ph type="tbl" sz="quarter" idx="10" hasCustomPrompt="1"/>
          </p:nvPr>
        </p:nvSpPr>
        <p:spPr>
          <a:xfrm>
            <a:off x="923545" y="2009775"/>
            <a:ext cx="10354052" cy="3931920"/>
          </a:xfrm>
        </p:spPr>
        <p:txBody>
          <a:bodyPr rtlCol="0">
            <a:normAutofit/>
          </a:bodyPr>
          <a:lstStyle>
            <a:lvl1pPr>
              <a:defRPr lang="zh-CN" sz="2400"/>
            </a:lvl1pPr>
          </a:lstStyle>
          <a:p>
            <a:pPr rtl="0"/>
            <a:r>
              <a:rPr lang="zh-CN" altLang="en-US"/>
              <a:t>单击图标添加表格</a:t>
            </a:r>
            <a:endParaRPr lang="zh-CN" dirty="0"/>
          </a:p>
        </p:txBody>
      </p:sp>
      <p:sp>
        <p:nvSpPr>
          <p:cNvPr id="5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</a:fld>
            <a:endParaRPr lang="zh-C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语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lvl1pPr>
              <a:defRPr lang="zh-CN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dirty="0"/>
              <a:t>单击此处添加标题</a:t>
            </a:r>
            <a:endParaRPr lang="zh-CN" dirty="0"/>
          </a:p>
        </p:txBody>
      </p:sp>
      <p:sp>
        <p:nvSpPr>
          <p:cNvPr id="8" name="内容占位符 2"/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zh-CN"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sz="12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dirty="0"/>
              <a:t>单击此处添加内容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pic>
        <p:nvPicPr>
          <p:cNvPr id="2" name="图形 1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>
            <a:fillRect/>
          </a:stretch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单击此处编辑母版标题样式</a:t>
            </a:r>
            <a:endParaRPr 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dirty="0"/>
              <a:t>单击此处编辑母版文本样式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zh-CN" dirty="0"/>
              <a:t>融资演讲稿</a:t>
            </a:r>
            <a:endParaRPr lang="zh-CN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</a:fld>
            <a:endParaRPr 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sz="4400" kern="1200" cap="all" baseline="0">
          <a:solidFill>
            <a:schemeClr val="tx1"/>
          </a:solidFill>
          <a:latin typeface="+mj-cs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CN" sz="2800" kern="1200">
          <a:solidFill>
            <a:schemeClr val="tx1"/>
          </a:solidFill>
          <a:latin typeface="+mn-cs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400" kern="1200">
          <a:solidFill>
            <a:schemeClr val="tx1"/>
          </a:solidFill>
          <a:latin typeface="+mn-cs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000" kern="1200">
          <a:solidFill>
            <a:schemeClr val="tx1"/>
          </a:solidFill>
          <a:latin typeface="+mn-cs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0.svg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8122" y="3186317"/>
            <a:ext cx="7392569" cy="3610935"/>
          </a:xfrm>
        </p:spPr>
        <p:txBody>
          <a:bodyPr rtlCol="0" anchor="ctr">
            <a:normAutofit/>
          </a:bodyPr>
          <a:lstStyle>
            <a:defPPr>
              <a:defRPr lang="zh-CN"/>
            </a:defPPr>
          </a:lstStyle>
          <a:p>
            <a:pPr rtl="0"/>
            <a:r>
              <a:rPr lang="en-US" altLang="zh-CN" sz="3200" b="1" dirty="0"/>
              <a:t>META </a:t>
            </a:r>
            <a:br>
              <a:rPr lang="en-US" altLang="zh-CN" sz="3200" b="1" dirty="0"/>
            </a:br>
            <a:r>
              <a:rPr lang="en-US" altLang="zh-CN" sz="3200" b="1" dirty="0" err="1"/>
              <a:t>a+sc</a:t>
            </a:r>
            <a:r>
              <a:rPr lang="zh-CN" altLang="en-US" sz="3200" b="1" dirty="0"/>
              <a:t>高效策略方案</a:t>
            </a:r>
            <a:endParaRPr lang="zh-CN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Meta </a:t>
            </a:r>
            <a:r>
              <a:rPr lang="zh-CN" altLang="en-US" dirty="0"/>
              <a:t>广告端变化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过去的广告设置</a:t>
            </a:r>
            <a:br>
              <a:rPr lang="en-US" altLang="zh-CN" dirty="0"/>
            </a:br>
            <a:br>
              <a:rPr lang="en-US" altLang="zh-CN" dirty="0"/>
            </a:b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zh-CN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手动选定我的目标客户，</a:t>
            </a:r>
            <a:r>
              <a:rPr lang="zh-CN" altLang="en-US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根据</a:t>
            </a:r>
            <a:r>
              <a:rPr lang="zh-CN" altLang="en-US" sz="1600" dirty="0">
                <a:ea typeface="等线" panose="02010600030101010101" pitchFamily="2" charset="-122"/>
                <a:cs typeface="Times New Roman" panose="02020603050405020304" pitchFamily="18" charset="0"/>
              </a:rPr>
              <a:t>目标</a:t>
            </a:r>
            <a:r>
              <a:rPr lang="zh-CN" altLang="zh-CN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客户</a:t>
            </a:r>
            <a:r>
              <a:rPr lang="zh-CN" altLang="en-US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的不同，提供</a:t>
            </a:r>
            <a:r>
              <a:rPr lang="zh-CN" altLang="zh-CN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不同的广告内容，那我就需要设置</a:t>
            </a:r>
            <a:r>
              <a:rPr lang="zh-CN" altLang="en-US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不同的</a:t>
            </a:r>
            <a:r>
              <a:rPr lang="en-US" altLang="zh-CN" sz="1600" dirty="0">
                <a:ea typeface="等线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en-US" sz="1600" dirty="0"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不同的</a:t>
            </a:r>
            <a:r>
              <a:rPr lang="en-US" altLang="zh-CN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zh-CN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之间去分配预算，然后</a:t>
            </a:r>
            <a:r>
              <a:rPr lang="zh-CN" altLang="en-US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我们就</a:t>
            </a:r>
            <a:r>
              <a:rPr lang="zh-CN" altLang="zh-CN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每天盯着这个数据去优化</a:t>
            </a:r>
            <a:endParaRPr lang="en-US" altLang="zh-CN" sz="16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b="1" dirty="0"/>
              <a:t>Advantage Plus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zh-CN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只需要</a:t>
            </a:r>
            <a:r>
              <a:rPr lang="zh-CN" altLang="en-US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提供</a:t>
            </a:r>
            <a:r>
              <a:rPr lang="zh-CN" altLang="zh-CN" sz="16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产品信息</a:t>
            </a:r>
            <a:r>
              <a:rPr lang="zh-CN" altLang="en-US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6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广告素材</a:t>
            </a:r>
            <a:r>
              <a:rPr lang="zh-CN" altLang="en-US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6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预算</a:t>
            </a:r>
            <a:br>
              <a:rPr lang="en-US" altLang="zh-CN" sz="1600" b="1" dirty="0"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它</a:t>
            </a:r>
            <a:r>
              <a:rPr lang="zh-CN" altLang="zh-CN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就可以自动去分析受众，匹配素材，分配预算</a:t>
            </a:r>
            <a:r>
              <a:rPr lang="en-US" altLang="zh-CN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省事</a:t>
            </a:r>
            <a:r>
              <a:rPr lang="en-US" altLang="zh-CN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16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精准。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1229933" y="2965360"/>
            <a:ext cx="1114024" cy="350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广告系列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70401" y="2412055"/>
            <a:ext cx="1114023" cy="463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受众</a:t>
            </a:r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70401" y="2897590"/>
            <a:ext cx="1114023" cy="463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受众</a:t>
            </a:r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70401" y="3362061"/>
            <a:ext cx="1114023" cy="463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受众</a:t>
            </a:r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en-US" altLang="zh-C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9634" y="2756079"/>
            <a:ext cx="6096000" cy="3039414"/>
          </a:xfrm>
        </p:spPr>
        <p:txBody>
          <a:bodyPr rtlCol="0"/>
          <a:lstStyle>
            <a:defPPr>
              <a:defRPr lang="zh-CN"/>
            </a:defPPr>
          </a:lstStyle>
          <a:p>
            <a:r>
              <a:rPr lang="en-US" altLang="zh-CN" dirty="0"/>
              <a:t>Meta</a:t>
            </a:r>
            <a:br>
              <a:rPr lang="en-US" altLang="zh-CN" dirty="0"/>
            </a:br>
            <a:r>
              <a:rPr lang="en-US" altLang="zh-CN" noProof="1"/>
              <a:t>A + SC </a:t>
            </a:r>
            <a:r>
              <a:rPr lang="zh-CN" altLang="en-US" noProof="1"/>
              <a:t>高效策略方案</a:t>
            </a:r>
            <a:br>
              <a:rPr lang="zh-CN" altLang="zh-CN" noProof="1"/>
            </a:br>
            <a:endParaRPr lang="zh-CN" dirty="0"/>
          </a:p>
        </p:txBody>
      </p:sp>
      <p:pic>
        <p:nvPicPr>
          <p:cNvPr id="8" name="图片占位符 7"/>
          <p:cNvPicPr>
            <a:picLocks noGrp="1" noChangeAspect="1"/>
          </p:cNvPicPr>
          <p:nvPr>
            <p:ph type="pic" sz="quarter" idx="11"/>
          </p:nvPr>
        </p:nvPicPr>
        <p:blipFill>
          <a:blip r:embed="rId1"/>
          <a:srcRect l="21429" r="21429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it-IT" altLang="zh-CN" sz="3200" spc="-5" dirty="0">
                <a:solidFill>
                  <a:srgbClr val="000000"/>
                </a:solidFill>
              </a:rPr>
              <a:t>A+SC</a:t>
            </a:r>
            <a:r>
              <a:rPr lang="zh-CN" altLang="it-IT" sz="3200" dirty="0">
                <a:solidFill>
                  <a:srgbClr val="000000"/>
                </a:solidFill>
              </a:rPr>
              <a:t>高效策略方</a:t>
            </a:r>
            <a:r>
              <a:rPr lang="zh-CN" altLang="it-IT" sz="3200" spc="-5" dirty="0">
                <a:solidFill>
                  <a:srgbClr val="000000"/>
                </a:solidFill>
              </a:rPr>
              <a:t>案</a:t>
            </a:r>
            <a:endParaRPr lang="zh-CN" dirty="0"/>
          </a:p>
        </p:txBody>
      </p:sp>
      <p:graphicFrame>
        <p:nvGraphicFramePr>
          <p:cNvPr id="12" name="object 3"/>
          <p:cNvGraphicFramePr>
            <a:graphicFrameLocks noGrp="1"/>
          </p:cNvGraphicFramePr>
          <p:nvPr>
            <p:ph sz="quarter" idx="11"/>
          </p:nvPr>
        </p:nvGraphicFramePr>
        <p:xfrm>
          <a:off x="1204175" y="1680692"/>
          <a:ext cx="10180749" cy="38376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0987"/>
                <a:gridCol w="4141927"/>
                <a:gridCol w="4187835"/>
              </a:tblGrid>
              <a:tr h="775501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行业</a:t>
                      </a:r>
                      <a:r>
                        <a:rPr sz="1800" b="1" spc="-185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T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op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高效策略方案</a:t>
                      </a:r>
                      <a:endParaRPr sz="18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89865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F2229"/>
                    </a:solidFill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465427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485"/>
                        </a:spcBef>
                      </a:pPr>
                      <a:r>
                        <a:rPr sz="1400" b="1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测试方</a:t>
                      </a:r>
                      <a:r>
                        <a:rPr sz="1400" b="1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向</a:t>
                      </a:r>
                      <a:endParaRPr sz="14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88595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  <a:solidFill>
                      <a:srgbClr val="B9CEFC"/>
                    </a:solidFill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1485"/>
                        </a:spcBef>
                      </a:pPr>
                      <a:r>
                        <a:rPr sz="1400" b="1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控制</a:t>
                      </a:r>
                      <a:r>
                        <a:rPr sz="1400" b="1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組</a:t>
                      </a:r>
                      <a:endParaRPr sz="14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88595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  <a:solidFill>
                      <a:srgbClr val="B9CEFC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485"/>
                        </a:spcBef>
                      </a:pPr>
                      <a:r>
                        <a:rPr sz="1400" b="1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测试</a:t>
                      </a:r>
                      <a:r>
                        <a:rPr sz="1400" b="1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组</a:t>
                      </a:r>
                      <a:endParaRPr sz="14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88595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  <a:solidFill>
                      <a:srgbClr val="B9CEFC"/>
                    </a:solidFill>
                  </a:tcPr>
                </a:tc>
              </a:tr>
              <a:tr h="425984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1.</a:t>
                      </a:r>
                      <a:r>
                        <a:rPr sz="1200" spc="-5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调整新产品预算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9070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30%</a:t>
                      </a:r>
                      <a:r>
                        <a:rPr sz="1200" spc="-2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spc="-2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sz="1200" spc="-2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70%</a:t>
                      </a:r>
                      <a:r>
                        <a:rPr sz="1200" spc="-2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ASC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9070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（70%</a:t>
                      </a:r>
                      <a:r>
                        <a:rPr sz="1200" spc="-1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spc="-2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sz="1200" spc="-2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30%</a:t>
                      </a:r>
                      <a:r>
                        <a:rPr sz="1200" spc="-1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ASC）或（100%</a:t>
                      </a:r>
                      <a:r>
                        <a:rPr sz="1200" spc="-1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ASC）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9070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</a:tr>
              <a:tr h="4900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2.</a:t>
                      </a:r>
                      <a:r>
                        <a:rPr sz="1200" spc="-5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调整新产品预算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4445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5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636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spc="-2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sz="1200" spc="-2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A+SC</a:t>
                      </a:r>
                      <a:r>
                        <a:rPr sz="1200" spc="-1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(100%)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4445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marR="110744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b="1" spc="-1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BAU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+ A+SC 150% 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[Increment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on 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BAU] 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spc="-2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sz="1200" spc="-1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b="1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A+SC</a:t>
                      </a:r>
                      <a:r>
                        <a:rPr sz="1200" b="1" spc="-1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150%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[Increment</a:t>
                      </a:r>
                      <a:r>
                        <a:rPr sz="1200" spc="-2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on</a:t>
                      </a:r>
                      <a:r>
                        <a:rPr lang="en-US"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A+SC]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25095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</a:tr>
              <a:tr h="425984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3.</a:t>
                      </a:r>
                      <a:r>
                        <a:rPr sz="1200" spc="-5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素材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9070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A+SC 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Multiple similar</a:t>
                      </a:r>
                      <a:r>
                        <a:rPr sz="1200" spc="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creative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format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9070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A+SC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Multiple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different 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creative 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format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9070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</a:tr>
              <a:tr h="425984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4.</a:t>
                      </a:r>
                      <a:r>
                        <a:rPr sz="1200" spc="-5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素材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9070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ASC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Multiple similar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creatives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9070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ASC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Multiple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different</a:t>
                      </a:r>
                      <a:r>
                        <a:rPr sz="1200" spc="-1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creatives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9070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</a:tr>
              <a:tr h="426477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5.</a:t>
                      </a:r>
                      <a:r>
                        <a:rPr sz="1200" spc="-5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调整新产品预算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9070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spc="-1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A+SC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(budget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allocated 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to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A+SC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20%)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9070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spc="-1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A+SC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(budget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allocated 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to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A+SC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40%)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9070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</a:tr>
              <a:tr h="401460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6.</a:t>
                      </a:r>
                      <a:r>
                        <a:rPr sz="1200" spc="-5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测产品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9070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spc="-4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(A+CA)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9070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ASC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9070" marB="0">
                    <a:lnL w="9525">
                      <a:solidFill>
                        <a:srgbClr val="DEDFE2"/>
                      </a:solidFill>
                      <a:prstDash val="solid"/>
                    </a:lnL>
                    <a:lnR w="9525">
                      <a:solidFill>
                        <a:srgbClr val="DEDFE2"/>
                      </a:solidFill>
                      <a:prstDash val="solid"/>
                    </a:lnR>
                    <a:lnT w="9525">
                      <a:solidFill>
                        <a:srgbClr val="DEDFE2"/>
                      </a:solidFill>
                      <a:prstDash val="solid"/>
                    </a:lnT>
                    <a:lnB w="9525">
                      <a:solidFill>
                        <a:srgbClr val="DEDFE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25" y="0"/>
            <a:ext cx="10664779" cy="774655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1800" b="1" dirty="0">
                <a:solidFill>
                  <a:schemeClr val="bg2">
                    <a:lumMod val="10000"/>
                  </a:schemeClr>
                </a:solidFill>
              </a:rPr>
              <a:t>策略</a:t>
            </a:r>
            <a:r>
              <a:rPr lang="en-US" altLang="zh-CN" sz="1800" b="1" spc="-5" dirty="0">
                <a:solidFill>
                  <a:schemeClr val="bg2">
                    <a:lumMod val="10000"/>
                  </a:schemeClr>
                </a:solidFill>
              </a:rPr>
              <a:t>1</a:t>
            </a:r>
            <a:r>
              <a:rPr lang="zh-CN" altLang="en-US" sz="1800" b="1" spc="-5" dirty="0">
                <a:solidFill>
                  <a:schemeClr val="bg2">
                    <a:lumMod val="10000"/>
                  </a:schemeClr>
                </a:solidFill>
              </a:rPr>
              <a:t>：</a:t>
            </a:r>
            <a:r>
              <a:rPr lang="zh-CN" altLang="en-US" sz="1800" b="1" dirty="0">
                <a:solidFill>
                  <a:schemeClr val="bg2">
                    <a:lumMod val="10000"/>
                  </a:schemeClr>
                </a:solidFill>
              </a:rPr>
              <a:t>调整新产品方</a:t>
            </a:r>
            <a:r>
              <a:rPr lang="zh-CN" altLang="en-US" sz="1800" b="1" spc="-5" dirty="0">
                <a:solidFill>
                  <a:schemeClr val="bg2">
                    <a:lumMod val="10000"/>
                  </a:schemeClr>
                </a:solidFill>
              </a:rPr>
              <a:t>案</a:t>
            </a:r>
            <a:r>
              <a:rPr lang="zh-CN" altLang="en-US" sz="18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altLang="zh-CN" sz="18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en-US" altLang="zh-CN" sz="1800" b="1" spc="-5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(70% </a:t>
            </a:r>
            <a:r>
              <a:rPr lang="en-US" altLang="zh-CN" sz="1800" b="1" spc="-15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BAU</a:t>
            </a:r>
            <a:r>
              <a:rPr lang="en-US" altLang="zh-CN" sz="18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 vs</a:t>
            </a:r>
            <a:r>
              <a:rPr lang="en-US" altLang="zh-CN" sz="1800" b="1" spc="-5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 30%</a:t>
            </a:r>
            <a:r>
              <a:rPr lang="en-US" altLang="zh-CN" sz="18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800" b="1" spc="-5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ASC)</a:t>
            </a:r>
            <a:r>
              <a:rPr lang="en-US" altLang="zh-CN" sz="18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 vs.</a:t>
            </a:r>
            <a:r>
              <a:rPr lang="en-US" altLang="zh-CN" sz="1800" b="1" spc="-5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 (30%</a:t>
            </a:r>
            <a:r>
              <a:rPr lang="en-US" altLang="zh-CN" sz="18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800" b="1" spc="-15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BAU</a:t>
            </a:r>
            <a:r>
              <a:rPr lang="en-US" altLang="zh-CN" sz="18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 +</a:t>
            </a:r>
            <a:r>
              <a:rPr lang="en-US" altLang="zh-CN" sz="1800" b="1" spc="-5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 70%</a:t>
            </a:r>
            <a:r>
              <a:rPr lang="en-US" altLang="zh-CN" sz="18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800" b="1" spc="-5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ASC)</a:t>
            </a:r>
            <a:endParaRPr lang="zh-CN" sz="18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15025" y="624625"/>
            <a:ext cx="9316791" cy="408618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297815" algn="l"/>
                <a:tab pos="298450" algn="l"/>
              </a:tabLst>
            </a:pPr>
            <a:r>
              <a:rPr lang="zh-CN" altLang="en-US" sz="18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研究课题</a:t>
            </a:r>
            <a:r>
              <a:rPr lang="zh-CN" altLang="en-US" sz="18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：增加</a:t>
            </a:r>
            <a:r>
              <a:rPr lang="en-US" altLang="zh-CN" sz="18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r>
              <a:rPr lang="zh-CN" altLang="en-US" sz="18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广告的预算占比是否会进一步提高</a:t>
            </a:r>
            <a:r>
              <a:rPr lang="en-US" altLang="zh-CN" sz="1800" spc="-2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RO</a:t>
            </a:r>
            <a:r>
              <a:rPr lang="en-US" altLang="zh-CN" sz="18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AS/</a:t>
            </a:r>
            <a:r>
              <a:rPr lang="zh-CN" altLang="en-US" sz="18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转化表现</a:t>
            </a:r>
            <a:r>
              <a:rPr lang="zh-CN" altLang="en-US" sz="18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lang="zh-CN" altLang="en-US" sz="1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quarter" idx="11"/>
          </p:nvPr>
        </p:nvSpPr>
        <p:spPr>
          <a:xfrm>
            <a:off x="154546" y="978794"/>
            <a:ext cx="12022429" cy="5393358"/>
          </a:xfrm>
        </p:spPr>
        <p:txBody>
          <a:bodyPr rtlCol="0"/>
          <a:lstStyle>
            <a:defPPr>
              <a:defRPr lang="zh-CN"/>
            </a:defPPr>
          </a:lstStyle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297815" algn="l"/>
                <a:tab pos="298450" algn="l"/>
              </a:tabLst>
            </a:pPr>
            <a:r>
              <a:rPr lang="zh-CN" altLang="en-US" sz="20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广告系列</a:t>
            </a:r>
            <a:r>
              <a:rPr lang="zh-CN" altLang="en-US" sz="2000" b="1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组</a:t>
            </a:r>
            <a:r>
              <a:rPr lang="zh-CN" altLang="en-US" sz="2000" b="1" spc="-9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：</a:t>
            </a:r>
            <a:br>
              <a:rPr lang="en-US" altLang="zh-CN" sz="20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</a:br>
            <a:endParaRPr lang="zh-CN" altLang="en-US" sz="20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557629" y="1417839"/>
            <a:ext cx="43484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"/>
              <a:tabLst>
                <a:tab pos="297815" algn="l"/>
                <a:tab pos="298450" algn="l"/>
              </a:tabLst>
            </a:pP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BAU(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预算占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30%)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+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ASC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(预算占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70%)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7477" y="1708118"/>
            <a:ext cx="6111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"/>
              <a:tabLst>
                <a:tab pos="297815" algn="l"/>
                <a:tab pos="298450" algn="l"/>
              </a:tabLst>
            </a:pPr>
            <a:r>
              <a:rPr lang="en-US" altLang="zh-CN"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lang="en-US" altLang="zh-CN"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B</a:t>
            </a:r>
            <a:r>
              <a:rPr lang="en-US" altLang="zh-CN"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zh-CN" altLang="en-US"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BAU(</a:t>
            </a:r>
            <a:r>
              <a:rPr lang="zh-CN" altLang="en-US"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预算占</a:t>
            </a:r>
            <a:r>
              <a:rPr lang="en-US" altLang="zh-CN"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70%) </a:t>
            </a:r>
            <a:r>
              <a:rPr lang="en-US" altLang="zh-CN"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ASC </a:t>
            </a:r>
            <a:r>
              <a:rPr lang="en-US" altLang="zh-CN"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预算占</a:t>
            </a:r>
            <a:r>
              <a:rPr lang="en-US" altLang="zh-CN"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30%) </a:t>
            </a:r>
            <a:r>
              <a:rPr lang="zh-CN" altLang="en-US" sz="1400" spc="-5" dirty="0">
                <a:solidFill>
                  <a:srgbClr val="00CEEB"/>
                </a:solidFill>
                <a:latin typeface="微软雅黑" panose="020B0503020204020204" charset="-122"/>
                <a:cs typeface="微软雅黑" panose="020B0503020204020204" charset="-122"/>
              </a:rPr>
              <a:t>*</a:t>
            </a:r>
            <a:r>
              <a:rPr lang="zh-CN" altLang="en-US" sz="1400" dirty="0">
                <a:solidFill>
                  <a:srgbClr val="00CEEB"/>
                </a:solidFill>
                <a:latin typeface="微软雅黑" panose="020B0503020204020204" charset="-122"/>
                <a:cs typeface="微软雅黑" panose="020B0503020204020204" charset="-122"/>
              </a:rPr>
              <a:t>建</a:t>
            </a:r>
            <a:r>
              <a:rPr lang="zh-CN" altLang="en-US" sz="1400" spc="5" dirty="0">
                <a:solidFill>
                  <a:srgbClr val="00CEEB"/>
                </a:solidFill>
                <a:latin typeface="微软雅黑" panose="020B0503020204020204" charset="-122"/>
                <a:cs typeface="微软雅黑" panose="020B0503020204020204" charset="-122"/>
              </a:rPr>
              <a:t>议</a:t>
            </a:r>
            <a:endParaRPr lang="zh-CN" altLang="en-US"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7"/>
          <p:cNvSpPr txBox="1"/>
          <p:nvPr/>
        </p:nvSpPr>
        <p:spPr>
          <a:xfrm>
            <a:off x="557629" y="2042464"/>
            <a:ext cx="3676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"/>
              <a:tabLst>
                <a:tab pos="297815" algn="l"/>
                <a:tab pos="298450" algn="l"/>
              </a:tabLst>
            </a:pP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B(Optional) 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ASC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(预算占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100%)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44"/>
          <p:cNvSpPr/>
          <p:nvPr/>
        </p:nvSpPr>
        <p:spPr>
          <a:xfrm>
            <a:off x="154546" y="2382086"/>
            <a:ext cx="4086860" cy="3733800"/>
          </a:xfrm>
          <a:custGeom>
            <a:avLst/>
            <a:gdLst/>
            <a:ahLst/>
            <a:cxnLst/>
            <a:rect l="l" t="t" r="r" b="b"/>
            <a:pathLst>
              <a:path w="4086860" h="3733800">
                <a:moveTo>
                  <a:pt x="3978287" y="12700"/>
                </a:moveTo>
                <a:lnTo>
                  <a:pt x="108407" y="12700"/>
                </a:lnTo>
                <a:lnTo>
                  <a:pt x="116471" y="0"/>
                </a:lnTo>
                <a:lnTo>
                  <a:pt x="3970223" y="0"/>
                </a:lnTo>
                <a:lnTo>
                  <a:pt x="3978287" y="12700"/>
                </a:lnTo>
                <a:close/>
              </a:path>
              <a:path w="4086860" h="3733800">
                <a:moveTo>
                  <a:pt x="4001249" y="25400"/>
                </a:moveTo>
                <a:lnTo>
                  <a:pt x="85445" y="25400"/>
                </a:lnTo>
                <a:lnTo>
                  <a:pt x="92887" y="12700"/>
                </a:lnTo>
                <a:lnTo>
                  <a:pt x="3993819" y="12700"/>
                </a:lnTo>
                <a:lnTo>
                  <a:pt x="4001249" y="25400"/>
                </a:lnTo>
                <a:close/>
              </a:path>
              <a:path w="4086860" h="3733800">
                <a:moveTo>
                  <a:pt x="119214" y="38100"/>
                </a:moveTo>
                <a:lnTo>
                  <a:pt x="64592" y="38100"/>
                </a:lnTo>
                <a:lnTo>
                  <a:pt x="71285" y="25400"/>
                </a:lnTo>
                <a:lnTo>
                  <a:pt x="126618" y="25400"/>
                </a:lnTo>
                <a:lnTo>
                  <a:pt x="119214" y="38100"/>
                </a:lnTo>
                <a:close/>
              </a:path>
              <a:path w="4086860" h="3733800">
                <a:moveTo>
                  <a:pt x="4022115" y="38100"/>
                </a:moveTo>
                <a:lnTo>
                  <a:pt x="3967479" y="38100"/>
                </a:lnTo>
                <a:lnTo>
                  <a:pt x="3960075" y="25400"/>
                </a:lnTo>
                <a:lnTo>
                  <a:pt x="4015409" y="25400"/>
                </a:lnTo>
                <a:lnTo>
                  <a:pt x="4022115" y="38100"/>
                </a:lnTo>
                <a:close/>
              </a:path>
              <a:path w="4086860" h="3733800">
                <a:moveTo>
                  <a:pt x="93954" y="50800"/>
                </a:moveTo>
                <a:lnTo>
                  <a:pt x="51981" y="50800"/>
                </a:lnTo>
                <a:lnTo>
                  <a:pt x="58153" y="38100"/>
                </a:lnTo>
                <a:lnTo>
                  <a:pt x="100584" y="38100"/>
                </a:lnTo>
                <a:lnTo>
                  <a:pt x="93954" y="50800"/>
                </a:lnTo>
                <a:close/>
              </a:path>
              <a:path w="4086860" h="3733800">
                <a:moveTo>
                  <a:pt x="4034713" y="50800"/>
                </a:moveTo>
                <a:lnTo>
                  <a:pt x="3992740" y="50800"/>
                </a:lnTo>
                <a:lnTo>
                  <a:pt x="3986110" y="38100"/>
                </a:lnTo>
                <a:lnTo>
                  <a:pt x="4028554" y="38100"/>
                </a:lnTo>
                <a:lnTo>
                  <a:pt x="4034713" y="50800"/>
                </a:lnTo>
                <a:close/>
              </a:path>
              <a:path w="4086860" h="3733800">
                <a:moveTo>
                  <a:pt x="77114" y="63500"/>
                </a:moveTo>
                <a:lnTo>
                  <a:pt x="40538" y="63500"/>
                </a:lnTo>
                <a:lnTo>
                  <a:pt x="46113" y="50800"/>
                </a:lnTo>
                <a:lnTo>
                  <a:pt x="83032" y="50800"/>
                </a:lnTo>
                <a:lnTo>
                  <a:pt x="77114" y="63500"/>
                </a:lnTo>
                <a:close/>
              </a:path>
              <a:path w="4086860" h="3733800">
                <a:moveTo>
                  <a:pt x="4046156" y="63500"/>
                </a:moveTo>
                <a:lnTo>
                  <a:pt x="4009580" y="63500"/>
                </a:lnTo>
                <a:lnTo>
                  <a:pt x="4003662" y="50800"/>
                </a:lnTo>
                <a:lnTo>
                  <a:pt x="4040581" y="50800"/>
                </a:lnTo>
                <a:lnTo>
                  <a:pt x="4046156" y="63500"/>
                </a:lnTo>
                <a:close/>
              </a:path>
              <a:path w="4086860" h="3733800">
                <a:moveTo>
                  <a:pt x="67030" y="76200"/>
                </a:moveTo>
                <a:lnTo>
                  <a:pt x="30314" y="76200"/>
                </a:lnTo>
                <a:lnTo>
                  <a:pt x="35267" y="63500"/>
                </a:lnTo>
                <a:lnTo>
                  <a:pt x="72428" y="63500"/>
                </a:lnTo>
                <a:lnTo>
                  <a:pt x="67030" y="76200"/>
                </a:lnTo>
                <a:close/>
              </a:path>
              <a:path w="4086860" h="3733800">
                <a:moveTo>
                  <a:pt x="4056379" y="76200"/>
                </a:moveTo>
                <a:lnTo>
                  <a:pt x="4019664" y="76200"/>
                </a:lnTo>
                <a:lnTo>
                  <a:pt x="4014266" y="63500"/>
                </a:lnTo>
                <a:lnTo>
                  <a:pt x="4051427" y="63500"/>
                </a:lnTo>
                <a:lnTo>
                  <a:pt x="4056379" y="76200"/>
                </a:lnTo>
                <a:close/>
              </a:path>
              <a:path w="4086860" h="3733800">
                <a:moveTo>
                  <a:pt x="53809" y="88900"/>
                </a:moveTo>
                <a:lnTo>
                  <a:pt x="21424" y="88900"/>
                </a:lnTo>
                <a:lnTo>
                  <a:pt x="25704" y="76200"/>
                </a:lnTo>
                <a:lnTo>
                  <a:pt x="58356" y="76200"/>
                </a:lnTo>
                <a:lnTo>
                  <a:pt x="53809" y="88900"/>
                </a:lnTo>
                <a:close/>
              </a:path>
              <a:path w="4086860" h="3733800">
                <a:moveTo>
                  <a:pt x="4065269" y="88900"/>
                </a:moveTo>
                <a:lnTo>
                  <a:pt x="4032884" y="88900"/>
                </a:lnTo>
                <a:lnTo>
                  <a:pt x="4028338" y="76200"/>
                </a:lnTo>
                <a:lnTo>
                  <a:pt x="4060990" y="76200"/>
                </a:lnTo>
                <a:lnTo>
                  <a:pt x="4065269" y="88900"/>
                </a:lnTo>
                <a:close/>
              </a:path>
              <a:path w="4086860" h="3733800">
                <a:moveTo>
                  <a:pt x="40131" y="114300"/>
                </a:moveTo>
                <a:lnTo>
                  <a:pt x="10769" y="114300"/>
                </a:lnTo>
                <a:lnTo>
                  <a:pt x="13957" y="101600"/>
                </a:lnTo>
                <a:lnTo>
                  <a:pt x="17513" y="88900"/>
                </a:lnTo>
                <a:lnTo>
                  <a:pt x="50304" y="88900"/>
                </a:lnTo>
                <a:lnTo>
                  <a:pt x="46367" y="101600"/>
                </a:lnTo>
                <a:lnTo>
                  <a:pt x="43408" y="101600"/>
                </a:lnTo>
                <a:lnTo>
                  <a:pt x="40131" y="114300"/>
                </a:lnTo>
                <a:close/>
              </a:path>
              <a:path w="4086860" h="3733800">
                <a:moveTo>
                  <a:pt x="4075925" y="114300"/>
                </a:moveTo>
                <a:lnTo>
                  <a:pt x="4046562" y="114300"/>
                </a:lnTo>
                <a:lnTo>
                  <a:pt x="4043299" y="101600"/>
                </a:lnTo>
                <a:lnTo>
                  <a:pt x="4040327" y="101600"/>
                </a:lnTo>
                <a:lnTo>
                  <a:pt x="4036390" y="88900"/>
                </a:lnTo>
                <a:lnTo>
                  <a:pt x="4069194" y="88900"/>
                </a:lnTo>
                <a:lnTo>
                  <a:pt x="4072750" y="101600"/>
                </a:lnTo>
                <a:lnTo>
                  <a:pt x="4075925" y="114300"/>
                </a:lnTo>
                <a:close/>
              </a:path>
              <a:path w="4086860" h="3733800">
                <a:moveTo>
                  <a:pt x="33172" y="139700"/>
                </a:moveTo>
                <a:lnTo>
                  <a:pt x="3606" y="139700"/>
                </a:lnTo>
                <a:lnTo>
                  <a:pt x="5588" y="127000"/>
                </a:lnTo>
                <a:lnTo>
                  <a:pt x="7975" y="114300"/>
                </a:lnTo>
                <a:lnTo>
                  <a:pt x="37731" y="114300"/>
                </a:lnTo>
                <a:lnTo>
                  <a:pt x="35166" y="127000"/>
                </a:lnTo>
                <a:lnTo>
                  <a:pt x="35369" y="127000"/>
                </a:lnTo>
                <a:lnTo>
                  <a:pt x="33172" y="139700"/>
                </a:lnTo>
                <a:close/>
              </a:path>
              <a:path w="4086860" h="3733800">
                <a:moveTo>
                  <a:pt x="4083100" y="139700"/>
                </a:moveTo>
                <a:lnTo>
                  <a:pt x="4053522" y="139700"/>
                </a:lnTo>
                <a:lnTo>
                  <a:pt x="4051325" y="127000"/>
                </a:lnTo>
                <a:lnTo>
                  <a:pt x="4051541" y="127000"/>
                </a:lnTo>
                <a:lnTo>
                  <a:pt x="4048975" y="114300"/>
                </a:lnTo>
                <a:lnTo>
                  <a:pt x="4078719" y="114300"/>
                </a:lnTo>
                <a:lnTo>
                  <a:pt x="4081106" y="127000"/>
                </a:lnTo>
                <a:lnTo>
                  <a:pt x="4083100" y="139700"/>
                </a:lnTo>
                <a:close/>
              </a:path>
              <a:path w="4086860" h="3733800">
                <a:moveTo>
                  <a:pt x="28752" y="165100"/>
                </a:moveTo>
                <a:lnTo>
                  <a:pt x="228" y="165100"/>
                </a:lnTo>
                <a:lnTo>
                  <a:pt x="914" y="152400"/>
                </a:lnTo>
                <a:lnTo>
                  <a:pt x="2044" y="139700"/>
                </a:lnTo>
                <a:lnTo>
                  <a:pt x="31673" y="139700"/>
                </a:lnTo>
                <a:lnTo>
                  <a:pt x="30238" y="152400"/>
                </a:lnTo>
                <a:lnTo>
                  <a:pt x="29375" y="152400"/>
                </a:lnTo>
                <a:lnTo>
                  <a:pt x="28752" y="165100"/>
                </a:lnTo>
                <a:close/>
              </a:path>
              <a:path w="4086860" h="3733800">
                <a:moveTo>
                  <a:pt x="4086466" y="165100"/>
                </a:moveTo>
                <a:lnTo>
                  <a:pt x="4057954" y="165100"/>
                </a:lnTo>
                <a:lnTo>
                  <a:pt x="4057319" y="152400"/>
                </a:lnTo>
                <a:lnTo>
                  <a:pt x="4056468" y="152400"/>
                </a:lnTo>
                <a:lnTo>
                  <a:pt x="4055033" y="139700"/>
                </a:lnTo>
                <a:lnTo>
                  <a:pt x="4084650" y="139700"/>
                </a:lnTo>
                <a:lnTo>
                  <a:pt x="4085780" y="152400"/>
                </a:lnTo>
                <a:lnTo>
                  <a:pt x="4086466" y="165100"/>
                </a:lnTo>
                <a:close/>
              </a:path>
              <a:path w="4086860" h="3733800">
                <a:moveTo>
                  <a:pt x="28778" y="3568700"/>
                </a:moveTo>
                <a:lnTo>
                  <a:pt x="228" y="3568700"/>
                </a:lnTo>
                <a:lnTo>
                  <a:pt x="0" y="3556000"/>
                </a:lnTo>
                <a:lnTo>
                  <a:pt x="0" y="165100"/>
                </a:lnTo>
                <a:lnTo>
                  <a:pt x="28575" y="165100"/>
                </a:lnTo>
                <a:lnTo>
                  <a:pt x="28575" y="3556000"/>
                </a:lnTo>
                <a:lnTo>
                  <a:pt x="28778" y="3568700"/>
                </a:lnTo>
                <a:close/>
              </a:path>
              <a:path w="4086860" h="3733800">
                <a:moveTo>
                  <a:pt x="28575" y="177800"/>
                </a:moveTo>
                <a:lnTo>
                  <a:pt x="28575" y="165100"/>
                </a:lnTo>
                <a:lnTo>
                  <a:pt x="28778" y="165100"/>
                </a:lnTo>
                <a:lnTo>
                  <a:pt x="28575" y="177800"/>
                </a:lnTo>
                <a:close/>
              </a:path>
              <a:path w="4086860" h="3733800">
                <a:moveTo>
                  <a:pt x="4058119" y="177800"/>
                </a:moveTo>
                <a:lnTo>
                  <a:pt x="4057916" y="165100"/>
                </a:lnTo>
                <a:lnTo>
                  <a:pt x="4058119" y="165100"/>
                </a:lnTo>
                <a:lnTo>
                  <a:pt x="4058119" y="177800"/>
                </a:lnTo>
                <a:close/>
              </a:path>
              <a:path w="4086860" h="3733800">
                <a:moveTo>
                  <a:pt x="4086466" y="3568700"/>
                </a:moveTo>
                <a:lnTo>
                  <a:pt x="4057916" y="3568700"/>
                </a:lnTo>
                <a:lnTo>
                  <a:pt x="4058119" y="3556000"/>
                </a:lnTo>
                <a:lnTo>
                  <a:pt x="4058119" y="165100"/>
                </a:lnTo>
                <a:lnTo>
                  <a:pt x="4086694" y="165100"/>
                </a:lnTo>
                <a:lnTo>
                  <a:pt x="4086694" y="3556000"/>
                </a:lnTo>
                <a:lnTo>
                  <a:pt x="4086466" y="3568700"/>
                </a:lnTo>
                <a:close/>
              </a:path>
              <a:path w="4086860" h="3733800">
                <a:moveTo>
                  <a:pt x="35369" y="3606800"/>
                </a:moveTo>
                <a:lnTo>
                  <a:pt x="5588" y="3606800"/>
                </a:lnTo>
                <a:lnTo>
                  <a:pt x="3606" y="3594100"/>
                </a:lnTo>
                <a:lnTo>
                  <a:pt x="2044" y="3581400"/>
                </a:lnTo>
                <a:lnTo>
                  <a:pt x="914" y="3568700"/>
                </a:lnTo>
                <a:lnTo>
                  <a:pt x="29311" y="3568700"/>
                </a:lnTo>
                <a:lnTo>
                  <a:pt x="30340" y="3581400"/>
                </a:lnTo>
                <a:lnTo>
                  <a:pt x="31521" y="3581400"/>
                </a:lnTo>
                <a:lnTo>
                  <a:pt x="33350" y="3594100"/>
                </a:lnTo>
                <a:lnTo>
                  <a:pt x="33172" y="3594100"/>
                </a:lnTo>
                <a:lnTo>
                  <a:pt x="35369" y="3606800"/>
                </a:lnTo>
                <a:close/>
              </a:path>
              <a:path w="4086860" h="3733800">
                <a:moveTo>
                  <a:pt x="4081106" y="3606800"/>
                </a:moveTo>
                <a:lnTo>
                  <a:pt x="4051325" y="3606800"/>
                </a:lnTo>
                <a:lnTo>
                  <a:pt x="4053522" y="3594100"/>
                </a:lnTo>
                <a:lnTo>
                  <a:pt x="4053344" y="3594100"/>
                </a:lnTo>
                <a:lnTo>
                  <a:pt x="4055173" y="3581400"/>
                </a:lnTo>
                <a:lnTo>
                  <a:pt x="4056354" y="3581400"/>
                </a:lnTo>
                <a:lnTo>
                  <a:pt x="4057395" y="3568700"/>
                </a:lnTo>
                <a:lnTo>
                  <a:pt x="4085780" y="3568700"/>
                </a:lnTo>
                <a:lnTo>
                  <a:pt x="4084650" y="3581400"/>
                </a:lnTo>
                <a:lnTo>
                  <a:pt x="4083100" y="3594100"/>
                </a:lnTo>
                <a:lnTo>
                  <a:pt x="4081106" y="3606800"/>
                </a:lnTo>
                <a:close/>
              </a:path>
              <a:path w="4086860" h="3733800">
                <a:moveTo>
                  <a:pt x="40411" y="3619500"/>
                </a:moveTo>
                <a:lnTo>
                  <a:pt x="10769" y="3619500"/>
                </a:lnTo>
                <a:lnTo>
                  <a:pt x="7975" y="3606800"/>
                </a:lnTo>
                <a:lnTo>
                  <a:pt x="37490" y="3606800"/>
                </a:lnTo>
                <a:lnTo>
                  <a:pt x="40411" y="3619500"/>
                </a:lnTo>
                <a:close/>
              </a:path>
              <a:path w="4086860" h="3733800">
                <a:moveTo>
                  <a:pt x="4075925" y="3619500"/>
                </a:moveTo>
                <a:lnTo>
                  <a:pt x="4046296" y="3619500"/>
                </a:lnTo>
                <a:lnTo>
                  <a:pt x="4049217" y="3606800"/>
                </a:lnTo>
                <a:lnTo>
                  <a:pt x="4078719" y="3606800"/>
                </a:lnTo>
                <a:lnTo>
                  <a:pt x="4075925" y="3619500"/>
                </a:lnTo>
                <a:close/>
              </a:path>
              <a:path w="4086860" h="3733800">
                <a:moveTo>
                  <a:pt x="54190" y="3644900"/>
                </a:moveTo>
                <a:lnTo>
                  <a:pt x="21424" y="3644900"/>
                </a:lnTo>
                <a:lnTo>
                  <a:pt x="17513" y="3632200"/>
                </a:lnTo>
                <a:lnTo>
                  <a:pt x="13957" y="3619500"/>
                </a:lnTo>
                <a:lnTo>
                  <a:pt x="43103" y="3619500"/>
                </a:lnTo>
                <a:lnTo>
                  <a:pt x="46710" y="3632200"/>
                </a:lnTo>
                <a:lnTo>
                  <a:pt x="49949" y="3632200"/>
                </a:lnTo>
                <a:lnTo>
                  <a:pt x="54190" y="3644900"/>
                </a:lnTo>
                <a:close/>
              </a:path>
              <a:path w="4086860" h="3733800">
                <a:moveTo>
                  <a:pt x="4065269" y="3644900"/>
                </a:moveTo>
                <a:lnTo>
                  <a:pt x="4032504" y="3644900"/>
                </a:lnTo>
                <a:lnTo>
                  <a:pt x="4036745" y="3632200"/>
                </a:lnTo>
                <a:lnTo>
                  <a:pt x="4039996" y="3632200"/>
                </a:lnTo>
                <a:lnTo>
                  <a:pt x="4043603" y="3619500"/>
                </a:lnTo>
                <a:lnTo>
                  <a:pt x="4072750" y="3619500"/>
                </a:lnTo>
                <a:lnTo>
                  <a:pt x="4069194" y="3632200"/>
                </a:lnTo>
                <a:lnTo>
                  <a:pt x="4065269" y="3644900"/>
                </a:lnTo>
                <a:close/>
              </a:path>
              <a:path w="4086860" h="3733800">
                <a:moveTo>
                  <a:pt x="62788" y="3657600"/>
                </a:moveTo>
                <a:lnTo>
                  <a:pt x="30314" y="3657600"/>
                </a:lnTo>
                <a:lnTo>
                  <a:pt x="25704" y="3644900"/>
                </a:lnTo>
                <a:lnTo>
                  <a:pt x="57950" y="3644900"/>
                </a:lnTo>
                <a:lnTo>
                  <a:pt x="62788" y="3657600"/>
                </a:lnTo>
                <a:close/>
              </a:path>
              <a:path w="4086860" h="3733800">
                <a:moveTo>
                  <a:pt x="67487" y="3657600"/>
                </a:moveTo>
                <a:lnTo>
                  <a:pt x="62788" y="3657600"/>
                </a:lnTo>
                <a:lnTo>
                  <a:pt x="62356" y="3644900"/>
                </a:lnTo>
                <a:lnTo>
                  <a:pt x="67487" y="3657600"/>
                </a:lnTo>
                <a:close/>
              </a:path>
              <a:path w="4086860" h="3733800">
                <a:moveTo>
                  <a:pt x="4023906" y="3657600"/>
                </a:moveTo>
                <a:lnTo>
                  <a:pt x="4019207" y="3657600"/>
                </a:lnTo>
                <a:lnTo>
                  <a:pt x="4024337" y="3644900"/>
                </a:lnTo>
                <a:lnTo>
                  <a:pt x="4023906" y="3657600"/>
                </a:lnTo>
                <a:close/>
              </a:path>
              <a:path w="4086860" h="3733800">
                <a:moveTo>
                  <a:pt x="4056379" y="3657600"/>
                </a:moveTo>
                <a:lnTo>
                  <a:pt x="4023906" y="3657600"/>
                </a:lnTo>
                <a:lnTo>
                  <a:pt x="4028744" y="3644900"/>
                </a:lnTo>
                <a:lnTo>
                  <a:pt x="4060990" y="3644900"/>
                </a:lnTo>
                <a:lnTo>
                  <a:pt x="4056379" y="3657600"/>
                </a:lnTo>
                <a:close/>
              </a:path>
              <a:path w="4086860" h="3733800">
                <a:moveTo>
                  <a:pt x="77622" y="3670300"/>
                </a:moveTo>
                <a:lnTo>
                  <a:pt x="40538" y="3670300"/>
                </a:lnTo>
                <a:lnTo>
                  <a:pt x="35267" y="3657600"/>
                </a:lnTo>
                <a:lnTo>
                  <a:pt x="71958" y="3657600"/>
                </a:lnTo>
                <a:lnTo>
                  <a:pt x="77622" y="3670300"/>
                </a:lnTo>
                <a:close/>
              </a:path>
              <a:path w="4086860" h="3733800">
                <a:moveTo>
                  <a:pt x="4046156" y="3670300"/>
                </a:moveTo>
                <a:lnTo>
                  <a:pt x="4009072" y="3670300"/>
                </a:lnTo>
                <a:lnTo>
                  <a:pt x="4014749" y="3657600"/>
                </a:lnTo>
                <a:lnTo>
                  <a:pt x="4051427" y="3657600"/>
                </a:lnTo>
                <a:lnTo>
                  <a:pt x="4046156" y="3670300"/>
                </a:lnTo>
                <a:close/>
              </a:path>
              <a:path w="4086860" h="3733800">
                <a:moveTo>
                  <a:pt x="94526" y="3683000"/>
                </a:moveTo>
                <a:lnTo>
                  <a:pt x="51981" y="3683000"/>
                </a:lnTo>
                <a:lnTo>
                  <a:pt x="46113" y="3670300"/>
                </a:lnTo>
                <a:lnTo>
                  <a:pt x="88125" y="3670300"/>
                </a:lnTo>
                <a:lnTo>
                  <a:pt x="94526" y="3683000"/>
                </a:lnTo>
                <a:close/>
              </a:path>
              <a:path w="4086860" h="3733800">
                <a:moveTo>
                  <a:pt x="4034713" y="3683000"/>
                </a:moveTo>
                <a:lnTo>
                  <a:pt x="3992168" y="3683000"/>
                </a:lnTo>
                <a:lnTo>
                  <a:pt x="3998569" y="3670300"/>
                </a:lnTo>
                <a:lnTo>
                  <a:pt x="4040581" y="3670300"/>
                </a:lnTo>
                <a:lnTo>
                  <a:pt x="4034713" y="3683000"/>
                </a:lnTo>
                <a:close/>
              </a:path>
              <a:path w="4086860" h="3733800">
                <a:moveTo>
                  <a:pt x="113258" y="3695700"/>
                </a:moveTo>
                <a:lnTo>
                  <a:pt x="64592" y="3695700"/>
                </a:lnTo>
                <a:lnTo>
                  <a:pt x="58153" y="3683000"/>
                </a:lnTo>
                <a:lnTo>
                  <a:pt x="106222" y="3683000"/>
                </a:lnTo>
                <a:lnTo>
                  <a:pt x="113258" y="3695700"/>
                </a:lnTo>
                <a:close/>
              </a:path>
              <a:path w="4086860" h="3733800">
                <a:moveTo>
                  <a:pt x="4022115" y="3695700"/>
                </a:moveTo>
                <a:lnTo>
                  <a:pt x="3973449" y="3695700"/>
                </a:lnTo>
                <a:lnTo>
                  <a:pt x="3980484" y="3683000"/>
                </a:lnTo>
                <a:lnTo>
                  <a:pt x="4028554" y="3683000"/>
                </a:lnTo>
                <a:lnTo>
                  <a:pt x="4022115" y="3695700"/>
                </a:lnTo>
                <a:close/>
              </a:path>
              <a:path w="4086860" h="3733800">
                <a:moveTo>
                  <a:pt x="147815" y="3708400"/>
                </a:moveTo>
                <a:lnTo>
                  <a:pt x="78244" y="3708400"/>
                </a:lnTo>
                <a:lnTo>
                  <a:pt x="71285" y="3695700"/>
                </a:lnTo>
                <a:lnTo>
                  <a:pt x="139928" y="3695700"/>
                </a:lnTo>
                <a:lnTo>
                  <a:pt x="147815" y="3708400"/>
                </a:lnTo>
                <a:close/>
              </a:path>
              <a:path w="4086860" h="3733800">
                <a:moveTo>
                  <a:pt x="4008450" y="3708400"/>
                </a:moveTo>
                <a:lnTo>
                  <a:pt x="3938879" y="3708400"/>
                </a:lnTo>
                <a:lnTo>
                  <a:pt x="3946779" y="3695700"/>
                </a:lnTo>
                <a:lnTo>
                  <a:pt x="4015409" y="3695700"/>
                </a:lnTo>
                <a:lnTo>
                  <a:pt x="4008450" y="3708400"/>
                </a:lnTo>
                <a:close/>
              </a:path>
              <a:path w="4086860" h="3733800">
                <a:moveTo>
                  <a:pt x="3986161" y="3721100"/>
                </a:moveTo>
                <a:lnTo>
                  <a:pt x="100533" y="3721100"/>
                </a:lnTo>
                <a:lnTo>
                  <a:pt x="92887" y="3708400"/>
                </a:lnTo>
                <a:lnTo>
                  <a:pt x="3993819" y="3708400"/>
                </a:lnTo>
                <a:lnTo>
                  <a:pt x="3986161" y="3721100"/>
                </a:lnTo>
                <a:close/>
              </a:path>
              <a:path w="4086860" h="3733800">
                <a:moveTo>
                  <a:pt x="3953548" y="3733800"/>
                </a:moveTo>
                <a:lnTo>
                  <a:pt x="133146" y="3733800"/>
                </a:lnTo>
                <a:lnTo>
                  <a:pt x="124726" y="3721100"/>
                </a:lnTo>
                <a:lnTo>
                  <a:pt x="3961980" y="3721100"/>
                </a:lnTo>
                <a:lnTo>
                  <a:pt x="3953548" y="37338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35"/>
          <p:cNvSpPr txBox="1"/>
          <p:nvPr/>
        </p:nvSpPr>
        <p:spPr>
          <a:xfrm>
            <a:off x="210311" y="2647769"/>
            <a:ext cx="1897380" cy="559435"/>
          </a:xfrm>
          <a:prstGeom prst="rect">
            <a:avLst/>
          </a:prstGeom>
          <a:solidFill>
            <a:srgbClr val="6B7887"/>
          </a:solidFill>
        </p:spPr>
        <p:txBody>
          <a:bodyPr vert="horz" wrap="square" lIns="0" tIns="177800" rIns="0" bIns="0" rtlCol="0">
            <a:spAutoFit/>
          </a:bodyPr>
          <a:lstStyle/>
          <a:p>
            <a:pPr marL="415290">
              <a:lnSpc>
                <a:spcPct val="100000"/>
              </a:lnSpc>
              <a:spcBef>
                <a:spcPts val="1400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控制组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G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oup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37"/>
          <p:cNvSpPr/>
          <p:nvPr/>
        </p:nvSpPr>
        <p:spPr>
          <a:xfrm>
            <a:off x="2205033" y="2647769"/>
            <a:ext cx="1897380" cy="559435"/>
          </a:xfrm>
          <a:custGeom>
            <a:avLst/>
            <a:gdLst/>
            <a:ahLst/>
            <a:cxnLst/>
            <a:rect l="l" t="t" r="r" b="b"/>
            <a:pathLst>
              <a:path w="1897379" h="559435">
                <a:moveTo>
                  <a:pt x="1897380" y="559308"/>
                </a:moveTo>
                <a:lnTo>
                  <a:pt x="0" y="559308"/>
                </a:lnTo>
                <a:lnTo>
                  <a:pt x="0" y="0"/>
                </a:lnTo>
                <a:lnTo>
                  <a:pt x="1897380" y="0"/>
                </a:lnTo>
                <a:lnTo>
                  <a:pt x="1897380" y="559308"/>
                </a:lnTo>
                <a:close/>
              </a:path>
            </a:pathLst>
          </a:custGeom>
          <a:solidFill>
            <a:srgbClr val="6B78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38"/>
          <p:cNvSpPr txBox="1"/>
          <p:nvPr/>
        </p:nvSpPr>
        <p:spPr>
          <a:xfrm>
            <a:off x="2613338" y="2731906"/>
            <a:ext cx="1080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测试组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G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oup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B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200" spc="-5" dirty="0">
                <a:solidFill>
                  <a:srgbClr val="00CEEB"/>
                </a:solidFill>
                <a:latin typeface="微软雅黑" panose="020B0503020204020204" charset="-122"/>
                <a:cs typeface="微软雅黑" panose="020B0503020204020204" charset="-122"/>
              </a:rPr>
              <a:t>*</a:t>
            </a:r>
            <a:r>
              <a:rPr sz="1200" dirty="0">
                <a:solidFill>
                  <a:srgbClr val="53DFBC"/>
                </a:solidFill>
                <a:latin typeface="微软雅黑" panose="020B0503020204020204" charset="-122"/>
                <a:cs typeface="微软雅黑" panose="020B0503020204020204" charset="-122"/>
              </a:rPr>
              <a:t>建议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39"/>
          <p:cNvSpPr/>
          <p:nvPr/>
        </p:nvSpPr>
        <p:spPr>
          <a:xfrm>
            <a:off x="2197976" y="3364737"/>
            <a:ext cx="1897380" cy="2041585"/>
          </a:xfrm>
          <a:custGeom>
            <a:avLst/>
            <a:gdLst/>
            <a:ahLst/>
            <a:cxnLst/>
            <a:rect l="l" t="t" r="r" b="b"/>
            <a:pathLst>
              <a:path w="1897379" h="2897504">
                <a:moveTo>
                  <a:pt x="1897379" y="2897124"/>
                </a:moveTo>
                <a:lnTo>
                  <a:pt x="0" y="2897124"/>
                </a:lnTo>
                <a:lnTo>
                  <a:pt x="0" y="0"/>
                </a:lnTo>
                <a:lnTo>
                  <a:pt x="1897379" y="0"/>
                </a:lnTo>
                <a:lnTo>
                  <a:pt x="1897379" y="2897124"/>
                </a:lnTo>
                <a:close/>
              </a:path>
            </a:pathLst>
          </a:custGeom>
          <a:solidFill>
            <a:srgbClr val="006C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40"/>
          <p:cNvSpPr txBox="1"/>
          <p:nvPr/>
        </p:nvSpPr>
        <p:spPr>
          <a:xfrm>
            <a:off x="2339263" y="3903267"/>
            <a:ext cx="161480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转化/促销目录广告系列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635" algn="ctr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（预算占30%）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635" algn="ctr">
              <a:lnSpc>
                <a:spcPct val="100000"/>
              </a:lnSpc>
              <a:spcBef>
                <a:spcPts val="1440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+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ASC广告系列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635" algn="ctr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（预算占70%）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36"/>
          <p:cNvSpPr txBox="1"/>
          <p:nvPr/>
        </p:nvSpPr>
        <p:spPr>
          <a:xfrm>
            <a:off x="210311" y="3364738"/>
            <a:ext cx="1841615" cy="2041585"/>
          </a:xfrm>
          <a:prstGeom prst="rect">
            <a:avLst/>
          </a:prstGeom>
          <a:solidFill>
            <a:srgbClr val="006CF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转化/促销目录广告系列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（预算占70%）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750" dirty="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+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50" dirty="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ASC广告系列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（预算占30%）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endParaRPr lang="en-US" sz="1200" dirty="0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41"/>
          <p:cNvSpPr txBox="1"/>
          <p:nvPr/>
        </p:nvSpPr>
        <p:spPr>
          <a:xfrm>
            <a:off x="4564748" y="2774353"/>
            <a:ext cx="1080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测试组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G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oup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B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70485">
              <a:lnSpc>
                <a:spcPct val="100000"/>
              </a:lnSpc>
            </a:pP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（Optional）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5" name="object 8"/>
          <p:cNvGrpSpPr/>
          <p:nvPr/>
        </p:nvGrpSpPr>
        <p:grpSpPr>
          <a:xfrm>
            <a:off x="6564018" y="1723930"/>
            <a:ext cx="5499100" cy="4648222"/>
            <a:chOff x="6089650" y="1736991"/>
            <a:chExt cx="5499100" cy="4582160"/>
          </a:xfrm>
        </p:grpSpPr>
        <p:sp>
          <p:nvSpPr>
            <p:cNvPr id="26" name="object 9"/>
            <p:cNvSpPr/>
            <p:nvPr/>
          </p:nvSpPr>
          <p:spPr>
            <a:xfrm>
              <a:off x="6096000" y="2726435"/>
              <a:ext cx="5486400" cy="719455"/>
            </a:xfrm>
            <a:custGeom>
              <a:avLst/>
              <a:gdLst/>
              <a:ahLst/>
              <a:cxnLst/>
              <a:rect l="l" t="t" r="r" b="b"/>
              <a:pathLst>
                <a:path w="5486400" h="719454">
                  <a:moveTo>
                    <a:pt x="5486400" y="0"/>
                  </a:moveTo>
                  <a:lnTo>
                    <a:pt x="3206496" y="0"/>
                  </a:lnTo>
                  <a:lnTo>
                    <a:pt x="1030224" y="0"/>
                  </a:lnTo>
                  <a:lnTo>
                    <a:pt x="0" y="0"/>
                  </a:lnTo>
                  <a:lnTo>
                    <a:pt x="0" y="719328"/>
                  </a:lnTo>
                  <a:lnTo>
                    <a:pt x="1030224" y="719328"/>
                  </a:lnTo>
                  <a:lnTo>
                    <a:pt x="3206496" y="719328"/>
                  </a:lnTo>
                  <a:lnTo>
                    <a:pt x="5486400" y="719328"/>
                  </a:lnTo>
                  <a:lnTo>
                    <a:pt x="5486400" y="0"/>
                  </a:lnTo>
                  <a:close/>
                </a:path>
              </a:pathLst>
            </a:custGeom>
            <a:solidFill>
              <a:srgbClr val="BAF3E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10"/>
            <p:cNvSpPr/>
            <p:nvPr/>
          </p:nvSpPr>
          <p:spPr>
            <a:xfrm>
              <a:off x="6089650" y="1736991"/>
              <a:ext cx="5499100" cy="4582160"/>
            </a:xfrm>
            <a:custGeom>
              <a:avLst/>
              <a:gdLst/>
              <a:ahLst/>
              <a:cxnLst/>
              <a:rect l="l" t="t" r="r" b="b"/>
              <a:pathLst>
                <a:path w="5499100" h="4582160">
                  <a:moveTo>
                    <a:pt x="5499100" y="6350"/>
                  </a:moveTo>
                  <a:lnTo>
                    <a:pt x="5492750" y="6350"/>
                  </a:lnTo>
                  <a:lnTo>
                    <a:pt x="5492750" y="0"/>
                  </a:lnTo>
                  <a:lnTo>
                    <a:pt x="5486400" y="0"/>
                  </a:lnTo>
                  <a:lnTo>
                    <a:pt x="5486400" y="4569460"/>
                  </a:lnTo>
                  <a:lnTo>
                    <a:pt x="1043305" y="4569460"/>
                  </a:lnTo>
                  <a:lnTo>
                    <a:pt x="1043305" y="4171950"/>
                  </a:lnTo>
                  <a:lnTo>
                    <a:pt x="5486400" y="4171950"/>
                  </a:lnTo>
                  <a:lnTo>
                    <a:pt x="5486400" y="4159250"/>
                  </a:lnTo>
                  <a:lnTo>
                    <a:pt x="1043305" y="4159250"/>
                  </a:lnTo>
                  <a:lnTo>
                    <a:pt x="1043305" y="3762375"/>
                  </a:lnTo>
                  <a:lnTo>
                    <a:pt x="5486400" y="3762375"/>
                  </a:lnTo>
                  <a:lnTo>
                    <a:pt x="5486400" y="3749675"/>
                  </a:lnTo>
                  <a:lnTo>
                    <a:pt x="1043305" y="3749675"/>
                  </a:lnTo>
                  <a:lnTo>
                    <a:pt x="1043305" y="3352800"/>
                  </a:lnTo>
                  <a:lnTo>
                    <a:pt x="5486400" y="3352800"/>
                  </a:lnTo>
                  <a:lnTo>
                    <a:pt x="5486400" y="3340100"/>
                  </a:lnTo>
                  <a:lnTo>
                    <a:pt x="1043305" y="3340100"/>
                  </a:lnTo>
                  <a:lnTo>
                    <a:pt x="1043305" y="2943225"/>
                  </a:lnTo>
                  <a:lnTo>
                    <a:pt x="5486400" y="2943225"/>
                  </a:lnTo>
                  <a:lnTo>
                    <a:pt x="5486400" y="2930525"/>
                  </a:lnTo>
                  <a:lnTo>
                    <a:pt x="1043305" y="2930525"/>
                  </a:lnTo>
                  <a:lnTo>
                    <a:pt x="1043305" y="2533650"/>
                  </a:lnTo>
                  <a:lnTo>
                    <a:pt x="5486400" y="2533650"/>
                  </a:lnTo>
                  <a:lnTo>
                    <a:pt x="5486400" y="2520950"/>
                  </a:lnTo>
                  <a:lnTo>
                    <a:pt x="1043305" y="2520950"/>
                  </a:lnTo>
                  <a:lnTo>
                    <a:pt x="1043305" y="2124075"/>
                  </a:lnTo>
                  <a:lnTo>
                    <a:pt x="5486400" y="2124075"/>
                  </a:lnTo>
                  <a:lnTo>
                    <a:pt x="5486400" y="2111375"/>
                  </a:lnTo>
                  <a:lnTo>
                    <a:pt x="1043305" y="2111375"/>
                  </a:lnTo>
                  <a:lnTo>
                    <a:pt x="1043305" y="1714500"/>
                  </a:lnTo>
                  <a:lnTo>
                    <a:pt x="5486400" y="1714500"/>
                  </a:lnTo>
                  <a:lnTo>
                    <a:pt x="5486400" y="1701800"/>
                  </a:lnTo>
                  <a:lnTo>
                    <a:pt x="3218815" y="1701800"/>
                  </a:lnTo>
                  <a:lnTo>
                    <a:pt x="3218815" y="995045"/>
                  </a:lnTo>
                  <a:lnTo>
                    <a:pt x="5486400" y="995045"/>
                  </a:lnTo>
                  <a:lnTo>
                    <a:pt x="5486400" y="982345"/>
                  </a:lnTo>
                  <a:lnTo>
                    <a:pt x="3218815" y="982345"/>
                  </a:lnTo>
                  <a:lnTo>
                    <a:pt x="3218815" y="12700"/>
                  </a:lnTo>
                  <a:lnTo>
                    <a:pt x="5486400" y="12700"/>
                  </a:lnTo>
                  <a:lnTo>
                    <a:pt x="5486400" y="0"/>
                  </a:lnTo>
                  <a:lnTo>
                    <a:pt x="3206115" y="0"/>
                  </a:lnTo>
                  <a:lnTo>
                    <a:pt x="3206115" y="12700"/>
                  </a:lnTo>
                  <a:lnTo>
                    <a:pt x="3206115" y="982345"/>
                  </a:lnTo>
                  <a:lnTo>
                    <a:pt x="3206115" y="995045"/>
                  </a:lnTo>
                  <a:lnTo>
                    <a:pt x="3206115" y="1701800"/>
                  </a:lnTo>
                  <a:lnTo>
                    <a:pt x="1043305" y="1701800"/>
                  </a:lnTo>
                  <a:lnTo>
                    <a:pt x="1043305" y="995045"/>
                  </a:lnTo>
                  <a:lnTo>
                    <a:pt x="3206115" y="995045"/>
                  </a:lnTo>
                  <a:lnTo>
                    <a:pt x="3206115" y="982345"/>
                  </a:lnTo>
                  <a:lnTo>
                    <a:pt x="1043305" y="982345"/>
                  </a:lnTo>
                  <a:lnTo>
                    <a:pt x="1043305" y="12700"/>
                  </a:lnTo>
                  <a:lnTo>
                    <a:pt x="3206115" y="12700"/>
                  </a:lnTo>
                  <a:lnTo>
                    <a:pt x="3206115" y="0"/>
                  </a:lnTo>
                  <a:lnTo>
                    <a:pt x="1030605" y="0"/>
                  </a:lnTo>
                  <a:lnTo>
                    <a:pt x="1030605" y="12700"/>
                  </a:lnTo>
                  <a:lnTo>
                    <a:pt x="1030605" y="982345"/>
                  </a:lnTo>
                  <a:lnTo>
                    <a:pt x="1030605" y="4569460"/>
                  </a:lnTo>
                  <a:lnTo>
                    <a:pt x="12700" y="4569460"/>
                  </a:lnTo>
                  <a:lnTo>
                    <a:pt x="12700" y="4171950"/>
                  </a:lnTo>
                  <a:lnTo>
                    <a:pt x="1030605" y="4171950"/>
                  </a:lnTo>
                  <a:lnTo>
                    <a:pt x="1030605" y="4159250"/>
                  </a:lnTo>
                  <a:lnTo>
                    <a:pt x="12700" y="4159250"/>
                  </a:lnTo>
                  <a:lnTo>
                    <a:pt x="12700" y="3762375"/>
                  </a:lnTo>
                  <a:lnTo>
                    <a:pt x="1030605" y="3762375"/>
                  </a:lnTo>
                  <a:lnTo>
                    <a:pt x="1030605" y="3749675"/>
                  </a:lnTo>
                  <a:lnTo>
                    <a:pt x="12700" y="3749675"/>
                  </a:lnTo>
                  <a:lnTo>
                    <a:pt x="12700" y="3352800"/>
                  </a:lnTo>
                  <a:lnTo>
                    <a:pt x="1030605" y="3352800"/>
                  </a:lnTo>
                  <a:lnTo>
                    <a:pt x="1030605" y="3340100"/>
                  </a:lnTo>
                  <a:lnTo>
                    <a:pt x="12700" y="3340100"/>
                  </a:lnTo>
                  <a:lnTo>
                    <a:pt x="12700" y="2943225"/>
                  </a:lnTo>
                  <a:lnTo>
                    <a:pt x="1030605" y="2943225"/>
                  </a:lnTo>
                  <a:lnTo>
                    <a:pt x="1030605" y="2930525"/>
                  </a:lnTo>
                  <a:lnTo>
                    <a:pt x="12700" y="2930525"/>
                  </a:lnTo>
                  <a:lnTo>
                    <a:pt x="12700" y="2533650"/>
                  </a:lnTo>
                  <a:lnTo>
                    <a:pt x="1030605" y="2533650"/>
                  </a:lnTo>
                  <a:lnTo>
                    <a:pt x="1030605" y="2520950"/>
                  </a:lnTo>
                  <a:lnTo>
                    <a:pt x="12700" y="2520950"/>
                  </a:lnTo>
                  <a:lnTo>
                    <a:pt x="12700" y="2124075"/>
                  </a:lnTo>
                  <a:lnTo>
                    <a:pt x="1030605" y="2124075"/>
                  </a:lnTo>
                  <a:lnTo>
                    <a:pt x="1030605" y="2111375"/>
                  </a:lnTo>
                  <a:lnTo>
                    <a:pt x="12700" y="2111375"/>
                  </a:lnTo>
                  <a:lnTo>
                    <a:pt x="12700" y="1714500"/>
                  </a:lnTo>
                  <a:lnTo>
                    <a:pt x="1030605" y="1714500"/>
                  </a:lnTo>
                  <a:lnTo>
                    <a:pt x="1030605" y="1701800"/>
                  </a:lnTo>
                  <a:lnTo>
                    <a:pt x="12700" y="1701800"/>
                  </a:lnTo>
                  <a:lnTo>
                    <a:pt x="12700" y="995045"/>
                  </a:lnTo>
                  <a:lnTo>
                    <a:pt x="1030605" y="995045"/>
                  </a:lnTo>
                  <a:lnTo>
                    <a:pt x="1030605" y="982345"/>
                  </a:lnTo>
                  <a:lnTo>
                    <a:pt x="12700" y="982345"/>
                  </a:lnTo>
                  <a:lnTo>
                    <a:pt x="12700" y="12700"/>
                  </a:lnTo>
                  <a:lnTo>
                    <a:pt x="1030605" y="12700"/>
                  </a:lnTo>
                  <a:lnTo>
                    <a:pt x="1030605" y="0"/>
                  </a:lnTo>
                  <a:lnTo>
                    <a:pt x="6350" y="0"/>
                  </a:lnTo>
                  <a:lnTo>
                    <a:pt x="6350" y="6350"/>
                  </a:lnTo>
                  <a:lnTo>
                    <a:pt x="0" y="6350"/>
                  </a:lnTo>
                  <a:lnTo>
                    <a:pt x="0" y="4575810"/>
                  </a:lnTo>
                  <a:lnTo>
                    <a:pt x="6350" y="4575810"/>
                  </a:lnTo>
                  <a:lnTo>
                    <a:pt x="6350" y="4582160"/>
                  </a:lnTo>
                  <a:lnTo>
                    <a:pt x="5492750" y="4582160"/>
                  </a:lnTo>
                  <a:lnTo>
                    <a:pt x="5492750" y="4575810"/>
                  </a:lnTo>
                  <a:lnTo>
                    <a:pt x="5499100" y="4575810"/>
                  </a:lnTo>
                  <a:lnTo>
                    <a:pt x="5499100" y="6350"/>
                  </a:lnTo>
                  <a:close/>
                </a:path>
              </a:pathLst>
            </a:custGeom>
            <a:solidFill>
              <a:srgbClr val="005FE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0" name="object 16"/>
          <p:cNvSpPr/>
          <p:nvPr/>
        </p:nvSpPr>
        <p:spPr>
          <a:xfrm>
            <a:off x="4430303" y="2647769"/>
            <a:ext cx="1897380" cy="559435"/>
          </a:xfrm>
          <a:custGeom>
            <a:avLst/>
            <a:gdLst/>
            <a:ahLst/>
            <a:cxnLst/>
            <a:rect l="l" t="t" r="r" b="b"/>
            <a:pathLst>
              <a:path w="1897379" h="559435">
                <a:moveTo>
                  <a:pt x="1897379" y="559308"/>
                </a:moveTo>
                <a:lnTo>
                  <a:pt x="0" y="559308"/>
                </a:lnTo>
                <a:lnTo>
                  <a:pt x="0" y="0"/>
                </a:lnTo>
                <a:lnTo>
                  <a:pt x="1897379" y="0"/>
                </a:lnTo>
                <a:lnTo>
                  <a:pt x="1897379" y="559308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41"/>
          <p:cNvSpPr txBox="1"/>
          <p:nvPr/>
        </p:nvSpPr>
        <p:spPr>
          <a:xfrm>
            <a:off x="4838608" y="2731906"/>
            <a:ext cx="1080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测试组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G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oup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B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70485">
              <a:lnSpc>
                <a:spcPct val="100000"/>
              </a:lnSpc>
            </a:pP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（Optional）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42"/>
          <p:cNvSpPr/>
          <p:nvPr/>
        </p:nvSpPr>
        <p:spPr>
          <a:xfrm>
            <a:off x="4450141" y="3291341"/>
            <a:ext cx="1897380" cy="2723093"/>
          </a:xfrm>
          <a:custGeom>
            <a:avLst/>
            <a:gdLst/>
            <a:ahLst/>
            <a:cxnLst/>
            <a:rect l="l" t="t" r="r" b="b"/>
            <a:pathLst>
              <a:path w="1897379" h="2897504">
                <a:moveTo>
                  <a:pt x="1897379" y="2897124"/>
                </a:moveTo>
                <a:lnTo>
                  <a:pt x="0" y="2897124"/>
                </a:lnTo>
                <a:lnTo>
                  <a:pt x="0" y="0"/>
                </a:lnTo>
                <a:lnTo>
                  <a:pt x="1897379" y="0"/>
                </a:lnTo>
                <a:lnTo>
                  <a:pt x="1897379" y="2897124"/>
                </a:lnTo>
                <a:close/>
              </a:path>
            </a:pathLst>
          </a:custGeom>
          <a:solidFill>
            <a:srgbClr val="92B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43"/>
          <p:cNvSpPr txBox="1"/>
          <p:nvPr/>
        </p:nvSpPr>
        <p:spPr>
          <a:xfrm>
            <a:off x="4838608" y="4223892"/>
            <a:ext cx="1191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ASC广告系列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（预算占100%）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4546" y="6576387"/>
            <a:ext cx="9201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*</a:t>
            </a:r>
            <a:r>
              <a:rPr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建议优先考虑符合以下情况的广告主：</a:t>
            </a:r>
            <a:r>
              <a:rPr sz="1200" spc="-4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1-ASC预算占比低于30%；2-ASC广告表现优于</a:t>
            </a:r>
            <a:r>
              <a:rPr sz="12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BAU；</a:t>
            </a:r>
            <a:r>
              <a:rPr sz="1200" spc="-4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3-处于学习期阶段的广告占比超过20%。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object 11"/>
          <p:cNvSpPr txBox="1"/>
          <p:nvPr/>
        </p:nvSpPr>
        <p:spPr>
          <a:xfrm>
            <a:off x="6732878" y="2174016"/>
            <a:ext cx="643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63DF"/>
                </a:solidFill>
                <a:latin typeface="微软雅黑" panose="020B0503020204020204" charset="-122"/>
                <a:cs typeface="微软雅黑" panose="020B0503020204020204" charset="-122"/>
              </a:rPr>
              <a:t>A/B</a:t>
            </a:r>
            <a:r>
              <a:rPr sz="1200" spc="-80" dirty="0">
                <a:solidFill>
                  <a:srgbClr val="0063D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0063DF"/>
                </a:solidFill>
                <a:latin typeface="微软雅黑" panose="020B0503020204020204" charset="-122"/>
                <a:cs typeface="微软雅黑" panose="020B0503020204020204" charset="-122"/>
              </a:rPr>
              <a:t>测试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object 12"/>
          <p:cNvSpPr txBox="1"/>
          <p:nvPr/>
        </p:nvSpPr>
        <p:spPr>
          <a:xfrm>
            <a:off x="7898953" y="1959638"/>
            <a:ext cx="1560830" cy="506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415">
              <a:lnSpc>
                <a:spcPct val="132000"/>
              </a:lnSpc>
              <a:spcBef>
                <a:spcPts val="100"/>
              </a:spcBef>
            </a:pP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广告系列组 </a:t>
            </a:r>
            <a:r>
              <a:rPr sz="1200" spc="-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Group 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A : </a:t>
            </a:r>
            <a:r>
              <a:rPr sz="1200" spc="-34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30%</a:t>
            </a:r>
            <a:r>
              <a:rPr sz="1200" spc="-2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-1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BAU</a:t>
            </a:r>
            <a:r>
              <a:rPr sz="1200" spc="-2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+</a:t>
            </a:r>
            <a:r>
              <a:rPr sz="1200" spc="-3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70%</a:t>
            </a:r>
            <a:r>
              <a:rPr sz="1200" spc="-2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object 13"/>
          <p:cNvSpPr txBox="1"/>
          <p:nvPr/>
        </p:nvSpPr>
        <p:spPr>
          <a:xfrm>
            <a:off x="10126228" y="1862006"/>
            <a:ext cx="1598295" cy="747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32000"/>
              </a:lnSpc>
              <a:spcBef>
                <a:spcPts val="100"/>
              </a:spcBef>
            </a:pP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广告系列组 </a:t>
            </a:r>
            <a:r>
              <a:rPr sz="1200" spc="-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Group 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B : </a:t>
            </a:r>
            <a:r>
              <a:rPr sz="1200" spc="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70%</a:t>
            </a:r>
            <a:r>
              <a:rPr sz="1200" spc="-2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-1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BAU</a:t>
            </a:r>
            <a:r>
              <a:rPr sz="1200" spc="-2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vs</a:t>
            </a:r>
            <a:r>
              <a:rPr sz="1200" spc="-3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30%</a:t>
            </a:r>
            <a:r>
              <a:rPr sz="1200" spc="-2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ASC </a:t>
            </a:r>
            <a:r>
              <a:rPr sz="1200" spc="-34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808080"/>
                </a:solidFill>
                <a:latin typeface="微软雅黑" panose="020B0503020204020204" charset="-122"/>
                <a:cs typeface="微软雅黑" panose="020B0503020204020204" charset="-122"/>
              </a:rPr>
              <a:t>或仅100%</a:t>
            </a:r>
            <a:r>
              <a:rPr sz="1200" spc="-10" dirty="0">
                <a:solidFill>
                  <a:srgbClr val="80808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808080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object 1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854150" y="3010766"/>
            <a:ext cx="401345" cy="224599"/>
          </a:xfrm>
          <a:prstGeom prst="rect">
            <a:avLst/>
          </a:prstGeom>
        </p:spPr>
      </p:pic>
      <p:sp>
        <p:nvSpPr>
          <p:cNvPr id="41" name="object 17"/>
          <p:cNvSpPr txBox="1"/>
          <p:nvPr/>
        </p:nvSpPr>
        <p:spPr>
          <a:xfrm>
            <a:off x="8014813" y="2896973"/>
            <a:ext cx="1310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微软雅黑" panose="020B0503020204020204" charset="-122"/>
                <a:cs typeface="微软雅黑" panose="020B0503020204020204" charset="-122"/>
              </a:rPr>
              <a:t>BAU(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预算占30%)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+ASC</a:t>
            </a:r>
            <a:r>
              <a:rPr sz="1200" spc="-5" dirty="0">
                <a:latin typeface="微软雅黑" panose="020B0503020204020204" charset="-122"/>
                <a:cs typeface="微软雅黑" panose="020B0503020204020204" charset="-122"/>
              </a:rPr>
              <a:t>(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预算占70%)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object 18"/>
          <p:cNvSpPr txBox="1"/>
          <p:nvPr/>
        </p:nvSpPr>
        <p:spPr>
          <a:xfrm>
            <a:off x="10155120" y="2847476"/>
            <a:ext cx="1540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微软雅黑" panose="020B0503020204020204" charset="-122"/>
                <a:cs typeface="微软雅黑" panose="020B0503020204020204" charset="-122"/>
              </a:rPr>
              <a:t>BAU(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预算占70%)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635" algn="ctr">
              <a:lnSpc>
                <a:spcPct val="100000"/>
              </a:lnSpc>
            </a:pPr>
            <a:r>
              <a:rPr sz="1200" spc="-5" dirty="0">
                <a:latin typeface="微软雅黑" panose="020B0503020204020204" charset="-122"/>
                <a:cs typeface="微软雅黑" panose="020B0503020204020204" charset="-122"/>
              </a:rPr>
              <a:t>+ASC(</a:t>
            </a:r>
            <a:r>
              <a:rPr sz="1200" dirty="0">
                <a:latin typeface="微软雅黑" panose="020B0503020204020204" charset="-122"/>
                <a:cs typeface="微软雅黑" panose="020B0503020204020204" charset="-122"/>
              </a:rPr>
              <a:t>预算占30%)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微软雅黑" panose="020B0503020204020204" charset="-122"/>
                <a:cs typeface="微软雅黑" panose="020B0503020204020204" charset="-122"/>
              </a:rPr>
              <a:t>或仅ASC</a:t>
            </a:r>
            <a:r>
              <a:rPr sz="1200" spc="-5" dirty="0">
                <a:solidFill>
                  <a:srgbClr val="808080"/>
                </a:solidFill>
                <a:latin typeface="微软雅黑" panose="020B0503020204020204" charset="-122"/>
                <a:cs typeface="微软雅黑" panose="020B0503020204020204" charset="-122"/>
              </a:rPr>
              <a:t>(</a:t>
            </a:r>
            <a:r>
              <a:rPr sz="1200" dirty="0">
                <a:solidFill>
                  <a:srgbClr val="808080"/>
                </a:solidFill>
                <a:latin typeface="微软雅黑" panose="020B0503020204020204" charset="-122"/>
                <a:cs typeface="微软雅黑" panose="020B0503020204020204" charset="-122"/>
              </a:rPr>
              <a:t>预算100%）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object 19"/>
          <p:cNvSpPr txBox="1"/>
          <p:nvPr/>
        </p:nvSpPr>
        <p:spPr>
          <a:xfrm>
            <a:off x="6661122" y="3571333"/>
            <a:ext cx="787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63DF"/>
                </a:solidFill>
                <a:latin typeface="微软雅黑" panose="020B0503020204020204" charset="-122"/>
                <a:cs typeface="微软雅黑" panose="020B0503020204020204" charset="-122"/>
              </a:rPr>
              <a:t>测试及周期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object 21"/>
          <p:cNvSpPr txBox="1"/>
          <p:nvPr/>
        </p:nvSpPr>
        <p:spPr>
          <a:xfrm>
            <a:off x="6741768" y="3991120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63DF"/>
                </a:solidFill>
                <a:latin typeface="微软雅黑" panose="020B0503020204020204" charset="-122"/>
                <a:cs typeface="微软雅黑" panose="020B0503020204020204" charset="-122"/>
              </a:rPr>
              <a:t>优化目标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object 23"/>
          <p:cNvSpPr txBox="1"/>
          <p:nvPr/>
        </p:nvSpPr>
        <p:spPr>
          <a:xfrm>
            <a:off x="6925295" y="4410907"/>
            <a:ext cx="33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63DF"/>
                </a:solidFill>
                <a:latin typeface="微软雅黑" panose="020B0503020204020204" charset="-122"/>
                <a:cs typeface="微软雅黑" panose="020B0503020204020204" charset="-122"/>
              </a:rPr>
              <a:t>定位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object 25"/>
          <p:cNvSpPr txBox="1"/>
          <p:nvPr/>
        </p:nvSpPr>
        <p:spPr>
          <a:xfrm>
            <a:off x="6925295" y="4867602"/>
            <a:ext cx="33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63DF"/>
                </a:solidFill>
                <a:latin typeface="微软雅黑" panose="020B0503020204020204" charset="-122"/>
                <a:cs typeface="微软雅黑" panose="020B0503020204020204" charset="-122"/>
              </a:rPr>
              <a:t>素材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object 27"/>
          <p:cNvSpPr txBox="1"/>
          <p:nvPr/>
        </p:nvSpPr>
        <p:spPr>
          <a:xfrm>
            <a:off x="6925295" y="5280020"/>
            <a:ext cx="33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63DF"/>
                </a:solidFill>
                <a:latin typeface="微软雅黑" panose="020B0503020204020204" charset="-122"/>
                <a:cs typeface="微软雅黑" panose="020B0503020204020204" charset="-122"/>
              </a:rPr>
              <a:t>版位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object 31"/>
          <p:cNvSpPr txBox="1"/>
          <p:nvPr/>
        </p:nvSpPr>
        <p:spPr>
          <a:xfrm>
            <a:off x="6709865" y="6035905"/>
            <a:ext cx="787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63DF"/>
                </a:solidFill>
                <a:latin typeface="微软雅黑" panose="020B0503020204020204" charset="-122"/>
                <a:cs typeface="微软雅黑" panose="020B0503020204020204" charset="-122"/>
              </a:rPr>
              <a:t>统计时间窗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object 29"/>
          <p:cNvSpPr txBox="1"/>
          <p:nvPr/>
        </p:nvSpPr>
        <p:spPr>
          <a:xfrm>
            <a:off x="6938465" y="5631174"/>
            <a:ext cx="33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63DF"/>
                </a:solidFill>
                <a:latin typeface="微软雅黑" panose="020B0503020204020204" charset="-122"/>
                <a:cs typeface="微软雅黑" panose="020B0503020204020204" charset="-122"/>
              </a:rPr>
              <a:t>竞</a:t>
            </a:r>
            <a:r>
              <a:rPr sz="1200" dirty="0">
                <a:solidFill>
                  <a:srgbClr val="0063DF"/>
                </a:solidFill>
                <a:latin typeface="微软雅黑" panose="020B0503020204020204" charset="-122"/>
                <a:cs typeface="微软雅黑" panose="020B0503020204020204" charset="-122"/>
              </a:rPr>
              <a:t>价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object 20"/>
          <p:cNvSpPr txBox="1"/>
          <p:nvPr/>
        </p:nvSpPr>
        <p:spPr>
          <a:xfrm>
            <a:off x="7665019" y="3547924"/>
            <a:ext cx="363410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2-4周</a:t>
            </a:r>
            <a:r>
              <a:rPr sz="1200" spc="-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200" b="1" spc="-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Conversion</a:t>
            </a:r>
            <a:r>
              <a:rPr sz="1200" b="1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Lift</a:t>
            </a:r>
            <a:r>
              <a:rPr sz="1200" b="1" spc="-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-1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preferred.</a:t>
            </a:r>
            <a:r>
              <a:rPr sz="1200" spc="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If</a:t>
            </a:r>
            <a:r>
              <a:rPr sz="1200" spc="-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not,</a:t>
            </a:r>
            <a:r>
              <a:rPr sz="1200" spc="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A/B </a:t>
            </a:r>
            <a:r>
              <a:rPr sz="1200" spc="-1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test.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object 22"/>
          <p:cNvSpPr txBox="1"/>
          <p:nvPr/>
        </p:nvSpPr>
        <p:spPr>
          <a:xfrm>
            <a:off x="7684613" y="3991120"/>
            <a:ext cx="33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转化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object 24"/>
          <p:cNvSpPr txBox="1"/>
          <p:nvPr/>
        </p:nvSpPr>
        <p:spPr>
          <a:xfrm>
            <a:off x="7665019" y="4406773"/>
            <a:ext cx="398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每个测试组相同（国家定位定位相同，均不限制兴趣定位）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object 26"/>
          <p:cNvSpPr txBox="1"/>
          <p:nvPr/>
        </p:nvSpPr>
        <p:spPr>
          <a:xfrm>
            <a:off x="7665019" y="4840395"/>
            <a:ext cx="33997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每个测试组相同</a:t>
            </a:r>
            <a:r>
              <a:rPr sz="1200" spc="-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(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建议每个广告系列至少10个创意)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object 30"/>
          <p:cNvSpPr txBox="1"/>
          <p:nvPr/>
        </p:nvSpPr>
        <p:spPr>
          <a:xfrm>
            <a:off x="7684613" y="5635776"/>
            <a:ext cx="2781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每个测试组相同</a:t>
            </a:r>
            <a:r>
              <a:rPr sz="1200" spc="-5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-</a:t>
            </a:r>
            <a:r>
              <a:rPr sz="1200" spc="-4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使用常规</a:t>
            </a:r>
            <a:r>
              <a:rPr sz="1200" spc="-1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BAU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竞价模式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object 28"/>
          <p:cNvSpPr txBox="1"/>
          <p:nvPr/>
        </p:nvSpPr>
        <p:spPr>
          <a:xfrm>
            <a:off x="7684613" y="5220319"/>
            <a:ext cx="2458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每个测试组相同(</a:t>
            </a:r>
            <a:r>
              <a:rPr sz="1200" spc="-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建议使用自动版位)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object 32"/>
          <p:cNvSpPr txBox="1"/>
          <p:nvPr/>
        </p:nvSpPr>
        <p:spPr>
          <a:xfrm>
            <a:off x="7630538" y="6032131"/>
            <a:ext cx="43808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每个测试组相同</a:t>
            </a:r>
            <a:r>
              <a:rPr sz="1200" spc="-2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-</a:t>
            </a:r>
            <a:r>
              <a:rPr sz="1200" spc="-2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使用常规</a:t>
            </a:r>
            <a:r>
              <a:rPr sz="1200" spc="-1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BAU</a:t>
            </a:r>
            <a:r>
              <a:rPr sz="1200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统计时间窗</a:t>
            </a:r>
            <a:r>
              <a:rPr sz="1200" spc="-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Attribution</a:t>
            </a:r>
            <a:r>
              <a:rPr sz="1200" spc="-1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-5" dirty="0">
                <a:solidFill>
                  <a:srgbClr val="44536A"/>
                </a:solidFill>
                <a:latin typeface="微软雅黑" panose="020B0503020204020204" charset="-122"/>
                <a:cs typeface="微软雅黑" panose="020B0503020204020204" charset="-122"/>
              </a:rPr>
              <a:t>Window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148107" y="222178"/>
            <a:ext cx="11038268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solidFill>
                  <a:srgbClr val="000000"/>
                </a:solidFill>
              </a:rPr>
              <a:t>策略</a:t>
            </a:r>
            <a:r>
              <a:rPr sz="1800" b="1" spc="-5" dirty="0">
                <a:solidFill>
                  <a:srgbClr val="000000"/>
                </a:solidFill>
              </a:rPr>
              <a:t>2：</a:t>
            </a:r>
            <a:r>
              <a:rPr sz="1800" b="1" dirty="0">
                <a:solidFill>
                  <a:srgbClr val="000000"/>
                </a:solidFill>
              </a:rPr>
              <a:t>调整新产品方</a:t>
            </a:r>
            <a:r>
              <a:rPr sz="1800" b="1" spc="-5" dirty="0">
                <a:solidFill>
                  <a:srgbClr val="000000"/>
                </a:solidFill>
              </a:rPr>
              <a:t>案 </a:t>
            </a:r>
            <a:r>
              <a:rPr sz="18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-</a:t>
            </a:r>
            <a:r>
              <a:rPr sz="18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spc="-1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BAU</a:t>
            </a:r>
            <a:r>
              <a:rPr sz="18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+</a:t>
            </a:r>
            <a:r>
              <a:rPr sz="18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ASC (100%)</a:t>
            </a:r>
            <a:r>
              <a:rPr sz="18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vs.</a:t>
            </a:r>
            <a:r>
              <a:rPr sz="18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spc="-1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BAU</a:t>
            </a:r>
            <a:r>
              <a:rPr sz="18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+</a:t>
            </a:r>
            <a:r>
              <a:rPr sz="18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ASC(150%)</a:t>
            </a:r>
            <a:endParaRPr sz="1800" b="1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148107" y="629757"/>
            <a:ext cx="91344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297815" algn="l"/>
                <a:tab pos="298450" algn="l"/>
              </a:tabLst>
            </a:pPr>
            <a:r>
              <a:rPr sz="14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研究课题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：通过增加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总预算（不仅仅是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将</a:t>
            </a:r>
            <a:r>
              <a:rPr sz="1400" spc="-3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BAU</a:t>
            </a:r>
            <a:r>
              <a:rPr sz="1400" spc="-3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的预算挪到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ASC）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比增加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BAU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总预算能带来更多的转化增量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148107" y="900635"/>
            <a:ext cx="5435600" cy="7791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380"/>
              </a:spcBef>
              <a:buFont typeface="Wingdings" panose="05000000000000000000"/>
              <a:buChar char=""/>
              <a:tabLst>
                <a:tab pos="297815" algn="l"/>
                <a:tab pos="298450" algn="l"/>
              </a:tabLst>
            </a:pPr>
            <a:r>
              <a:rPr sz="14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广告系列</a:t>
            </a:r>
            <a:r>
              <a:rPr sz="1400" b="1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组</a:t>
            </a:r>
            <a:r>
              <a:rPr sz="1400" b="1" spc="-3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（1</a:t>
            </a:r>
            <a:r>
              <a:rPr sz="1400" b="1" spc="-2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and</a:t>
            </a:r>
            <a:r>
              <a:rPr sz="1400" b="1" spc="-3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2）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：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755650" lvl="1" indent="-285750">
              <a:lnSpc>
                <a:spcPct val="100000"/>
              </a:lnSpc>
              <a:spcBef>
                <a:spcPts val="280"/>
              </a:spcBef>
              <a:buFont typeface="Wingdings" panose="05000000000000000000"/>
              <a:buChar char=""/>
              <a:tabLst>
                <a:tab pos="755015" algn="l"/>
                <a:tab pos="755650" algn="l"/>
              </a:tabLst>
            </a:pP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400" spc="-1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BAU+</a:t>
            </a:r>
            <a:r>
              <a:rPr sz="1400" spc="-1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(总预算为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100%)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Font typeface="Wingdings" panose="05000000000000000000"/>
              <a:buChar char=""/>
              <a:tabLst>
                <a:tab pos="755015" algn="l"/>
                <a:tab pos="755650" algn="l"/>
              </a:tabLst>
            </a:pP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400" spc="-1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B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BAU+ 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(总预算为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150%，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即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50%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预算增量)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6"/>
          <p:cNvSpPr txBox="1"/>
          <p:nvPr/>
        </p:nvSpPr>
        <p:spPr>
          <a:xfrm>
            <a:off x="403494" y="1819011"/>
            <a:ext cx="1897380" cy="593090"/>
          </a:xfrm>
          <a:prstGeom prst="rect">
            <a:avLst/>
          </a:prstGeom>
          <a:solidFill>
            <a:srgbClr val="6B7887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300" dirty="0">
              <a:latin typeface="Times New Roman" panose="02020603050405020304"/>
              <a:cs typeface="Times New Roman" panose="02020603050405020304"/>
            </a:endParaRPr>
          </a:p>
          <a:p>
            <a:pPr marL="41402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测试组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G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oup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8"/>
          <p:cNvSpPr txBox="1"/>
          <p:nvPr/>
        </p:nvSpPr>
        <p:spPr>
          <a:xfrm>
            <a:off x="2380616" y="1819011"/>
            <a:ext cx="1897380" cy="645160"/>
          </a:xfrm>
          <a:prstGeom prst="rect">
            <a:avLst/>
          </a:prstGeom>
          <a:solidFill>
            <a:srgbClr val="6B7887"/>
          </a:solidFill>
        </p:spPr>
        <p:txBody>
          <a:bodyPr vert="horz" wrap="square" lIns="0" tIns="103505" rIns="0" bIns="0" rtlCol="0">
            <a:spAutoFit/>
          </a:bodyPr>
          <a:lstStyle/>
          <a:p>
            <a:pPr marL="304165" marR="297815" indent="116205">
              <a:lnSpc>
                <a:spcPct val="100000"/>
              </a:lnSpc>
              <a:spcBef>
                <a:spcPts val="815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测试组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Group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B </a:t>
            </a:r>
            <a:r>
              <a:rPr sz="1200" spc="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(Treatment</a:t>
            </a:r>
            <a:r>
              <a:rPr sz="1200" spc="-2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Cell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1)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2"/>
          <p:cNvSpPr txBox="1"/>
          <p:nvPr/>
        </p:nvSpPr>
        <p:spPr>
          <a:xfrm>
            <a:off x="4357738" y="1819011"/>
            <a:ext cx="1897380" cy="645160"/>
          </a:xfrm>
          <a:prstGeom prst="rect">
            <a:avLst/>
          </a:prstGeom>
          <a:solidFill>
            <a:srgbClr val="6B7887"/>
          </a:solidFill>
        </p:spPr>
        <p:txBody>
          <a:bodyPr vert="horz" wrap="square" lIns="0" tIns="103505" rIns="0" bIns="0" rtlCol="0">
            <a:spAutoFit/>
          </a:bodyPr>
          <a:lstStyle/>
          <a:p>
            <a:pPr marL="304165" marR="297815" indent="116205">
              <a:lnSpc>
                <a:spcPct val="100000"/>
              </a:lnSpc>
              <a:spcBef>
                <a:spcPts val="815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测试组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Group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B </a:t>
            </a:r>
            <a:r>
              <a:rPr sz="1200" spc="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(Treatment</a:t>
            </a:r>
            <a:r>
              <a:rPr sz="1200" spc="-2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Cell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2)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7"/>
          <p:cNvSpPr txBox="1"/>
          <p:nvPr/>
        </p:nvSpPr>
        <p:spPr>
          <a:xfrm>
            <a:off x="403494" y="2464171"/>
            <a:ext cx="1897380" cy="3068320"/>
          </a:xfrm>
          <a:prstGeom prst="rect">
            <a:avLst/>
          </a:prstGeom>
          <a:solidFill>
            <a:srgbClr val="006CF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b="1" spc="-1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BAU</a:t>
            </a:r>
            <a:r>
              <a:rPr sz="12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预算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（BAU</a:t>
            </a:r>
            <a:r>
              <a:rPr sz="1200" spc="-4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+</a:t>
            </a:r>
            <a:r>
              <a:rPr sz="1200" spc="-3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ASC）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 dirty="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其中，ASC广告系列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（预算占30-50%）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9"/>
          <p:cNvSpPr/>
          <p:nvPr/>
        </p:nvSpPr>
        <p:spPr>
          <a:xfrm>
            <a:off x="2380616" y="2464171"/>
            <a:ext cx="1897380" cy="3068320"/>
          </a:xfrm>
          <a:custGeom>
            <a:avLst/>
            <a:gdLst/>
            <a:ahLst/>
            <a:cxnLst/>
            <a:rect l="l" t="t" r="r" b="b"/>
            <a:pathLst>
              <a:path w="1897379" h="3068320">
                <a:moveTo>
                  <a:pt x="1897379" y="3067812"/>
                </a:moveTo>
                <a:lnTo>
                  <a:pt x="0" y="3067812"/>
                </a:lnTo>
                <a:lnTo>
                  <a:pt x="0" y="0"/>
                </a:lnTo>
                <a:lnTo>
                  <a:pt x="1897379" y="0"/>
                </a:lnTo>
                <a:lnTo>
                  <a:pt x="1897379" y="3067812"/>
                </a:lnTo>
                <a:close/>
              </a:path>
            </a:pathLst>
          </a:custGeom>
          <a:solidFill>
            <a:srgbClr val="006C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0"/>
          <p:cNvSpPr txBox="1"/>
          <p:nvPr/>
        </p:nvSpPr>
        <p:spPr>
          <a:xfrm>
            <a:off x="2735581" y="3429000"/>
            <a:ext cx="1187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1.5倍的</a:t>
            </a:r>
            <a:r>
              <a:rPr sz="12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B</a:t>
            </a:r>
            <a:r>
              <a:rPr sz="1200" b="1" spc="-3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</a:t>
            </a:r>
            <a:r>
              <a:rPr sz="12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U</a:t>
            </a:r>
            <a:r>
              <a:rPr sz="12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预算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7305">
              <a:lnSpc>
                <a:spcPct val="100000"/>
              </a:lnSpc>
            </a:pP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（BAU</a:t>
            </a:r>
            <a:r>
              <a:rPr sz="1200" spc="-4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+</a:t>
            </a:r>
            <a:r>
              <a:rPr sz="1200" spc="-4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ASC）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1"/>
          <p:cNvSpPr txBox="1"/>
          <p:nvPr/>
        </p:nvSpPr>
        <p:spPr>
          <a:xfrm>
            <a:off x="2479676" y="4071620"/>
            <a:ext cx="16992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其中，额外增加的50%预 算分配给</a:t>
            </a:r>
            <a:r>
              <a:rPr sz="1400" b="1" spc="-1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BAU</a:t>
            </a:r>
            <a:r>
              <a:rPr sz="1200" spc="-1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，ASC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预 算保持与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200" spc="-7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A的ASC </a:t>
            </a:r>
            <a:r>
              <a:rPr sz="1200" spc="-34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预算相同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13"/>
          <p:cNvSpPr/>
          <p:nvPr/>
        </p:nvSpPr>
        <p:spPr>
          <a:xfrm>
            <a:off x="4357738" y="2464171"/>
            <a:ext cx="1897380" cy="3068320"/>
          </a:xfrm>
          <a:custGeom>
            <a:avLst/>
            <a:gdLst/>
            <a:ahLst/>
            <a:cxnLst/>
            <a:rect l="l" t="t" r="r" b="b"/>
            <a:pathLst>
              <a:path w="1897379" h="3068320">
                <a:moveTo>
                  <a:pt x="1897379" y="3067812"/>
                </a:moveTo>
                <a:lnTo>
                  <a:pt x="0" y="3067812"/>
                </a:lnTo>
                <a:lnTo>
                  <a:pt x="0" y="0"/>
                </a:lnTo>
                <a:lnTo>
                  <a:pt x="1897379" y="0"/>
                </a:lnTo>
                <a:lnTo>
                  <a:pt x="1897379" y="3067812"/>
                </a:lnTo>
                <a:close/>
              </a:path>
            </a:pathLst>
          </a:custGeom>
          <a:solidFill>
            <a:srgbClr val="006B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14"/>
          <p:cNvSpPr txBox="1"/>
          <p:nvPr/>
        </p:nvSpPr>
        <p:spPr>
          <a:xfrm>
            <a:off x="4632961" y="3429000"/>
            <a:ext cx="1187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1.5倍的</a:t>
            </a:r>
            <a:r>
              <a:rPr sz="12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B</a:t>
            </a:r>
            <a:r>
              <a:rPr sz="1200" b="1" spc="-3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</a:t>
            </a:r>
            <a:r>
              <a:rPr sz="12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U</a:t>
            </a:r>
            <a:r>
              <a:rPr sz="12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预算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7305">
              <a:lnSpc>
                <a:spcPct val="100000"/>
              </a:lnSpc>
            </a:pP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（BAU</a:t>
            </a:r>
            <a:r>
              <a:rPr sz="1200" spc="-4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+</a:t>
            </a:r>
            <a:r>
              <a:rPr sz="1200" spc="-4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ASC）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15"/>
          <p:cNvSpPr txBox="1"/>
          <p:nvPr/>
        </p:nvSpPr>
        <p:spPr>
          <a:xfrm>
            <a:off x="4456798" y="4071620"/>
            <a:ext cx="16992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其中，额外增加的50%预 算分配给</a:t>
            </a:r>
            <a:r>
              <a:rPr sz="14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，BAU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预 算保持与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G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oup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A的B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U 预算相同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5"/>
          <p:cNvSpPr txBox="1"/>
          <p:nvPr/>
        </p:nvSpPr>
        <p:spPr>
          <a:xfrm>
            <a:off x="6334296" y="1068523"/>
            <a:ext cx="13785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297815" algn="l"/>
                <a:tab pos="298450" algn="l"/>
              </a:tabLst>
            </a:pPr>
            <a:r>
              <a:rPr sz="14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设置注意事</a:t>
            </a:r>
            <a:r>
              <a:rPr sz="1400" b="1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项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4" name="object 17"/>
          <p:cNvGraphicFramePr>
            <a:graphicFrameLocks noGrp="1"/>
          </p:cNvGraphicFramePr>
          <p:nvPr/>
        </p:nvGraphicFramePr>
        <p:xfrm>
          <a:off x="6431281" y="1435871"/>
          <a:ext cx="5531483" cy="4559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6760"/>
                <a:gridCol w="1720215"/>
                <a:gridCol w="1548129"/>
                <a:gridCol w="1516379"/>
              </a:tblGrid>
              <a:tr h="1031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A/B</a:t>
                      </a:r>
                      <a:r>
                        <a:rPr sz="1200" spc="-5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测试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32715" marR="3048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广告系列组</a:t>
                      </a:r>
                      <a:r>
                        <a:rPr sz="1200" spc="-4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Group</a:t>
                      </a:r>
                      <a:r>
                        <a:rPr sz="1200" spc="-4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sz="1200" spc="-3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: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b="1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sz="1200" b="1" spc="-3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sz="1200" b="1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U</a:t>
                      </a:r>
                      <a:r>
                        <a:rPr sz="1200" b="1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预算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（B</a:t>
                      </a:r>
                      <a:r>
                        <a:rPr sz="1200" spc="-2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U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+ASC）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69875" marR="137795" indent="178435">
                        <a:lnSpc>
                          <a:spcPct val="132000"/>
                        </a:lnSpc>
                        <a:spcBef>
                          <a:spcPts val="101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广告系列组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Group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B（1 and 2）: </a:t>
                      </a:r>
                      <a:r>
                        <a:rPr sz="1200" spc="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Cell</a:t>
                      </a:r>
                      <a:r>
                        <a:rPr sz="1200" spc="-4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1:</a:t>
                      </a:r>
                      <a:r>
                        <a:rPr sz="1200" spc="-3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1.5倍的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预算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1200" b="1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spc="-5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↑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+ASC）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667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Cell</a:t>
                      </a:r>
                      <a:r>
                        <a:rPr sz="1200" spc="-4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2:</a:t>
                      </a:r>
                      <a:r>
                        <a:rPr sz="1200" spc="-3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1.5倍的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预算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(BAU+</a:t>
                      </a:r>
                      <a:r>
                        <a:rPr sz="1200" b="1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ASC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↑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689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R="30480" algn="ctr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+ASC(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预算占30-50%)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399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  <a:tc>
                  <a:txBody>
                    <a:bodyPr/>
                    <a:lstStyle/>
                    <a:p>
                      <a:pPr marL="185420" marR="30480" indent="-14922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Cell</a:t>
                      </a:r>
                      <a:r>
                        <a:rPr sz="1200" spc="-4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1:</a:t>
                      </a:r>
                      <a:r>
                        <a:rPr sz="1200" spc="-4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1.5倍的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预 算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1200" b="1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spc="-5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↑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+ASC）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399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  <a:tc>
                  <a:txBody>
                    <a:bodyPr/>
                    <a:lstStyle/>
                    <a:p>
                      <a:pPr marL="173990" marR="14605" indent="-15303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Cell</a:t>
                      </a:r>
                      <a:r>
                        <a:rPr sz="1200" spc="-4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1:</a:t>
                      </a:r>
                      <a:r>
                        <a:rPr sz="1200" spc="-4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1.5倍的</a:t>
                      </a:r>
                      <a:r>
                        <a:rPr sz="1200" spc="-1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预 算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(BAU+</a:t>
                      </a:r>
                      <a:r>
                        <a:rPr sz="1200" b="1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ASC</a:t>
                      </a:r>
                      <a:r>
                        <a:rPr sz="1200" spc="-5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↑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399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测试周期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2-4周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200" b="1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Conversion</a:t>
                      </a:r>
                      <a:r>
                        <a:rPr sz="1200" b="1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Lift</a:t>
                      </a:r>
                      <a:r>
                        <a:rPr sz="1200" b="1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preferred.</a:t>
                      </a:r>
                      <a:r>
                        <a:rPr sz="1200" spc="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If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not,</a:t>
                      </a:r>
                      <a:r>
                        <a:rPr sz="1200" spc="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A/B 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test.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393064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优化目标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转化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393064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定位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668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每个测试组相同（国家定位定位相同，均不限制兴趣定位）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668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393064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素材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(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建议每个广告系列至少10个创意)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393064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版位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668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每个测试组相同(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建议使用自动版位)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668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39243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00" b="1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竞</a:t>
                      </a: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价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</a:t>
                      </a:r>
                      <a:r>
                        <a:rPr sz="1200" spc="-5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sz="1200" spc="-4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使用常规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竞价模式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481329">
                <a:tc>
                  <a:txBody>
                    <a:bodyPr/>
                    <a:lstStyle/>
                    <a:p>
                      <a:pPr marL="57150" marR="225425">
                        <a:lnSpc>
                          <a:spcPts val="1900"/>
                        </a:lnSpc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统计 </a:t>
                      </a:r>
                      <a:r>
                        <a:rPr sz="1200" spc="5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时间窗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</a:t>
                      </a:r>
                      <a:r>
                        <a:rPr sz="1200" spc="-2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sz="1200" spc="-2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使用常规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统计时间窗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Attribution</a:t>
                      </a:r>
                      <a:r>
                        <a:rPr sz="1200" spc="-1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Window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859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</a:tbl>
          </a:graphicData>
        </a:graphic>
      </p:graphicFrame>
      <p:sp>
        <p:nvSpPr>
          <p:cNvPr id="25" name="object 16"/>
          <p:cNvSpPr txBox="1"/>
          <p:nvPr/>
        </p:nvSpPr>
        <p:spPr>
          <a:xfrm>
            <a:off x="647701" y="6192146"/>
            <a:ext cx="10345420" cy="404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2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*</a:t>
            </a:r>
            <a:r>
              <a:rPr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建议优先考虑符合以下情况的广告主：</a:t>
            </a:r>
            <a:r>
              <a:rPr sz="12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1-之前已经证明了ASC价值的广告主，后续希望证明ASC的扩容能力能够战胜B</a:t>
            </a:r>
            <a:r>
              <a:rPr sz="1200" spc="-2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</a:t>
            </a:r>
            <a:r>
              <a:rPr sz="12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U</a:t>
            </a:r>
            <a:r>
              <a:rPr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的广告主；2-ASC的预算份额在  30-50%之间，并避免</a:t>
            </a:r>
            <a:r>
              <a:rPr sz="12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ASC广告中使用现有客户预算上限。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</a:fld>
            <a:endParaRPr lang="zh-CN" dirty="0"/>
          </a:p>
        </p:txBody>
      </p:sp>
      <p:sp>
        <p:nvSpPr>
          <p:cNvPr id="6" name="object 2"/>
          <p:cNvSpPr txBox="1"/>
          <p:nvPr/>
        </p:nvSpPr>
        <p:spPr>
          <a:xfrm>
            <a:off x="70367" y="120103"/>
            <a:ext cx="10953115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defPPr>
              <a:defRPr lang="zh-CN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3200" kern="1200" cap="all" baseline="0">
                <a:solidFill>
                  <a:schemeClr val="tx1"/>
                </a:solidFill>
                <a:latin typeface="+mj-cs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400" b="1" dirty="0">
                <a:solidFill>
                  <a:srgbClr val="000000"/>
                </a:solidFill>
              </a:rPr>
              <a:t>策略</a:t>
            </a:r>
            <a:r>
              <a:rPr lang="en-US" altLang="zh-CN" sz="1400" b="1" spc="-5" dirty="0">
                <a:solidFill>
                  <a:srgbClr val="000000"/>
                </a:solidFill>
              </a:rPr>
              <a:t>3</a:t>
            </a:r>
            <a:r>
              <a:rPr lang="zh-CN" altLang="en-US" sz="1400" b="1" spc="-5" dirty="0">
                <a:solidFill>
                  <a:srgbClr val="000000"/>
                </a:solidFill>
              </a:rPr>
              <a:t>：</a:t>
            </a:r>
            <a:r>
              <a:rPr lang="zh-CN" altLang="en-US" sz="1400" b="1" dirty="0">
                <a:solidFill>
                  <a:srgbClr val="000000"/>
                </a:solidFill>
              </a:rPr>
              <a:t>素</a:t>
            </a:r>
            <a:r>
              <a:rPr lang="zh-CN" altLang="en-US" sz="1400" b="1" spc="-5" dirty="0">
                <a:solidFill>
                  <a:srgbClr val="000000"/>
                </a:solidFill>
              </a:rPr>
              <a:t>材</a:t>
            </a:r>
            <a:r>
              <a:rPr lang="zh-CN" altLang="en-US" sz="1400" b="1" spc="20" dirty="0">
                <a:solidFill>
                  <a:srgbClr val="000000"/>
                </a:solidFill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400" b="1" spc="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r>
              <a:rPr lang="en-US" sz="1400" b="1" spc="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Multiple</a:t>
            </a:r>
            <a:r>
              <a:rPr lang="en-US" sz="1400" b="1" spc="1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similar</a:t>
            </a:r>
            <a:r>
              <a:rPr lang="en-US" sz="1400" b="1" spc="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 b="1" spc="-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creative</a:t>
            </a:r>
            <a:r>
              <a:rPr lang="en-US" sz="1400" b="1" spc="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format</a:t>
            </a:r>
            <a:r>
              <a:rPr lang="en-US" sz="1400" b="1" spc="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vs.</a:t>
            </a:r>
            <a:r>
              <a:rPr lang="en-US" sz="1400" b="1" spc="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A+SC</a:t>
            </a:r>
            <a:r>
              <a:rPr lang="en-US" sz="1400" b="1" spc="1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Multiple</a:t>
            </a:r>
            <a:r>
              <a:rPr lang="en-US" sz="1400" b="1" spc="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 b="1" spc="-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different</a:t>
            </a:r>
            <a:r>
              <a:rPr lang="en-US" sz="1400" b="1" spc="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 b="1" spc="-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creative</a:t>
            </a:r>
            <a:r>
              <a:rPr lang="en-US" sz="1400" b="1" spc="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format</a:t>
            </a:r>
            <a:endParaRPr lang="en-US" sz="1400" b="1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466126"/>
            <a:ext cx="82950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297815" algn="l"/>
                <a:tab pos="298450" algn="l"/>
              </a:tabLst>
            </a:pPr>
            <a:r>
              <a:rPr sz="14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研究课题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：ASC广告中投放多种广告素材格式比在一个ASC广告中仅使用一种广告素材格式效果更好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0" y="706155"/>
            <a:ext cx="5482590" cy="7791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380"/>
              </a:spcBef>
              <a:buFont typeface="Wingdings" panose="05000000000000000000"/>
              <a:buChar char=""/>
              <a:tabLst>
                <a:tab pos="297815" algn="l"/>
                <a:tab pos="298450" algn="l"/>
              </a:tabLst>
            </a:pPr>
            <a:r>
              <a:rPr sz="14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广告系列</a:t>
            </a:r>
            <a:r>
              <a:rPr sz="1400" b="1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组</a:t>
            </a:r>
            <a:r>
              <a:rPr sz="1400" b="1" spc="-6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：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755650" lvl="1" indent="-285750">
              <a:lnSpc>
                <a:spcPct val="100000"/>
              </a:lnSpc>
              <a:spcBef>
                <a:spcPts val="280"/>
              </a:spcBef>
              <a:buFont typeface="Wingdings" panose="05000000000000000000"/>
              <a:buChar char=""/>
              <a:tabLst>
                <a:tab pos="755015" algn="l"/>
                <a:tab pos="755650" algn="l"/>
              </a:tabLst>
            </a:pP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400" spc="-2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</a:t>
            </a:r>
            <a:r>
              <a:rPr sz="1400" spc="-2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400" spc="-2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r>
              <a:rPr sz="1400" spc="-2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中投放单一一种创意格式（图片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Font typeface="Wingdings" panose="05000000000000000000"/>
              <a:buChar char=""/>
              <a:tabLst>
                <a:tab pos="755015" algn="l"/>
                <a:tab pos="755650" algn="l"/>
              </a:tabLst>
            </a:pP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400" spc="-2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B</a:t>
            </a:r>
            <a:r>
              <a:rPr sz="1400" spc="-2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400" spc="-2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r>
              <a:rPr sz="1400" spc="-2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中投放多种不同的创意格式（图片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+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视频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264144" y="1598118"/>
            <a:ext cx="2788920" cy="481965"/>
          </a:xfrm>
          <a:prstGeom prst="rect">
            <a:avLst/>
          </a:prstGeom>
          <a:solidFill>
            <a:srgbClr val="6B7887"/>
          </a:solidFill>
        </p:spPr>
        <p:txBody>
          <a:bodyPr vert="horz" wrap="square" lIns="0" tIns="139065" rIns="0" bIns="0" rtlCol="0">
            <a:spAutoFit/>
          </a:bodyPr>
          <a:lstStyle/>
          <a:p>
            <a:pPr marL="860425">
              <a:lnSpc>
                <a:spcPct val="100000"/>
              </a:lnSpc>
              <a:spcBef>
                <a:spcPts val="1095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控制组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G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oup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8"/>
          <p:cNvSpPr txBox="1"/>
          <p:nvPr/>
        </p:nvSpPr>
        <p:spPr>
          <a:xfrm>
            <a:off x="3094330" y="1598117"/>
            <a:ext cx="2788920" cy="481965"/>
          </a:xfrm>
          <a:prstGeom prst="rect">
            <a:avLst/>
          </a:prstGeom>
          <a:solidFill>
            <a:srgbClr val="6B7887"/>
          </a:solidFill>
        </p:spPr>
        <p:txBody>
          <a:bodyPr vert="horz" wrap="square" lIns="0" tIns="139065" rIns="0" bIns="0" rtlCol="0">
            <a:spAutoFit/>
          </a:bodyPr>
          <a:lstStyle/>
          <a:p>
            <a:pPr marL="866140">
              <a:lnSpc>
                <a:spcPct val="100000"/>
              </a:lnSpc>
              <a:spcBef>
                <a:spcPts val="1095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测试组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G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oup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B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7"/>
          <p:cNvSpPr txBox="1"/>
          <p:nvPr/>
        </p:nvSpPr>
        <p:spPr>
          <a:xfrm>
            <a:off x="264144" y="2086665"/>
            <a:ext cx="2788920" cy="2496820"/>
          </a:xfrm>
          <a:prstGeom prst="rect">
            <a:avLst/>
          </a:prstGeom>
          <a:solidFill>
            <a:srgbClr val="006CF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1355"/>
              </a:spcBef>
            </a:pPr>
            <a:r>
              <a:rPr sz="12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单一一种创意格式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（例如：图片）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12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AS</a:t>
            </a:r>
            <a:r>
              <a:rPr sz="12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C广告系列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3094330" y="2093247"/>
            <a:ext cx="2788920" cy="2496820"/>
          </a:xfrm>
          <a:prstGeom prst="rect">
            <a:avLst/>
          </a:prstGeom>
          <a:solidFill>
            <a:srgbClr val="006CF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1355"/>
              </a:spcBef>
            </a:pPr>
            <a:r>
              <a:rPr sz="12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多种不同的创意格式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（例如：图片+视频）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12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r>
              <a:rPr sz="12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广告系列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2"/>
          <p:cNvSpPr txBox="1"/>
          <p:nvPr/>
        </p:nvSpPr>
        <p:spPr>
          <a:xfrm>
            <a:off x="264144" y="4665817"/>
            <a:ext cx="5835015" cy="8636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*Note:</a:t>
            </a:r>
            <a:endParaRPr sz="10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41300" marR="140970" indent="-228600">
              <a:lnSpc>
                <a:spcPct val="110000"/>
              </a:lnSpc>
              <a:buAutoNum type="arabicPeriod"/>
              <a:tabLst>
                <a:tab pos="241300" algn="l"/>
              </a:tabLst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000" spc="-1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B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中应包含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000" spc="-1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A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中投放的所有图片，并包含不同的格式。另外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，Group</a:t>
            </a:r>
            <a:r>
              <a:rPr sz="1000" spc="-1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B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中的创意数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量 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最多应比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Group A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的多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10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个创意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;</a:t>
            </a:r>
            <a:endParaRPr sz="10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41300" marR="5080" indent="-228600">
              <a:lnSpc>
                <a:spcPct val="110000"/>
              </a:lnSpc>
              <a:buAutoNum type="arabicPeriod"/>
              <a:tabLst>
                <a:tab pos="241300" algn="l"/>
              </a:tabLst>
            </a:pP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为减小竞价偏差问题，建议制作与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000" spc="-3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A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类似的图片素材作为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000" spc="-3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B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中视频素材的缩略图投放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， </a:t>
            </a:r>
            <a:r>
              <a:rPr sz="1000" spc="-28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或在所有账户中暂停投放与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Group A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中的相同素材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7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天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10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5"/>
          <p:cNvSpPr txBox="1"/>
          <p:nvPr/>
        </p:nvSpPr>
        <p:spPr>
          <a:xfrm>
            <a:off x="6096000" y="1279686"/>
            <a:ext cx="13785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297815" algn="l"/>
                <a:tab pos="298450" algn="l"/>
              </a:tabLst>
            </a:pPr>
            <a:r>
              <a:rPr sz="14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设置注意事</a:t>
            </a:r>
            <a:r>
              <a:rPr sz="1400" b="1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项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object 10"/>
          <p:cNvGraphicFramePr>
            <a:graphicFrameLocks noGrp="1"/>
          </p:cNvGraphicFramePr>
          <p:nvPr/>
        </p:nvGraphicFramePr>
        <p:xfrm>
          <a:off x="6140425" y="1617105"/>
          <a:ext cx="5469254" cy="46291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7430"/>
                <a:gridCol w="1878330"/>
                <a:gridCol w="2563494"/>
              </a:tblGrid>
              <a:tr h="1035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A/B</a:t>
                      </a:r>
                      <a:r>
                        <a:rPr sz="1200" spc="-5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测试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 marR="57150" indent="-1270" algn="ctr">
                        <a:lnSpc>
                          <a:spcPct val="123000"/>
                        </a:lnSpc>
                        <a:spcBef>
                          <a:spcPts val="141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广告系列组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Group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 : </a:t>
                      </a:r>
                      <a:r>
                        <a:rPr sz="1200" spc="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ASC投放单一一种创意格 式（图片）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7907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6870" marR="225425" indent="243840">
                        <a:lnSpc>
                          <a:spcPct val="132000"/>
                        </a:lnSpc>
                        <a:spcBef>
                          <a:spcPts val="117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广告系列组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Group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 : </a:t>
                      </a:r>
                      <a:r>
                        <a:rPr sz="1200" spc="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ASC投放多种不同的创意格式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82994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（图片+视频）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859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</a:tr>
              <a:tr h="5695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仅图片素材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（建议至少10个）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1366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图片+视频素材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（包含</a:t>
                      </a:r>
                      <a:r>
                        <a:rPr sz="12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Group</a:t>
                      </a:r>
                      <a:r>
                        <a:rPr sz="1200" spc="-5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A中的所有图片）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1366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预算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986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每个测试组相同预算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986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3180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测试周期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986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2-4周，A/B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test</a:t>
                      </a:r>
                      <a:r>
                        <a:rPr sz="1200" spc="-1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or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Conversion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Lift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986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3243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优化目标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转化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3180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定位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每个测试组相同（国家定位定位相同，均不限制兴趣定位）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3180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版位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每个测试组相同(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建议使用自动版位)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3243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200" b="1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竞</a:t>
                      </a: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价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637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</a:t>
                      </a:r>
                      <a:r>
                        <a:rPr sz="1200" spc="-5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sz="1200" spc="-4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使用常规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竞价模式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637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3180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统计时间窗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</a:t>
                      </a:r>
                      <a:r>
                        <a:rPr sz="1200" spc="-2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sz="1200" spc="-2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使用常规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统计时间窗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Attribution</a:t>
                      </a:r>
                      <a:r>
                        <a:rPr sz="1200" spc="-1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Window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</a:fld>
            <a:endParaRPr lang="zh-CN" dirty="0"/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0" y="125750"/>
            <a:ext cx="938593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0000"/>
                </a:solidFill>
              </a:rPr>
              <a:t>策略</a:t>
            </a:r>
            <a:r>
              <a:rPr sz="1600" b="1" spc="-5" dirty="0">
                <a:solidFill>
                  <a:srgbClr val="000000"/>
                </a:solidFill>
              </a:rPr>
              <a:t>4：</a:t>
            </a:r>
            <a:r>
              <a:rPr sz="1600" b="1" dirty="0">
                <a:solidFill>
                  <a:srgbClr val="000000"/>
                </a:solidFill>
              </a:rPr>
              <a:t>素</a:t>
            </a:r>
            <a:r>
              <a:rPr sz="1600" b="1" spc="-5" dirty="0">
                <a:solidFill>
                  <a:srgbClr val="000000"/>
                </a:solidFill>
              </a:rPr>
              <a:t>材</a:t>
            </a:r>
            <a:r>
              <a:rPr sz="1600" b="1" spc="20" dirty="0">
                <a:solidFill>
                  <a:srgbClr val="000000"/>
                </a:solidFill>
              </a:rPr>
              <a:t> </a:t>
            </a:r>
            <a:r>
              <a:rPr sz="16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-</a:t>
            </a:r>
            <a:r>
              <a:rPr sz="1600" b="1" spc="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r>
              <a:rPr sz="1600" b="1" spc="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Multiple</a:t>
            </a:r>
            <a:r>
              <a:rPr sz="1600" b="1" spc="1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similar</a:t>
            </a:r>
            <a:r>
              <a:rPr sz="1600" b="1" spc="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spc="-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creatives</a:t>
            </a:r>
            <a:r>
              <a:rPr sz="1600" b="1" spc="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vs.</a:t>
            </a:r>
            <a:r>
              <a:rPr sz="1600" b="1" spc="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r>
              <a:rPr sz="1600" b="1" spc="1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Multiple</a:t>
            </a:r>
            <a:r>
              <a:rPr sz="1600" b="1" spc="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spc="-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different</a:t>
            </a:r>
            <a:r>
              <a:rPr sz="1600" b="1" spc="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spc="-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creatives</a:t>
            </a:r>
            <a:endParaRPr sz="1600" b="1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486505"/>
            <a:ext cx="89141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297815" algn="l"/>
                <a:tab pos="298450" algn="l"/>
              </a:tabLst>
            </a:pPr>
            <a:r>
              <a:rPr sz="14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研究课题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：ASC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广告中使用多个在视觉上彼此不同的广告素材比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广告中使用多个相似的广告素材效果更好?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0" y="828885"/>
            <a:ext cx="3533140" cy="772006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380"/>
              </a:spcBef>
              <a:buFont typeface="Wingdings" panose="05000000000000000000"/>
              <a:buChar char=""/>
              <a:tabLst>
                <a:tab pos="297815" algn="l"/>
                <a:tab pos="298450" algn="l"/>
              </a:tabLst>
            </a:pPr>
            <a:r>
              <a:rPr sz="14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广告系列</a:t>
            </a:r>
            <a:r>
              <a:rPr sz="1400" b="1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组</a:t>
            </a:r>
            <a:r>
              <a:rPr sz="1400" b="1" spc="-6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：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755650" lvl="1" indent="-285750">
              <a:lnSpc>
                <a:spcPct val="100000"/>
              </a:lnSpc>
              <a:spcBef>
                <a:spcPts val="280"/>
              </a:spcBef>
              <a:buFont typeface="Wingdings" panose="05000000000000000000"/>
              <a:buChar char=""/>
              <a:tabLst>
                <a:tab pos="755015" algn="l"/>
                <a:tab pos="755650" algn="l"/>
                <a:tab pos="3163570" algn="l"/>
              </a:tabLst>
            </a:pP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G</a:t>
            </a:r>
            <a:r>
              <a:rPr sz="1400" spc="-2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ou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p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ASC投放多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1400" b="1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类似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	创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意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Font typeface="Wingdings" panose="05000000000000000000"/>
              <a:buChar char=""/>
              <a:tabLst>
                <a:tab pos="755015" algn="l"/>
                <a:tab pos="755650" algn="l"/>
                <a:tab pos="3150235" algn="l"/>
              </a:tabLst>
            </a:pP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G</a:t>
            </a:r>
            <a:r>
              <a:rPr sz="1400" spc="-2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ou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p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B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ASC投放多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1400" b="1" spc="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不同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	创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意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14"/>
          <p:cNvSpPr txBox="1"/>
          <p:nvPr/>
        </p:nvSpPr>
        <p:spPr>
          <a:xfrm>
            <a:off x="83391" y="1703241"/>
            <a:ext cx="2788920" cy="512445"/>
          </a:xfrm>
          <a:prstGeom prst="rect">
            <a:avLst/>
          </a:prstGeom>
          <a:solidFill>
            <a:srgbClr val="6B7887"/>
          </a:solidFill>
        </p:spPr>
        <p:txBody>
          <a:bodyPr vert="horz" wrap="square" lIns="0" tIns="154305" rIns="0" bIns="0" rtlCol="0">
            <a:spAutoFit/>
          </a:bodyPr>
          <a:lstStyle/>
          <a:p>
            <a:pPr marL="860425">
              <a:lnSpc>
                <a:spcPct val="100000"/>
              </a:lnSpc>
              <a:spcBef>
                <a:spcPts val="1215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控制组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G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oup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8"/>
          <p:cNvSpPr txBox="1"/>
          <p:nvPr/>
        </p:nvSpPr>
        <p:spPr>
          <a:xfrm>
            <a:off x="2955701" y="1703241"/>
            <a:ext cx="2788920" cy="512445"/>
          </a:xfrm>
          <a:prstGeom prst="rect">
            <a:avLst/>
          </a:prstGeom>
          <a:solidFill>
            <a:srgbClr val="6B7887"/>
          </a:solidFill>
        </p:spPr>
        <p:txBody>
          <a:bodyPr vert="horz" wrap="square" lIns="0" tIns="154305" rIns="0" bIns="0" rtlCol="0">
            <a:spAutoFit/>
          </a:bodyPr>
          <a:lstStyle/>
          <a:p>
            <a:pPr marL="866140">
              <a:lnSpc>
                <a:spcPct val="100000"/>
              </a:lnSpc>
              <a:spcBef>
                <a:spcPts val="1215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测试组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G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oup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B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5"/>
          <p:cNvSpPr/>
          <p:nvPr/>
        </p:nvSpPr>
        <p:spPr>
          <a:xfrm>
            <a:off x="83391" y="2215686"/>
            <a:ext cx="2788920" cy="2654935"/>
          </a:xfrm>
          <a:custGeom>
            <a:avLst/>
            <a:gdLst/>
            <a:ahLst/>
            <a:cxnLst/>
            <a:rect l="l" t="t" r="r" b="b"/>
            <a:pathLst>
              <a:path w="2788920" h="2654935">
                <a:moveTo>
                  <a:pt x="2788920" y="2654807"/>
                </a:moveTo>
                <a:lnTo>
                  <a:pt x="0" y="2654807"/>
                </a:lnTo>
                <a:lnTo>
                  <a:pt x="0" y="0"/>
                </a:lnTo>
                <a:lnTo>
                  <a:pt x="2788920" y="0"/>
                </a:lnTo>
                <a:lnTo>
                  <a:pt x="2788920" y="2654807"/>
                </a:lnTo>
                <a:close/>
              </a:path>
            </a:pathLst>
          </a:custGeom>
          <a:solidFill>
            <a:srgbClr val="006CF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ASC</a:t>
            </a:r>
            <a:r>
              <a:rPr lang="zh-CN" altLang="en-US" sz="1400" dirty="0">
                <a:solidFill>
                  <a:schemeClr val="bg1"/>
                </a:solidFill>
              </a:rPr>
              <a:t>广告系列下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投放多个</a:t>
            </a:r>
            <a:r>
              <a:rPr lang="zh-CN" altLang="en-US" sz="1400" dirty="0">
                <a:solidFill>
                  <a:srgbClr val="FF0000"/>
                </a:solidFill>
              </a:rPr>
              <a:t>类似</a:t>
            </a:r>
            <a:r>
              <a:rPr lang="zh-CN" altLang="en-US" sz="1400" dirty="0">
                <a:solidFill>
                  <a:schemeClr val="bg1"/>
                </a:solidFill>
              </a:rPr>
              <a:t>的创意</a:t>
            </a: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13" name="object 19"/>
          <p:cNvSpPr/>
          <p:nvPr/>
        </p:nvSpPr>
        <p:spPr>
          <a:xfrm>
            <a:off x="2955701" y="2215685"/>
            <a:ext cx="2788920" cy="2654935"/>
          </a:xfrm>
          <a:custGeom>
            <a:avLst/>
            <a:gdLst/>
            <a:ahLst/>
            <a:cxnLst/>
            <a:rect l="l" t="t" r="r" b="b"/>
            <a:pathLst>
              <a:path w="2788920" h="2654935">
                <a:moveTo>
                  <a:pt x="2788920" y="2654807"/>
                </a:moveTo>
                <a:lnTo>
                  <a:pt x="0" y="2654807"/>
                </a:lnTo>
                <a:lnTo>
                  <a:pt x="0" y="0"/>
                </a:lnTo>
                <a:lnTo>
                  <a:pt x="2788920" y="0"/>
                </a:lnTo>
                <a:lnTo>
                  <a:pt x="2788920" y="2654807"/>
                </a:lnTo>
                <a:close/>
              </a:path>
            </a:pathLst>
          </a:custGeom>
          <a:solidFill>
            <a:srgbClr val="006CF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ASC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广告系列下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投放多个</a:t>
            </a:r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不同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的创意</a:t>
            </a:r>
            <a:br>
              <a:rPr lang="en-US" altLang="zh-CN" sz="1400" dirty="0">
                <a:solidFill>
                  <a:srgbClr val="FF0000"/>
                </a:solidFill>
                <a:latin typeface="+mn-ea"/>
              </a:rPr>
            </a:br>
            <a:br>
              <a:rPr lang="en-US" altLang="zh-CN" sz="1400" dirty="0">
                <a:solidFill>
                  <a:srgbClr val="FF0000"/>
                </a:solidFill>
                <a:latin typeface="+mn-ea"/>
              </a:rPr>
            </a:b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（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具有多元化信息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概念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视觉</a:t>
            </a:r>
            <a:br>
              <a:rPr lang="en-US" altLang="zh-CN" sz="1200" dirty="0">
                <a:solidFill>
                  <a:schemeClr val="bg1"/>
                </a:solidFill>
                <a:latin typeface="+mn-ea"/>
              </a:rPr>
            </a:b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效果的创意）</a:t>
            </a:r>
            <a:endParaRPr lang="zh-CN" altLang="en-US" sz="1200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4" name="object 10"/>
          <p:cNvGraphicFramePr>
            <a:graphicFrameLocks noGrp="1"/>
          </p:cNvGraphicFramePr>
          <p:nvPr/>
        </p:nvGraphicFramePr>
        <p:xfrm>
          <a:off x="6012641" y="1690279"/>
          <a:ext cx="5471795" cy="46812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7430"/>
                <a:gridCol w="1879600"/>
                <a:gridCol w="2564765"/>
              </a:tblGrid>
              <a:tr h="1047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A/B</a:t>
                      </a:r>
                      <a:r>
                        <a:rPr sz="1200" spc="-5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测试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6215" marR="108585" indent="34290">
                        <a:lnSpc>
                          <a:spcPct val="133000"/>
                        </a:lnSpc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广告系列组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Group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 : </a:t>
                      </a:r>
                      <a:r>
                        <a:rPr sz="1200" spc="-34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ASC投放多个</a:t>
                      </a:r>
                      <a:r>
                        <a:rPr sz="1400" b="1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类似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创意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37845" marR="451485" indent="62865">
                        <a:lnSpc>
                          <a:spcPct val="133000"/>
                        </a:lnSpc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广告系列组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Group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 : </a:t>
                      </a:r>
                      <a:r>
                        <a:rPr sz="1200" spc="-34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ASC投放多个</a:t>
                      </a:r>
                      <a:r>
                        <a:rPr sz="1400" b="1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不同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创意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</a:tr>
              <a:tr h="575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5"/>
                        </a:spcBef>
                        <a:tabLst>
                          <a:tab pos="659765" algn="l"/>
                        </a:tabLst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多个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类似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创意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（建议至少10个）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2636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5"/>
                        </a:spcBef>
                        <a:tabLst>
                          <a:tab pos="659765" algn="l"/>
                        </a:tabLst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多个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不同</a:t>
                      </a: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创意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（建议至少10个）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2636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</a:tr>
              <a:tr h="436879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预算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每个测试组相同预算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3688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测试周期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2-4周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200" b="1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Conversion</a:t>
                      </a:r>
                      <a:r>
                        <a:rPr sz="1200" b="1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Lift</a:t>
                      </a:r>
                      <a:r>
                        <a:rPr sz="1200" b="1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preferred.</a:t>
                      </a:r>
                      <a:r>
                        <a:rPr sz="1200" spc="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If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not,</a:t>
                      </a:r>
                      <a:r>
                        <a:rPr sz="1200" spc="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A/B 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test.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36879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优化目标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转化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36879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定位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每个测试组相同（国家定位定位相同，均不限制兴趣定位）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3688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版位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每个测试组相同(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建议使用自动版位)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36879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200" b="1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竞</a:t>
                      </a: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价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</a:t>
                      </a:r>
                      <a:r>
                        <a:rPr sz="1200" spc="-5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sz="1200" spc="-4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使用常规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竞价模式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3688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统计时间窗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</a:t>
                      </a:r>
                      <a:r>
                        <a:rPr sz="1200" spc="-2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sz="1200" spc="-2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使用常规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统计时间窗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Attribution</a:t>
                      </a:r>
                      <a:r>
                        <a:rPr sz="1200" spc="-1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Window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2636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</a:tbl>
          </a:graphicData>
        </a:graphic>
      </p:graphicFrame>
      <p:sp>
        <p:nvSpPr>
          <p:cNvPr id="15" name="object 8"/>
          <p:cNvSpPr txBox="1"/>
          <p:nvPr/>
        </p:nvSpPr>
        <p:spPr>
          <a:xfrm>
            <a:off x="5938611" y="1107870"/>
            <a:ext cx="13785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297815" algn="l"/>
                <a:tab pos="298450" algn="l"/>
              </a:tabLst>
            </a:pPr>
            <a:r>
              <a:rPr sz="14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设置注意事</a:t>
            </a:r>
            <a:r>
              <a:rPr sz="1400" b="1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项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9"/>
          <p:cNvSpPr txBox="1"/>
          <p:nvPr/>
        </p:nvSpPr>
        <p:spPr>
          <a:xfrm>
            <a:off x="163606" y="5020599"/>
            <a:ext cx="5581015" cy="8636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*Note：</a:t>
            </a:r>
            <a:endParaRPr sz="10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41300" marR="5080" indent="-228600">
              <a:lnSpc>
                <a:spcPct val="110000"/>
              </a:lnSpc>
              <a:buAutoNum type="arabicPeriod"/>
              <a:tabLst>
                <a:tab pos="241300" algn="l"/>
              </a:tabLst>
            </a:pP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为了减少竞价偏差问题。建议制作与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000" spc="-3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A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类似的图片素材作为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000" spc="-3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B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中视频素材的缩略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图 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投放，或在所有账户中暂停投放与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Group A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中的相同素材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7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天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10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41300" marR="212090" indent="-228600">
              <a:lnSpc>
                <a:spcPct val="110000"/>
              </a:lnSpc>
              <a:buAutoNum type="arabicPeriod"/>
              <a:tabLst>
                <a:tab pos="241300" algn="l"/>
              </a:tabLst>
            </a:pPr>
            <a:r>
              <a:rPr sz="1000" b="1" dirty="0">
                <a:latin typeface="微软雅黑" panose="020B0503020204020204" charset="-122"/>
                <a:cs typeface="微软雅黑" panose="020B0503020204020204" charset="-122"/>
              </a:rPr>
              <a:t>请</a:t>
            </a:r>
            <a:r>
              <a:rPr sz="1000" b="1" spc="-5" dirty="0">
                <a:latin typeface="微软雅黑" panose="020B0503020204020204" charset="-122"/>
                <a:cs typeface="微软雅黑" panose="020B0503020204020204" charset="-122"/>
              </a:rPr>
              <a:t>与 Creative Shop </a:t>
            </a:r>
            <a:r>
              <a:rPr sz="1000" b="1" dirty="0">
                <a:latin typeface="微软雅黑" panose="020B0503020204020204" charset="-122"/>
                <a:cs typeface="微软雅黑" panose="020B0503020204020204" charset="-122"/>
              </a:rPr>
              <a:t>合作定义相似与不同的创意，并利用创意多样性工具</a:t>
            </a:r>
            <a:r>
              <a:rPr sz="1000" b="1" spc="-5" dirty="0">
                <a:latin typeface="微软雅黑" panose="020B0503020204020204" charset="-122"/>
                <a:cs typeface="微软雅黑" panose="020B0503020204020204" charset="-122"/>
              </a:rPr>
              <a:t>。 </a:t>
            </a:r>
            <a:r>
              <a:rPr sz="1000" b="1" dirty="0">
                <a:latin typeface="微软雅黑" panose="020B0503020204020204" charset="-122"/>
                <a:cs typeface="微软雅黑" panose="020B0503020204020204" charset="-122"/>
              </a:rPr>
              <a:t>需</a:t>
            </a:r>
            <a:r>
              <a:rPr sz="1000" b="1" spc="-5" dirty="0">
                <a:latin typeface="微软雅黑" panose="020B0503020204020204" charset="-122"/>
                <a:cs typeface="微软雅黑" panose="020B0503020204020204" charset="-122"/>
              </a:rPr>
              <a:t>要</a:t>
            </a:r>
            <a:r>
              <a:rPr sz="1000" b="1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b="1" spc="-5" dirty="0">
                <a:latin typeface="微软雅黑" panose="020B0503020204020204" charset="-122"/>
                <a:cs typeface="微软雅黑" panose="020B0503020204020204" charset="-122"/>
              </a:rPr>
              <a:t>Creative </a:t>
            </a:r>
            <a:r>
              <a:rPr sz="1000" b="1" spc="-28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b="1" spc="-5" dirty="0">
                <a:latin typeface="微软雅黑" panose="020B0503020204020204" charset="-122"/>
                <a:cs typeface="微软雅黑" panose="020B0503020204020204" charset="-122"/>
              </a:rPr>
              <a:t>Shop </a:t>
            </a:r>
            <a:r>
              <a:rPr sz="1000" b="1" dirty="0">
                <a:latin typeface="微软雅黑" panose="020B0503020204020204" charset="-122"/>
                <a:cs typeface="微软雅黑" panose="020B0503020204020204" charset="-122"/>
              </a:rPr>
              <a:t>签</a:t>
            </a:r>
            <a:r>
              <a:rPr sz="1000" b="1" spc="-5" dirty="0">
                <a:latin typeface="微软雅黑" panose="020B0503020204020204" charset="-122"/>
                <a:cs typeface="微软雅黑" panose="020B0503020204020204" charset="-122"/>
              </a:rPr>
              <a:t>署</a:t>
            </a:r>
            <a:r>
              <a:rPr sz="1000" b="1" spc="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b="1" spc="-5" dirty="0">
                <a:latin typeface="微软雅黑" panose="020B0503020204020204" charset="-122"/>
                <a:cs typeface="微软雅黑" panose="020B0503020204020204" charset="-122"/>
              </a:rPr>
              <a:t>2</a:t>
            </a:r>
            <a:r>
              <a:rPr sz="1000" b="1" dirty="0">
                <a:latin typeface="微软雅黑" panose="020B0503020204020204" charset="-122"/>
                <a:cs typeface="微软雅黑" panose="020B0503020204020204" charset="-122"/>
              </a:rPr>
              <a:t> 个</a:t>
            </a:r>
            <a:r>
              <a:rPr sz="1000" b="1" spc="-5" dirty="0">
                <a:latin typeface="微软雅黑" panose="020B0503020204020204" charset="-122"/>
                <a:cs typeface="微软雅黑" panose="020B0503020204020204" charset="-122"/>
              </a:rPr>
              <a:t>Cell</a:t>
            </a:r>
            <a:r>
              <a:rPr sz="1000" b="1" dirty="0">
                <a:latin typeface="微软雅黑" panose="020B0503020204020204" charset="-122"/>
                <a:cs typeface="微软雅黑" panose="020B0503020204020204" charset="-122"/>
              </a:rPr>
              <a:t>中的创意差异化程度</a:t>
            </a:r>
            <a:r>
              <a:rPr sz="1000" b="1" spc="-5" dirty="0"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10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93617" y="170941"/>
            <a:ext cx="8263890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solidFill>
                  <a:srgbClr val="000000"/>
                </a:solidFill>
              </a:rPr>
              <a:t>策略</a:t>
            </a:r>
            <a:r>
              <a:rPr sz="1800" b="1" spc="-5" dirty="0">
                <a:solidFill>
                  <a:srgbClr val="000000"/>
                </a:solidFill>
              </a:rPr>
              <a:t>5：</a:t>
            </a:r>
            <a:r>
              <a:rPr sz="1800" b="1" dirty="0">
                <a:solidFill>
                  <a:srgbClr val="000000"/>
                </a:solidFill>
              </a:rPr>
              <a:t>调整新产品预</a:t>
            </a:r>
            <a:r>
              <a:rPr sz="1800" b="1" spc="-5" dirty="0">
                <a:solidFill>
                  <a:srgbClr val="000000"/>
                </a:solidFill>
              </a:rPr>
              <a:t>算 </a:t>
            </a:r>
            <a:r>
              <a:rPr sz="18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-</a:t>
            </a:r>
            <a:r>
              <a:rPr sz="18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spc="-1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BAU</a:t>
            </a:r>
            <a:r>
              <a:rPr sz="18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+</a:t>
            </a:r>
            <a:r>
              <a:rPr sz="18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ASC (20%) </a:t>
            </a:r>
            <a:r>
              <a:rPr sz="18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vs</a:t>
            </a:r>
            <a:r>
              <a:rPr sz="18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spc="-1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BAU</a:t>
            </a:r>
            <a:r>
              <a:rPr sz="18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+</a:t>
            </a:r>
            <a:r>
              <a:rPr sz="18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ASC (40%)</a:t>
            </a:r>
            <a:endParaRPr sz="1800" b="1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93617" y="620681"/>
            <a:ext cx="637476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297815" algn="l"/>
                <a:tab pos="298450" algn="l"/>
              </a:tabLst>
            </a:pPr>
            <a:r>
              <a:rPr sz="14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研究课题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：ASC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广告预算增加是否可以带来更好的</a:t>
            </a:r>
            <a:r>
              <a:rPr sz="1400" spc="-1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ROAS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表现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/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转化量的提升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25"/>
          <p:cNvSpPr txBox="1"/>
          <p:nvPr/>
        </p:nvSpPr>
        <p:spPr>
          <a:xfrm>
            <a:off x="93617" y="1021268"/>
            <a:ext cx="4003040" cy="7791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375"/>
              </a:spcBef>
              <a:buFont typeface="Wingdings" panose="05000000000000000000"/>
              <a:buChar char=""/>
              <a:tabLst>
                <a:tab pos="297815" algn="l"/>
                <a:tab pos="298450" algn="l"/>
              </a:tabLst>
            </a:pPr>
            <a:r>
              <a:rPr sz="14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广告系列</a:t>
            </a:r>
            <a:r>
              <a:rPr sz="1400" b="1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组</a:t>
            </a:r>
            <a:r>
              <a:rPr sz="1400" b="1" spc="-6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：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755650" lvl="1" indent="-285750">
              <a:lnSpc>
                <a:spcPct val="100000"/>
              </a:lnSpc>
              <a:spcBef>
                <a:spcPts val="280"/>
              </a:spcBef>
              <a:buFont typeface="Wingdings" panose="05000000000000000000"/>
              <a:buChar char=""/>
              <a:tabLst>
                <a:tab pos="755015" algn="l"/>
                <a:tab pos="755650" algn="l"/>
              </a:tabLst>
            </a:pP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400" spc="-1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BAU(&gt;80%)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+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(&lt;20%)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Font typeface="Wingdings" panose="05000000000000000000"/>
              <a:buChar char=""/>
              <a:tabLst>
                <a:tab pos="755015" algn="l"/>
                <a:tab pos="755650" algn="l"/>
              </a:tabLst>
            </a:pP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400" spc="-1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B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BAU(60%)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+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(40%)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8"/>
          <p:cNvSpPr txBox="1"/>
          <p:nvPr/>
        </p:nvSpPr>
        <p:spPr>
          <a:xfrm>
            <a:off x="151005" y="1930010"/>
            <a:ext cx="2788920" cy="605155"/>
          </a:xfrm>
          <a:prstGeom prst="rect">
            <a:avLst/>
          </a:prstGeom>
          <a:solidFill>
            <a:srgbClr val="6B7887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 panose="02020603050405020304"/>
              <a:cs typeface="Times New Roman" panose="02020603050405020304"/>
            </a:endParaRPr>
          </a:p>
          <a:p>
            <a:pPr marL="86042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控制组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G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oup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6"/>
          <p:cNvSpPr txBox="1"/>
          <p:nvPr/>
        </p:nvSpPr>
        <p:spPr>
          <a:xfrm>
            <a:off x="3062835" y="1930009"/>
            <a:ext cx="2788920" cy="605155"/>
          </a:xfrm>
          <a:prstGeom prst="rect">
            <a:avLst/>
          </a:prstGeom>
          <a:solidFill>
            <a:srgbClr val="6B7887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 panose="02020603050405020304"/>
              <a:cs typeface="Times New Roman" panose="02020603050405020304"/>
            </a:endParaRPr>
          </a:p>
          <a:p>
            <a:pPr marL="86614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测试组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G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oup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B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9"/>
          <p:cNvSpPr/>
          <p:nvPr/>
        </p:nvSpPr>
        <p:spPr>
          <a:xfrm>
            <a:off x="151005" y="2535164"/>
            <a:ext cx="2788920" cy="3131820"/>
          </a:xfrm>
          <a:custGeom>
            <a:avLst/>
            <a:gdLst/>
            <a:ahLst/>
            <a:cxnLst/>
            <a:rect l="l" t="t" r="r" b="b"/>
            <a:pathLst>
              <a:path w="2788920" h="3131820">
                <a:moveTo>
                  <a:pt x="2788920" y="3131819"/>
                </a:moveTo>
                <a:lnTo>
                  <a:pt x="0" y="3131819"/>
                </a:lnTo>
                <a:lnTo>
                  <a:pt x="0" y="0"/>
                </a:lnTo>
                <a:lnTo>
                  <a:pt x="2788920" y="0"/>
                </a:lnTo>
                <a:lnTo>
                  <a:pt x="2788920" y="3131819"/>
                </a:lnTo>
                <a:close/>
              </a:path>
            </a:pathLst>
          </a:custGeom>
          <a:solidFill>
            <a:srgbClr val="006CF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</a:rPr>
              <a:t>转化</a:t>
            </a:r>
            <a:r>
              <a:rPr lang="en-US" altLang="zh-CN" sz="1400" b="1" dirty="0">
                <a:solidFill>
                  <a:srgbClr val="FFFF00"/>
                </a:solidFill>
              </a:rPr>
              <a:t>/</a:t>
            </a:r>
            <a:r>
              <a:rPr lang="zh-CN" altLang="en-US" sz="1400" b="1" dirty="0">
                <a:solidFill>
                  <a:srgbClr val="FFFF00"/>
                </a:solidFill>
              </a:rPr>
              <a:t>目录销售 </a:t>
            </a:r>
            <a:r>
              <a:rPr lang="zh-CN" altLang="en-US" sz="1400" dirty="0">
                <a:solidFill>
                  <a:schemeClr val="bg1"/>
                </a:solidFill>
              </a:rPr>
              <a:t>广告系列</a:t>
            </a:r>
            <a:r>
              <a:rPr lang="en-US" altLang="zh-CN" sz="1400" dirty="0">
                <a:solidFill>
                  <a:schemeClr val="bg1"/>
                </a:solidFill>
              </a:rPr>
              <a:t>*</a:t>
            </a: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zh-CN" altLang="en-US" sz="1400" dirty="0">
                <a:solidFill>
                  <a:schemeClr val="bg1"/>
                </a:solidFill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</a:rPr>
              <a:t>BAU:</a:t>
            </a:r>
            <a:r>
              <a:rPr lang="zh-CN" altLang="en-US" sz="1400" dirty="0">
                <a:solidFill>
                  <a:schemeClr val="bg1"/>
                </a:solidFill>
              </a:rPr>
              <a:t>预算占比</a:t>
            </a:r>
            <a:r>
              <a:rPr lang="en-US" altLang="zh-CN" sz="1400" dirty="0">
                <a:solidFill>
                  <a:schemeClr val="bg1"/>
                </a:solidFill>
              </a:rPr>
              <a:t>&gt;80%)</a:t>
            </a: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+</a:t>
            </a: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ASC</a:t>
            </a:r>
            <a:r>
              <a:rPr lang="zh-CN" altLang="en-US" sz="1400" dirty="0">
                <a:solidFill>
                  <a:schemeClr val="bg1"/>
                </a:solidFill>
              </a:rPr>
              <a:t>广告系列</a:t>
            </a: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zh-CN" altLang="en-US" sz="1400" dirty="0">
                <a:solidFill>
                  <a:schemeClr val="bg1"/>
                </a:solidFill>
              </a:rPr>
              <a:t>（预算占比</a:t>
            </a:r>
            <a:r>
              <a:rPr lang="en-US" altLang="zh-CN" sz="1400" dirty="0">
                <a:solidFill>
                  <a:schemeClr val="bg1"/>
                </a:solidFill>
              </a:rPr>
              <a:t>&lt;20%)</a:t>
            </a: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13" name="object 17"/>
          <p:cNvSpPr/>
          <p:nvPr/>
        </p:nvSpPr>
        <p:spPr>
          <a:xfrm>
            <a:off x="3062835" y="2535164"/>
            <a:ext cx="2788920" cy="3131820"/>
          </a:xfrm>
          <a:custGeom>
            <a:avLst/>
            <a:gdLst/>
            <a:ahLst/>
            <a:cxnLst/>
            <a:rect l="l" t="t" r="r" b="b"/>
            <a:pathLst>
              <a:path w="2788920" h="3131820">
                <a:moveTo>
                  <a:pt x="2788920" y="3131819"/>
                </a:moveTo>
                <a:lnTo>
                  <a:pt x="0" y="3131819"/>
                </a:lnTo>
                <a:lnTo>
                  <a:pt x="0" y="0"/>
                </a:lnTo>
                <a:lnTo>
                  <a:pt x="2788920" y="0"/>
                </a:lnTo>
                <a:lnTo>
                  <a:pt x="2788920" y="3131819"/>
                </a:lnTo>
                <a:close/>
              </a:path>
            </a:pathLst>
          </a:custGeom>
          <a:solidFill>
            <a:srgbClr val="006CF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</a:rPr>
              <a:t>转化</a:t>
            </a:r>
            <a:r>
              <a:rPr lang="en-US" altLang="zh-CN" sz="1400" b="1" dirty="0">
                <a:solidFill>
                  <a:srgbClr val="FFFF00"/>
                </a:solidFill>
              </a:rPr>
              <a:t>/</a:t>
            </a:r>
            <a:r>
              <a:rPr lang="zh-CN" altLang="en-US" sz="1400" b="1" dirty="0">
                <a:solidFill>
                  <a:srgbClr val="FFFF00"/>
                </a:solidFill>
              </a:rPr>
              <a:t>目录销售 </a:t>
            </a:r>
            <a:r>
              <a:rPr lang="zh-CN" altLang="en-US" sz="1400" dirty="0">
                <a:solidFill>
                  <a:schemeClr val="bg1"/>
                </a:solidFill>
              </a:rPr>
              <a:t>广告系列*</a:t>
            </a:r>
            <a:br>
              <a:rPr lang="zh-CN" altLang="en-US" sz="1400" dirty="0">
                <a:solidFill>
                  <a:schemeClr val="bg1"/>
                </a:solidFill>
              </a:rPr>
            </a:br>
            <a:r>
              <a:rPr lang="zh-CN" altLang="en-US" sz="1400" dirty="0">
                <a:solidFill>
                  <a:schemeClr val="bg1"/>
                </a:solidFill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</a:rPr>
              <a:t>BAU:</a:t>
            </a:r>
            <a:r>
              <a:rPr lang="zh-CN" altLang="en-US" sz="1400" dirty="0">
                <a:solidFill>
                  <a:schemeClr val="bg1"/>
                </a:solidFill>
              </a:rPr>
              <a:t>预算占比</a:t>
            </a:r>
            <a:r>
              <a:rPr lang="en-US" altLang="zh-CN" sz="1400" dirty="0">
                <a:solidFill>
                  <a:schemeClr val="bg1"/>
                </a:solidFill>
              </a:rPr>
              <a:t>&gt;60%)</a:t>
            </a: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+</a:t>
            </a: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ASC</a:t>
            </a:r>
            <a:r>
              <a:rPr lang="zh-CN" altLang="en-US" sz="1400" dirty="0">
                <a:solidFill>
                  <a:schemeClr val="bg1"/>
                </a:solidFill>
              </a:rPr>
              <a:t>广告系列</a:t>
            </a:r>
            <a:br>
              <a:rPr lang="zh-CN" altLang="en-US" sz="1400" dirty="0">
                <a:solidFill>
                  <a:schemeClr val="bg1"/>
                </a:solidFill>
              </a:rPr>
            </a:br>
            <a:r>
              <a:rPr lang="zh-CN" altLang="en-US" sz="1400" dirty="0">
                <a:solidFill>
                  <a:schemeClr val="bg1"/>
                </a:solidFill>
              </a:rPr>
              <a:t>（预算占比</a:t>
            </a:r>
            <a:r>
              <a:rPr lang="en-US" altLang="zh-CN" sz="1400" dirty="0">
                <a:solidFill>
                  <a:schemeClr val="bg1"/>
                </a:solidFill>
              </a:rPr>
              <a:t>&lt;40%)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6" name="object 4"/>
          <p:cNvSpPr txBox="1"/>
          <p:nvPr/>
        </p:nvSpPr>
        <p:spPr>
          <a:xfrm>
            <a:off x="5946702" y="1275345"/>
            <a:ext cx="13785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297815" algn="l"/>
                <a:tab pos="298450" algn="l"/>
              </a:tabLst>
            </a:pPr>
            <a:r>
              <a:rPr sz="14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设置注意事</a:t>
            </a:r>
            <a:r>
              <a:rPr sz="1400" b="1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项</a:t>
            </a:r>
            <a:endParaRPr sz="1400">
              <a:latin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7" name="object 5"/>
          <p:cNvGraphicFramePr>
            <a:graphicFrameLocks noGrp="1"/>
          </p:cNvGraphicFramePr>
          <p:nvPr/>
        </p:nvGraphicFramePr>
        <p:xfrm>
          <a:off x="6096000" y="1665325"/>
          <a:ext cx="5584825" cy="4571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9020"/>
                <a:gridCol w="1918335"/>
                <a:gridCol w="2617470"/>
              </a:tblGrid>
              <a:tr h="10153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A/B</a:t>
                      </a:r>
                      <a:r>
                        <a:rPr sz="1200" spc="-5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测试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5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74625" marR="86360" indent="74930">
                        <a:lnSpc>
                          <a:spcPct val="132000"/>
                        </a:lnSpc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广告系列组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Group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 : </a:t>
                      </a:r>
                      <a:r>
                        <a:rPr sz="1200" spc="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BAU(80%)</a:t>
                      </a:r>
                      <a:r>
                        <a:rPr sz="1200" spc="-3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sz="1200" spc="-3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ASC(20%)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3825" algn="ctr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广告系列组</a:t>
                      </a:r>
                      <a:r>
                        <a:rPr sz="1200" spc="-4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Group</a:t>
                      </a:r>
                      <a:r>
                        <a:rPr sz="1200" spc="-4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sz="1200" spc="-3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: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7937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BAU(60%)</a:t>
                      </a:r>
                      <a:r>
                        <a:rPr sz="1400" spc="-2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sz="1400" spc="-2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ASC(40%)</a:t>
                      </a:r>
                      <a:endParaRPr sz="14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</a:tr>
              <a:tr h="21681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  <a:spcBef>
                          <a:spcPts val="265"/>
                        </a:spcBef>
                      </a:pP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BAU(80%)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solidFill>
                      <a:srgbClr val="BA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  <a:spcBef>
                          <a:spcPts val="265"/>
                        </a:spcBef>
                      </a:pP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BAU(60%)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solidFill>
                      <a:srgbClr val="BAF3E4"/>
                    </a:solidFill>
                  </a:tcPr>
                </a:tc>
              </a:tr>
              <a:tr h="182879">
                <a:tc vMerge="1">
                  <a:tcPr marL="0" marR="0" marT="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solidFill>
                      <a:srgbClr val="BA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solidFill>
                      <a:srgbClr val="BAF3E4"/>
                    </a:solidFill>
                  </a:tcPr>
                </a:tc>
              </a:tr>
              <a:tr h="192129">
                <a:tc vMerge="1">
                  <a:tcPr marL="0" marR="0" marT="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15"/>
                        </a:lnSpc>
                      </a:pP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ASC(20%)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15"/>
                        </a:lnSpc>
                      </a:pP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ASC(40%)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</a:tr>
              <a:tr h="423544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测试周期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2-4周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200" b="1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Conversion</a:t>
                      </a:r>
                      <a:r>
                        <a:rPr sz="1200" b="1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Lift</a:t>
                      </a:r>
                      <a:r>
                        <a:rPr sz="1200" b="1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preferred.</a:t>
                      </a:r>
                      <a:r>
                        <a:rPr sz="1200" spc="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If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not,</a:t>
                      </a:r>
                      <a:r>
                        <a:rPr sz="1200" spc="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A/B 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test.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2354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优化目标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转化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2354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定位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23544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素材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2354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版位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建议使用自动版位)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23544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200" b="1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竞</a:t>
                      </a: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价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</a:t>
                      </a:r>
                      <a:r>
                        <a:rPr sz="1200" spc="-5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sz="1200" spc="-4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使用常规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竞价模式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2354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统计时间窗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</a:t>
                      </a:r>
                      <a:r>
                        <a:rPr sz="1200" spc="-2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sz="1200" spc="-2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使用常规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统计时间窗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Attribution</a:t>
                      </a:r>
                      <a:r>
                        <a:rPr sz="1200" spc="-1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Window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</a:tbl>
          </a:graphicData>
        </a:graphic>
      </p:graphicFrame>
      <p:sp>
        <p:nvSpPr>
          <p:cNvPr id="18" name="object 24"/>
          <p:cNvSpPr txBox="1"/>
          <p:nvPr/>
        </p:nvSpPr>
        <p:spPr>
          <a:xfrm>
            <a:off x="151005" y="5747720"/>
            <a:ext cx="72605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*</a:t>
            </a:r>
            <a:r>
              <a:rPr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建议优先考虑符合以下情况的广告主：</a:t>
            </a:r>
            <a:br>
              <a:rPr lang="en-US"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</a:br>
            <a:r>
              <a:rPr lang="en-US"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现有投放中的ASC预算占比低于30%且想要提高预算比例的广告主。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/>
          <p:cNvSpPr txBox="1">
            <a:spLocks noGrp="1"/>
          </p:cNvSpPr>
          <p:nvPr>
            <p:ph type="title"/>
          </p:nvPr>
        </p:nvSpPr>
        <p:spPr>
          <a:xfrm>
            <a:off x="109802" y="170941"/>
            <a:ext cx="5336138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solidFill>
                  <a:srgbClr val="000000"/>
                </a:solidFill>
              </a:rPr>
              <a:t>策略</a:t>
            </a:r>
            <a:r>
              <a:rPr sz="1800" b="1" spc="-5" dirty="0">
                <a:solidFill>
                  <a:srgbClr val="000000"/>
                </a:solidFill>
              </a:rPr>
              <a:t>6：</a:t>
            </a:r>
            <a:r>
              <a:rPr sz="1800" b="1" dirty="0">
                <a:solidFill>
                  <a:srgbClr val="000000"/>
                </a:solidFill>
              </a:rPr>
              <a:t>测产</a:t>
            </a:r>
            <a:r>
              <a:rPr sz="1800" b="1" spc="-5" dirty="0">
                <a:solidFill>
                  <a:srgbClr val="000000"/>
                </a:solidFill>
              </a:rPr>
              <a:t>品</a:t>
            </a:r>
            <a:r>
              <a:rPr sz="1800" b="1" spc="-10" dirty="0">
                <a:solidFill>
                  <a:srgbClr val="000000"/>
                </a:solidFill>
              </a:rPr>
              <a:t> </a:t>
            </a:r>
            <a:r>
              <a:rPr sz="18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-</a:t>
            </a:r>
            <a:r>
              <a:rPr sz="1800" b="1" spc="-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spc="-1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BAU</a:t>
            </a:r>
            <a:r>
              <a:rPr sz="1800" b="1" spc="-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(A+</a:t>
            </a:r>
            <a:r>
              <a:rPr sz="1800" b="1" spc="-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CA) </a:t>
            </a:r>
            <a:r>
              <a:rPr sz="1800" b="1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vs.</a:t>
            </a:r>
            <a:r>
              <a:rPr sz="1800" b="1" spc="-10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endParaRPr sz="1800" b="1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3"/>
          <p:cNvSpPr txBox="1"/>
          <p:nvPr/>
        </p:nvSpPr>
        <p:spPr>
          <a:xfrm>
            <a:off x="109802" y="627746"/>
            <a:ext cx="4057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297815" algn="l"/>
                <a:tab pos="298450" algn="l"/>
              </a:tabLst>
            </a:pPr>
            <a:r>
              <a:rPr sz="14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研究课题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：ASC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广告效果是否优于A+</a:t>
            </a:r>
            <a:r>
              <a:rPr sz="1400" spc="-6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CA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广告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？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4"/>
          <p:cNvSpPr txBox="1"/>
          <p:nvPr/>
        </p:nvSpPr>
        <p:spPr>
          <a:xfrm>
            <a:off x="109802" y="1035398"/>
            <a:ext cx="3568065" cy="7791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380"/>
              </a:spcBef>
              <a:buFont typeface="Wingdings" panose="05000000000000000000"/>
              <a:buChar char=""/>
              <a:tabLst>
                <a:tab pos="297815" algn="l"/>
                <a:tab pos="298450" algn="l"/>
              </a:tabLst>
            </a:pPr>
            <a:r>
              <a:rPr sz="14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广告系列</a:t>
            </a:r>
            <a:r>
              <a:rPr sz="1400" b="1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组</a:t>
            </a:r>
            <a:r>
              <a:rPr sz="1400" b="1" spc="-6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：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755650" lvl="1" indent="-285750">
              <a:lnSpc>
                <a:spcPct val="100000"/>
              </a:lnSpc>
              <a:spcBef>
                <a:spcPts val="280"/>
              </a:spcBef>
              <a:buFont typeface="Wingdings" panose="05000000000000000000"/>
              <a:buChar char=""/>
              <a:tabLst>
                <a:tab pos="755015" algn="l"/>
                <a:tab pos="755650" algn="l"/>
              </a:tabLst>
            </a:pP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400" spc="-2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</a:t>
            </a:r>
            <a:r>
              <a:rPr sz="1400" spc="-1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400" spc="-1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BAU</a:t>
            </a:r>
            <a:r>
              <a:rPr sz="1400" spc="-1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(A+CA)</a:t>
            </a:r>
            <a:r>
              <a:rPr sz="1400" spc="-1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广告系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列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Font typeface="Wingdings" panose="05000000000000000000"/>
              <a:buChar char=""/>
              <a:tabLst>
                <a:tab pos="755015" algn="l"/>
                <a:tab pos="755650" algn="l"/>
              </a:tabLst>
            </a:pP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Group</a:t>
            </a:r>
            <a:r>
              <a:rPr sz="1400" spc="-3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B</a:t>
            </a:r>
            <a:r>
              <a:rPr sz="1400" spc="-2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400" spc="-2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ASC</a:t>
            </a:r>
            <a:r>
              <a:rPr sz="14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广告系</a:t>
            </a:r>
            <a:r>
              <a:rPr sz="1400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列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8"/>
          <p:cNvSpPr txBox="1"/>
          <p:nvPr/>
        </p:nvSpPr>
        <p:spPr>
          <a:xfrm>
            <a:off x="109802" y="1982166"/>
            <a:ext cx="2810510" cy="533400"/>
          </a:xfrm>
          <a:prstGeom prst="rect">
            <a:avLst/>
          </a:prstGeom>
          <a:solidFill>
            <a:srgbClr val="6B7887"/>
          </a:solidFill>
        </p:spPr>
        <p:txBody>
          <a:bodyPr vert="horz" wrap="square" lIns="0" tIns="165100" rIns="0" bIns="0" rtlCol="0">
            <a:spAutoFit/>
          </a:bodyPr>
          <a:lstStyle/>
          <a:p>
            <a:pPr marL="871855">
              <a:lnSpc>
                <a:spcPct val="100000"/>
              </a:lnSpc>
              <a:spcBef>
                <a:spcPts val="1300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控制组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G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oup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A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4"/>
          <p:cNvSpPr txBox="1"/>
          <p:nvPr/>
        </p:nvSpPr>
        <p:spPr>
          <a:xfrm>
            <a:off x="3036928" y="1982166"/>
            <a:ext cx="2810510" cy="533400"/>
          </a:xfrm>
          <a:prstGeom prst="rect">
            <a:avLst/>
          </a:prstGeom>
          <a:solidFill>
            <a:srgbClr val="6B7887"/>
          </a:solidFill>
        </p:spPr>
        <p:txBody>
          <a:bodyPr vert="horz" wrap="square" lIns="0" tIns="165100" rIns="0" bIns="0" rtlCol="0">
            <a:spAutoFit/>
          </a:bodyPr>
          <a:lstStyle/>
          <a:p>
            <a:pPr marL="876935">
              <a:lnSpc>
                <a:spcPct val="100000"/>
              </a:lnSpc>
              <a:spcBef>
                <a:spcPts val="1300"/>
              </a:spcBef>
            </a:pP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测试组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G</a:t>
            </a:r>
            <a:r>
              <a:rPr sz="12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oup</a:t>
            </a:r>
            <a:r>
              <a:rPr sz="1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B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9"/>
          <p:cNvSpPr/>
          <p:nvPr/>
        </p:nvSpPr>
        <p:spPr>
          <a:xfrm>
            <a:off x="109802" y="2515566"/>
            <a:ext cx="2810510" cy="2766060"/>
          </a:xfrm>
          <a:custGeom>
            <a:avLst/>
            <a:gdLst/>
            <a:ahLst/>
            <a:cxnLst/>
            <a:rect l="l" t="t" r="r" b="b"/>
            <a:pathLst>
              <a:path w="2810510" h="2766060">
                <a:moveTo>
                  <a:pt x="2810256" y="2766060"/>
                </a:moveTo>
                <a:lnTo>
                  <a:pt x="0" y="2766060"/>
                </a:lnTo>
                <a:lnTo>
                  <a:pt x="0" y="0"/>
                </a:lnTo>
                <a:lnTo>
                  <a:pt x="2810256" y="0"/>
                </a:lnTo>
                <a:lnTo>
                  <a:pt x="2810256" y="2766060"/>
                </a:lnTo>
                <a:close/>
              </a:path>
            </a:pathLst>
          </a:custGeom>
          <a:solidFill>
            <a:srgbClr val="006CF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BAU (A+CA) </a:t>
            </a:r>
            <a:r>
              <a:rPr lang="zh-CN" altLang="en-US" sz="1400" dirty="0">
                <a:solidFill>
                  <a:schemeClr val="bg1"/>
                </a:solidFill>
              </a:rPr>
              <a:t>广告系列</a:t>
            </a:r>
            <a:br>
              <a:rPr lang="en-US" altLang="zh-CN" sz="1400" dirty="0">
                <a:solidFill>
                  <a:schemeClr val="bg1"/>
                </a:solidFill>
              </a:rPr>
            </a:b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(</a:t>
            </a:r>
            <a:r>
              <a:rPr lang="zh-CN" altLang="en-US" sz="1400" dirty="0">
                <a:solidFill>
                  <a:schemeClr val="bg1"/>
                </a:solidFill>
              </a:rPr>
              <a:t>注：</a:t>
            </a:r>
            <a:r>
              <a:rPr lang="en-US" altLang="zh-CN" sz="1400" dirty="0" err="1">
                <a:solidFill>
                  <a:schemeClr val="bg1"/>
                </a:solidFill>
              </a:rPr>
              <a:t>A+Catalog</a:t>
            </a:r>
            <a:r>
              <a:rPr lang="zh-CN" altLang="en-US" sz="1400" dirty="0">
                <a:solidFill>
                  <a:schemeClr val="bg1"/>
                </a:solidFill>
              </a:rPr>
              <a:t>广告</a:t>
            </a:r>
            <a:r>
              <a:rPr lang="en-US" altLang="zh-CN" sz="1400" dirty="0">
                <a:solidFill>
                  <a:schemeClr val="bg1"/>
                </a:solidFill>
              </a:rPr>
              <a:t>)</a:t>
            </a: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036928" y="2515566"/>
            <a:ext cx="2810510" cy="2766060"/>
          </a:xfrm>
          <a:custGeom>
            <a:avLst/>
            <a:gdLst/>
            <a:ahLst/>
            <a:cxnLst/>
            <a:rect l="l" t="t" r="r" b="b"/>
            <a:pathLst>
              <a:path w="2810510" h="2766060">
                <a:moveTo>
                  <a:pt x="2810256" y="2766060"/>
                </a:moveTo>
                <a:lnTo>
                  <a:pt x="0" y="2766060"/>
                </a:lnTo>
                <a:lnTo>
                  <a:pt x="0" y="0"/>
                </a:lnTo>
                <a:lnTo>
                  <a:pt x="2810256" y="0"/>
                </a:lnTo>
                <a:lnTo>
                  <a:pt x="2810256" y="2766060"/>
                </a:lnTo>
                <a:close/>
              </a:path>
            </a:pathLst>
          </a:custGeom>
          <a:solidFill>
            <a:srgbClr val="006CF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 + SC </a:t>
            </a:r>
            <a:r>
              <a:rPr lang="zh-CN" altLang="en-US" dirty="0">
                <a:solidFill>
                  <a:schemeClr val="bg1"/>
                </a:solidFill>
              </a:rPr>
              <a:t>广告系列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" name="object 19"/>
          <p:cNvSpPr txBox="1"/>
          <p:nvPr/>
        </p:nvSpPr>
        <p:spPr>
          <a:xfrm>
            <a:off x="126365" y="5461922"/>
            <a:ext cx="596963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*Note：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如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果</a:t>
            </a:r>
            <a:r>
              <a:rPr sz="1000" spc="3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A+CA</a:t>
            </a:r>
            <a:r>
              <a:rPr sz="1000" spc="4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针对多个国家投放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，Group</a:t>
            </a:r>
            <a:r>
              <a:rPr sz="1000" spc="4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B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00" spc="4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ASC</a:t>
            </a:r>
            <a:r>
              <a:rPr sz="1000" spc="4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广告也需定位多个国家（国家保持一致）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。 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必须利用广泛的目标两个测试组必须包含相同的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Product</a:t>
            </a:r>
            <a:r>
              <a:rPr sz="1000" spc="-3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Set，而</a:t>
            </a:r>
            <a:r>
              <a:rPr sz="1000" spc="-3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ASC</a:t>
            </a:r>
            <a:r>
              <a:rPr sz="1000" dirty="0">
                <a:latin typeface="微软雅黑" panose="020B0503020204020204" charset="-122"/>
                <a:cs typeface="微软雅黑" panose="020B0503020204020204" charset="-122"/>
              </a:rPr>
              <a:t>广告允许更多同一产品的创意格式</a:t>
            </a:r>
            <a:r>
              <a:rPr sz="1000" spc="-5" dirty="0"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10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9" name="object 6"/>
          <p:cNvGraphicFramePr>
            <a:graphicFrameLocks noGrp="1"/>
          </p:cNvGraphicFramePr>
          <p:nvPr/>
        </p:nvGraphicFramePr>
        <p:xfrm>
          <a:off x="6148078" y="1337088"/>
          <a:ext cx="5495924" cy="4571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2510"/>
                <a:gridCol w="1887854"/>
                <a:gridCol w="2575560"/>
              </a:tblGrid>
              <a:tr h="933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A/B</a:t>
                      </a:r>
                      <a:r>
                        <a:rPr sz="1200" spc="-5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测试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45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60020" marR="73025" indent="74295">
                        <a:lnSpc>
                          <a:spcPct val="132000"/>
                        </a:lnSpc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广告系列组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Group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 : </a:t>
                      </a:r>
                      <a:r>
                        <a:rPr sz="1200" spc="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spc="-4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(A+</a:t>
                      </a:r>
                      <a:r>
                        <a:rPr sz="1200" spc="-4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CA）广告系列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795020" marR="474345" indent="-188595">
                        <a:lnSpc>
                          <a:spcPct val="132000"/>
                        </a:lnSpc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广告系列组</a:t>
                      </a:r>
                      <a:r>
                        <a:rPr sz="1200" spc="-4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Group</a:t>
                      </a:r>
                      <a:r>
                        <a:rPr sz="1200" spc="-3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sz="1200" spc="-3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: </a:t>
                      </a:r>
                      <a:r>
                        <a:rPr sz="1200" spc="-34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A+</a:t>
                      </a:r>
                      <a:r>
                        <a:rPr sz="1200" spc="-2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SC</a:t>
                      </a:r>
                      <a:r>
                        <a:rPr sz="1200" spc="-1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广告系列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</a:tr>
              <a:tr h="523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(A+</a:t>
                      </a:r>
                      <a:r>
                        <a:rPr sz="1200" spc="-2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Catalog</a:t>
                      </a:r>
                      <a:r>
                        <a:rPr sz="1200" spc="-1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Ads）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ASC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  <a:solidFill>
                      <a:srgbClr val="BAF3E4"/>
                    </a:solidFill>
                  </a:tcPr>
                </a:tc>
              </a:tr>
              <a:tr h="38925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预算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每个测试组相同预算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389889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测试周期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2-4周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200" b="1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Conversion</a:t>
                      </a:r>
                      <a:r>
                        <a:rPr sz="1200" b="1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Lift</a:t>
                      </a:r>
                      <a:r>
                        <a:rPr sz="1200" b="1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preferred.</a:t>
                      </a:r>
                      <a:r>
                        <a:rPr sz="1200" spc="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If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not,</a:t>
                      </a:r>
                      <a:r>
                        <a:rPr sz="1200" spc="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A/B 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test.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389254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优化目标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转化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38925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定位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389254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素材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389889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版位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建议使用自动版位)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38925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竞价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</a:t>
                      </a:r>
                      <a:r>
                        <a:rPr sz="1200" spc="-5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sz="1200" spc="-4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使用常规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竞价模式</a:t>
                      </a:r>
                      <a:endParaRPr sz="12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389254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200" dirty="0">
                          <a:solidFill>
                            <a:srgbClr val="0063D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统计时间窗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每个测试组相同</a:t>
                      </a:r>
                      <a:r>
                        <a:rPr sz="1200" spc="-2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sz="1200" spc="-2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使用常规</a:t>
                      </a:r>
                      <a:r>
                        <a:rPr sz="1200" spc="-1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BAU</a:t>
                      </a:r>
                      <a:r>
                        <a:rPr sz="1200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统计时间窗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Attribution</a:t>
                      </a:r>
                      <a:r>
                        <a:rPr sz="1200" spc="-1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spc="-5" dirty="0">
                          <a:solidFill>
                            <a:srgbClr val="44536A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Window</a:t>
                      </a:r>
                      <a:endParaRPr sz="12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5FEC"/>
                      </a:solidFill>
                      <a:prstDash val="solid"/>
                    </a:lnL>
                    <a:lnR w="12700">
                      <a:solidFill>
                        <a:srgbClr val="005FEC"/>
                      </a:solidFill>
                      <a:prstDash val="solid"/>
                    </a:lnR>
                    <a:lnT w="12700">
                      <a:solidFill>
                        <a:srgbClr val="005FEC"/>
                      </a:solidFill>
                      <a:prstDash val="solid"/>
                    </a:lnT>
                    <a:lnB w="12700">
                      <a:solidFill>
                        <a:srgbClr val="005FEC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</a:tbl>
          </a:graphicData>
        </a:graphic>
      </p:graphicFrame>
      <p:sp>
        <p:nvSpPr>
          <p:cNvPr id="21" name="object 5"/>
          <p:cNvSpPr txBox="1"/>
          <p:nvPr/>
        </p:nvSpPr>
        <p:spPr>
          <a:xfrm>
            <a:off x="6096000" y="948918"/>
            <a:ext cx="13785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297815" algn="l"/>
                <a:tab pos="298450" algn="l"/>
              </a:tabLst>
            </a:pPr>
            <a:r>
              <a:rPr sz="1400" b="1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设置注意事</a:t>
            </a:r>
            <a:r>
              <a:rPr sz="1400" b="1" spc="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项</a:t>
            </a:r>
            <a:endParaRPr sz="1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18"/>
          <p:cNvSpPr txBox="1"/>
          <p:nvPr/>
        </p:nvSpPr>
        <p:spPr>
          <a:xfrm>
            <a:off x="2198370" y="6146399"/>
            <a:ext cx="937973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*</a:t>
            </a:r>
            <a:r>
              <a:rPr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建议优先考虑符合以下情况的广告主：</a:t>
            </a:r>
            <a:br>
              <a:rPr lang="en-US"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</a:br>
            <a:r>
              <a:rPr lang="en-US"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1</a:t>
            </a:r>
            <a:r>
              <a:rPr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.</a:t>
            </a:r>
            <a:r>
              <a:rPr sz="12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通过学习阶段的广告占比较高</a:t>
            </a:r>
            <a:r>
              <a:rPr sz="12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(40%+)</a:t>
            </a:r>
            <a:r>
              <a:rPr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的广告帐户；</a:t>
            </a:r>
            <a:br>
              <a:rPr lang="en-US"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</a:br>
            <a:r>
              <a:rPr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2.</a:t>
            </a:r>
            <a:r>
              <a:rPr sz="12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自定义受众排除功能使用率较高;</a:t>
            </a:r>
            <a:r>
              <a:rPr sz="12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3.</a:t>
            </a:r>
            <a:r>
              <a:rPr sz="12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Product</a:t>
            </a:r>
            <a:r>
              <a:rPr sz="12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Set</a:t>
            </a:r>
            <a:r>
              <a:rPr sz="1200" spc="-1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-5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(n&lt;1000</a:t>
            </a:r>
            <a:r>
              <a:rPr sz="1200" dirty="0">
                <a:solidFill>
                  <a:srgbClr val="000063"/>
                </a:solidFill>
                <a:latin typeface="微软雅黑" panose="020B0503020204020204" charset="-122"/>
                <a:cs typeface="微软雅黑" panose="020B0503020204020204" charset="-122"/>
              </a:rPr>
              <a:t>个)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9634" y="2756079"/>
            <a:ext cx="6096000" cy="3039414"/>
          </a:xfrm>
        </p:spPr>
        <p:txBody>
          <a:bodyPr rtlCol="0" anchor="ctr">
            <a:normAutofit/>
          </a:bodyPr>
          <a:lstStyle>
            <a:defPPr>
              <a:defRPr lang="zh-CN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b="1" dirty="0">
                <a:latin typeface="Cambria" panose="02040503050406030204" pitchFamily="18" charset="0"/>
                <a:cs typeface="微软雅黑" panose="020B0503020204020204" charset="-122"/>
              </a:rPr>
              <a:t>附件</a:t>
            </a:r>
            <a:r>
              <a:rPr lang="zh-CN" altLang="en-US" sz="3200" b="1" spc="-5" dirty="0">
                <a:latin typeface="Cambria" panose="02040503050406030204" pitchFamily="18" charset="0"/>
                <a:cs typeface="微软雅黑" panose="020B0503020204020204" charset="-122"/>
              </a:rPr>
              <a:t>：</a:t>
            </a:r>
            <a:br>
              <a:rPr lang="en-US" altLang="zh-CN" sz="3200" b="1" spc="-5" dirty="0">
                <a:latin typeface="Cambria" panose="02040503050406030204" pitchFamily="18" charset="0"/>
                <a:ea typeface="Cambria" panose="02040503050406030204" pitchFamily="18" charset="0"/>
                <a:cs typeface="微软雅黑" panose="020B0503020204020204" charset="-122"/>
              </a:rPr>
            </a:br>
            <a:r>
              <a:rPr lang="en-US" altLang="zh-CN" sz="3200" b="1" spc="-5" dirty="0">
                <a:latin typeface="Cambria" panose="02040503050406030204" pitchFamily="18" charset="0"/>
                <a:ea typeface="Cambria" panose="02040503050406030204" pitchFamily="18" charset="0"/>
                <a:cs typeface="微软雅黑" panose="020B0503020204020204" charset="-122"/>
              </a:rPr>
              <a:t>Ad</a:t>
            </a:r>
            <a:r>
              <a:rPr lang="en-US" altLang="zh-CN" sz="3200" b="1" spc="-65" dirty="0">
                <a:latin typeface="Cambria" panose="02040503050406030204" pitchFamily="18" charset="0"/>
                <a:ea typeface="Cambria" panose="02040503050406030204" pitchFamily="18" charset="0"/>
                <a:cs typeface="微软雅黑" panose="020B0503020204020204" charset="-122"/>
              </a:rPr>
              <a:t> </a:t>
            </a:r>
            <a:r>
              <a:rPr lang="en-US" altLang="zh-CN" sz="3200" b="1" spc="-5" dirty="0">
                <a:latin typeface="Cambria" panose="02040503050406030204" pitchFamily="18" charset="0"/>
                <a:ea typeface="Cambria" panose="02040503050406030204" pitchFamily="18" charset="0"/>
                <a:cs typeface="微软雅黑" panose="020B0503020204020204" charset="-122"/>
              </a:rPr>
              <a:t>Experiment</a:t>
            </a:r>
            <a:r>
              <a:rPr lang="zh-CN" altLang="en-US" sz="3200" b="1" dirty="0">
                <a:latin typeface="Cambria" panose="02040503050406030204" pitchFamily="18" charset="0"/>
                <a:cs typeface="微软雅黑" panose="020B0503020204020204" charset="-122"/>
              </a:rPr>
              <a:t>设置测试</a:t>
            </a:r>
            <a:endParaRPr lang="zh-CN" altLang="en-US" sz="3200" dirty="0">
              <a:latin typeface="Cambria" panose="02040503050406030204" pitchFamily="18" charset="0"/>
              <a:cs typeface="微软雅黑" panose="020B0503020204020204" charset="-122"/>
            </a:endParaRPr>
          </a:p>
        </p:txBody>
      </p:sp>
      <p:pic>
        <p:nvPicPr>
          <p:cNvPr id="8" name="图片占位符 7"/>
          <p:cNvPicPr>
            <a:picLocks noGrp="1" noChangeAspect="1"/>
          </p:cNvPicPr>
          <p:nvPr>
            <p:ph type="pic" sz="quarter" idx="11"/>
          </p:nvPr>
        </p:nvPicPr>
        <p:blipFill>
          <a:blip r:embed="rId1"/>
          <a:srcRect l="21429" r="21429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14400" y="386367"/>
            <a:ext cx="10792496" cy="5196625"/>
          </a:xfrm>
          <a:prstGeom prst="rect">
            <a:avLst/>
          </a:prstGeom>
        </p:spPr>
      </p:pic>
      <p:sp>
        <p:nvSpPr>
          <p:cNvPr id="13" name="object 3"/>
          <p:cNvSpPr txBox="1"/>
          <p:nvPr/>
        </p:nvSpPr>
        <p:spPr>
          <a:xfrm>
            <a:off x="396357" y="6075599"/>
            <a:ext cx="294576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注：记得取消勾选“找到优胜组后提前结束测试”</a:t>
            </a:r>
            <a:r>
              <a:rPr sz="10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10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51" r="18577"/>
          <a:stretch>
            <a:fillRect/>
          </a:stretch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dirty="0"/>
              <a:t>谢谢</a:t>
            </a:r>
            <a:endParaRPr lang="zh-CN" dirty="0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altLang="en-US" dirty="0"/>
              <a:t>祝大家大卖！</a:t>
            </a:r>
            <a:endParaRPr 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定义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Microsoft YaHei UI"/>
        <a:ea typeface=""/>
        <a:cs typeface="Microsoft YaHei UI"/>
      </a:majorFont>
      <a:minorFont>
        <a:latin typeface="Microsoft YaHei UI"/>
        <a:ea typeface=""/>
        <a:cs typeface="Microsoft YaHei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2457D9-12AC-4794-A05E-F1B90FCD8DA7}">
  <ds:schemaRefs/>
</ds:datastoreItem>
</file>

<file path=customXml/itemProps2.xml><?xml version="1.0" encoding="utf-8"?>
<ds:datastoreItem xmlns:ds="http://schemas.openxmlformats.org/officeDocument/2006/customXml" ds:itemID="{AB045227-5724-4DBF-9712-031B1BFB2C3C}">
  <ds:schemaRefs/>
</ds:datastoreItem>
</file>

<file path=customXml/itemProps3.xml><?xml version="1.0" encoding="utf-8"?>
<ds:datastoreItem xmlns:ds="http://schemas.openxmlformats.org/officeDocument/2006/customXml" ds:itemID="{B7B39BD0-040C-43BE-B0E4-512B09E8003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极简风格营销</Template>
  <TotalTime>0</TotalTime>
  <Words>6186</Words>
  <Application>WPS 演示</Application>
  <PresentationFormat>宽屏</PresentationFormat>
  <Paragraphs>609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Microsoft YaHei UI</vt:lpstr>
      <vt:lpstr>Cambria</vt:lpstr>
      <vt:lpstr>等线</vt:lpstr>
      <vt:lpstr>Times New Roman</vt:lpstr>
      <vt:lpstr>微软雅黑</vt:lpstr>
      <vt:lpstr>Times New Roman</vt:lpstr>
      <vt:lpstr>Wingdings</vt:lpstr>
      <vt:lpstr>Arial Unicode MS</vt:lpstr>
      <vt:lpstr>自定义</vt:lpstr>
      <vt:lpstr>META  a+sc高效策略方案</vt:lpstr>
      <vt:lpstr>Meta 广告端变化</vt:lpstr>
      <vt:lpstr>Meta A + SC 高效策略方案 </vt:lpstr>
      <vt:lpstr>A+SC高效策略方案</vt:lpstr>
      <vt:lpstr>策略1：调整新产品方案 - (70% BAU vs 30% ASC) vs. (30% BAU + 70% ASC)</vt:lpstr>
      <vt:lpstr>策略2：调整新产品方案 - BAU + ASC (100%) vs. BAU + ASC(150%)</vt:lpstr>
      <vt:lpstr>PowerPoint 演示文稿</vt:lpstr>
      <vt:lpstr>策略4：素材 - ASC Multiple similar creatives vs. ASC Multiple different creatives</vt:lpstr>
      <vt:lpstr>策略5：调整新产品预算 - BAU + ASC (20%) vs BAU + ASC (40%)</vt:lpstr>
      <vt:lpstr>策略6：测产品 - BAU (A+ CA) vs. ASC</vt:lpstr>
      <vt:lpstr>附件： Ad Experiment设置测试</vt:lpstr>
      <vt:lpstr>PowerPoint 演示文稿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Shaw Beatrice</dc:creator>
  <cp:lastModifiedBy>小虎牙</cp:lastModifiedBy>
  <cp:revision>4</cp:revision>
  <dcterms:created xsi:type="dcterms:W3CDTF">2024-09-16T08:03:00Z</dcterms:created>
  <dcterms:modified xsi:type="dcterms:W3CDTF">2025-05-23T10:21:25Z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E7F27B4E9E75417DBB6E08162609DB9C_12</vt:lpwstr>
  </property>
  <property fmtid="{D5CDD505-2E9C-101B-9397-08002B2CF9AE}" pid="4" name="KSOProductBuildVer">
    <vt:lpwstr>2052-12.1.0.21171</vt:lpwstr>
  </property>
</Properties>
</file>