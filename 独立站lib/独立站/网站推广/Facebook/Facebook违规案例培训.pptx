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3"/>
  </p:sldMasterIdLst>
  <p:notesMasterIdLst>
    <p:notesMasterId r:id="rId5"/>
  </p:notesMasterIdLst>
  <p:sldIdLst>
    <p:sldId id="339" r:id="rId4"/>
    <p:sldId id="385" r:id="rId6"/>
    <p:sldId id="341" r:id="rId7"/>
    <p:sldId id="344" r:id="rId8"/>
    <p:sldId id="345" r:id="rId9"/>
    <p:sldId id="346" r:id="rId10"/>
    <p:sldId id="347" r:id="rId11"/>
    <p:sldId id="348" r:id="rId12"/>
    <p:sldId id="349" r:id="rId13"/>
    <p:sldId id="350" r:id="rId14"/>
    <p:sldId id="351" r:id="rId15"/>
    <p:sldId id="352" r:id="rId16"/>
    <p:sldId id="357" r:id="rId17"/>
    <p:sldId id="358" r:id="rId18"/>
    <p:sldId id="359" r:id="rId19"/>
    <p:sldId id="361" r:id="rId20"/>
    <p:sldId id="364" r:id="rId21"/>
    <p:sldId id="360" r:id="rId22"/>
    <p:sldId id="363" r:id="rId23"/>
    <p:sldId id="374" r:id="rId24"/>
    <p:sldId id="367" r:id="rId25"/>
    <p:sldId id="366" r:id="rId26"/>
    <p:sldId id="379" r:id="rId27"/>
    <p:sldId id="380" r:id="rId28"/>
    <p:sldId id="381" r:id="rId29"/>
    <p:sldId id="369" r:id="rId30"/>
    <p:sldId id="370" r:id="rId31"/>
    <p:sldId id="373" r:id="rId32"/>
  </p:sldIdLst>
  <p:sldSz cx="12192000" cy="6858000"/>
  <p:notesSz cx="6858000" cy="9144000"/>
  <p:embeddedFontLst>
    <p:embeddedFont>
      <p:font typeface="Calibri" panose="020F0502020204030204"/>
      <p:regular r:id="rId36"/>
    </p:embeddedFont>
    <p:embeddedFont>
      <p:font typeface="Helvetica Neue Light" panose="020B0604020202020204"/>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zh-C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g5a8a6539c4_1_30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2" name="Google Shape;602;g5a8a6539c4_1_3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g5a8a6539c4_1_30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2" name="Google Shape;602;g5a8a6539c4_1_3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g5a8a6539c4_1_30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2" name="Google Shape;602;g5a8a6539c4_1_3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g5a8a6539c4_1_30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2" name="Google Shape;602;g5a8a6539c4_1_3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g5a8a6539c4_1_304:notes"/>
          <p:cNvSpPr txBox="1"/>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2" name="Google Shape;602;g5a8a6539c4_1_3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41ac40d0de_3_3:notes"/>
          <p:cNvSpPr/>
          <p:nvPr>
            <p:ph type="sldImg" idx="2"/>
          </p:nvPr>
        </p:nvSpPr>
        <p:spPr>
          <a:xfrm>
            <a:off x="686118"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41ac40d0de_3_3:notes"/>
          <p:cNvSpPr txBox="1"/>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18000"/>
              </a:lnSpc>
              <a:spcBef>
                <a:spcPts val="0"/>
              </a:spcBef>
              <a:spcAft>
                <a:spcPts val="0"/>
              </a:spcAft>
              <a:buClr>
                <a:srgbClr val="000000"/>
              </a:buClr>
              <a:buSzPts val="2200"/>
              <a:buFont typeface="Arial" panose="020B0604020202020204"/>
              <a:buNone/>
            </a:pPr>
            <a:endParaRPr>
              <a:latin typeface="Arial" panose="020B0604020202020204"/>
              <a:ea typeface="Arial" panose="020B0604020202020204"/>
              <a:cs typeface="Arial" panose="020B0604020202020204"/>
              <a:sym typeface="Arial" panose="020B0604020202020204"/>
            </a:endParaRPr>
          </a:p>
        </p:txBody>
      </p:sp>
      <p:sp>
        <p:nvSpPr>
          <p:cNvPr id="367" name="Google Shape;367;g41ac40d0de_3_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2400"/>
              <a:buFont typeface="Helvetica Neue Light" panose="020B0604020202020204"/>
              <a:buNone/>
            </a:pPr>
            <a:fld id="{00000000-1234-1234-1234-123412341234}" type="slidenum">
              <a:rPr lang="zh-CN"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rPr>
            </a:fld>
            <a:endParaRPr sz="2400" b="0" i="0" u="none" strike="noStrike" cap="none">
              <a:solidFill>
                <a:srgbClr val="000000"/>
              </a:solidFill>
              <a:latin typeface="Helvetica Neue Light" panose="020B0604020202020204"/>
              <a:ea typeface="Helvetica Neue Light" panose="020B0604020202020204"/>
              <a:cs typeface="Helvetica Neue Light" panose="020B0604020202020204"/>
              <a:sym typeface="Helvetica Neue Light"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69" name="Shape 169"/>
        <p:cNvGrpSpPr/>
        <p:nvPr/>
      </p:nvGrpSpPr>
      <p:grpSpPr>
        <a:xfrm>
          <a:off x="0" y="0"/>
          <a:ext cx="0" cy="0"/>
          <a:chOff x="0" y="0"/>
          <a:chExt cx="0" cy="0"/>
        </a:xfrm>
      </p:grpSpPr>
      <p:sp>
        <p:nvSpPr>
          <p:cNvPr id="170" name="Google Shape;170;p26"/>
          <p:cNvSpPr txBox="1"/>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Arial" panose="020B0604020202020204"/>
              <a:buNone/>
              <a:defRPr sz="60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71" name="Google Shape;171;p26"/>
          <p:cNvSpPr txBox="1"/>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2" name="Google Shape;172;p26"/>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3" name="Google Shape;173;p26"/>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4" name="Google Shape;174;p26"/>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5" name="Shape 175"/>
        <p:cNvGrpSpPr/>
        <p:nvPr/>
      </p:nvGrpSpPr>
      <p:grpSpPr>
        <a:xfrm>
          <a:off x="0" y="0"/>
          <a:ext cx="0" cy="0"/>
          <a:chOff x="0" y="0"/>
          <a:chExt cx="0" cy="0"/>
        </a:xfrm>
      </p:grpSpPr>
      <p:sp>
        <p:nvSpPr>
          <p:cNvPr id="176" name="Google Shape;176;p27"/>
          <p:cNvSpPr txBox="1"/>
          <p:nvPr>
            <p:ph type="title"/>
          </p:nvPr>
        </p:nvSpPr>
        <p:spPr>
          <a:xfrm>
            <a:off x="838200" y="433138"/>
            <a:ext cx="10515600" cy="866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lt1"/>
              </a:buClr>
              <a:buSzPts val="3200"/>
              <a:buFont typeface="Arial" panose="020B0604020202020204"/>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77" name="Google Shape;177;p27"/>
          <p:cNvSpPr txBox="1"/>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8" name="Google Shape;178;p27"/>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79" name="Google Shape;179;p27"/>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0" name="Google Shape;180;p27"/>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81" name="Shape 181"/>
        <p:cNvGrpSpPr/>
        <p:nvPr/>
      </p:nvGrpSpPr>
      <p:grpSpPr>
        <a:xfrm>
          <a:off x="0" y="0"/>
          <a:ext cx="0" cy="0"/>
          <a:chOff x="0" y="0"/>
          <a:chExt cx="0" cy="0"/>
        </a:xfrm>
      </p:grpSpPr>
      <p:sp>
        <p:nvSpPr>
          <p:cNvPr id="182" name="Google Shape;182;p28"/>
          <p:cNvSpPr txBox="1"/>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Arial" panose="020B0604020202020204"/>
              <a:buNone/>
              <a:defRPr sz="60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3" name="Google Shape;183;p28"/>
          <p:cNvSpPr txBox="1"/>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panose="020B0604020202020204"/>
              <a:buNone/>
              <a:defRPr sz="24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rgbClr val="888888"/>
              </a:buClr>
              <a:buSzPts val="2000"/>
              <a:buFont typeface="Arial" panose="020B0604020202020204"/>
              <a:buNone/>
              <a:defRPr sz="20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rgbClr val="888888"/>
              </a:buClr>
              <a:buSzPts val="1800"/>
              <a:buFont typeface="Arial" panose="020B0604020202020204"/>
              <a:buNone/>
              <a:defRPr sz="18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p:txBody>
      </p:sp>
      <p:sp>
        <p:nvSpPr>
          <p:cNvPr id="184" name="Google Shape;184;p28"/>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5" name="Google Shape;185;p28"/>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86" name="Google Shape;186;p28"/>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项内容">
  <p:cSld name="TWO_OBJECTS">
    <p:spTree>
      <p:nvGrpSpPr>
        <p:cNvPr id="187" name="Shape 187"/>
        <p:cNvGrpSpPr/>
        <p:nvPr/>
      </p:nvGrpSpPr>
      <p:grpSpPr>
        <a:xfrm>
          <a:off x="0" y="0"/>
          <a:ext cx="0" cy="0"/>
          <a:chOff x="0" y="0"/>
          <a:chExt cx="0" cy="0"/>
        </a:xfrm>
      </p:grpSpPr>
      <p:sp>
        <p:nvSpPr>
          <p:cNvPr id="188" name="Google Shape;188;p29"/>
          <p:cNvSpPr txBox="1"/>
          <p:nvPr>
            <p:ph type="title"/>
          </p:nvPr>
        </p:nvSpPr>
        <p:spPr>
          <a:xfrm>
            <a:off x="838200" y="365125"/>
            <a:ext cx="105156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89" name="Google Shape;189;p29"/>
          <p:cNvSpPr txBox="1"/>
          <p:nvPr>
            <p:ph type="body" idx="1"/>
          </p:nvPr>
        </p:nvSpPr>
        <p:spPr>
          <a:xfrm>
            <a:off x="838200" y="1825625"/>
            <a:ext cx="5181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0" name="Google Shape;190;p29"/>
          <p:cNvSpPr txBox="1"/>
          <p:nvPr>
            <p:ph type="body" idx="2"/>
          </p:nvPr>
        </p:nvSpPr>
        <p:spPr>
          <a:xfrm>
            <a:off x="6172200" y="1825625"/>
            <a:ext cx="5181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1" name="Google Shape;191;p29"/>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2" name="Google Shape;192;p29"/>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3" name="Google Shape;193;p29"/>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94" name="Shape 194"/>
        <p:cNvGrpSpPr/>
        <p:nvPr/>
      </p:nvGrpSpPr>
      <p:grpSpPr>
        <a:xfrm>
          <a:off x="0" y="0"/>
          <a:ext cx="0" cy="0"/>
          <a:chOff x="0" y="0"/>
          <a:chExt cx="0" cy="0"/>
        </a:xfrm>
      </p:grpSpPr>
      <p:sp>
        <p:nvSpPr>
          <p:cNvPr id="195" name="Google Shape;195;p30"/>
          <p:cNvSpPr txBox="1"/>
          <p:nvPr>
            <p:ph type="title"/>
          </p:nvPr>
        </p:nvSpPr>
        <p:spPr>
          <a:xfrm>
            <a:off x="839788" y="365125"/>
            <a:ext cx="105156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96" name="Google Shape;196;p30"/>
          <p:cNvSpPr txBox="1"/>
          <p:nvPr>
            <p:ph type="body" idx="1"/>
          </p:nvPr>
        </p:nvSpPr>
        <p:spPr>
          <a:xfrm>
            <a:off x="839788" y="1681163"/>
            <a:ext cx="51579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panose="020B0604020202020204"/>
              <a:buNone/>
              <a:defRPr sz="2400" b="1"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000"/>
              <a:buFont typeface="Arial" panose="020B0604020202020204"/>
              <a:buNone/>
              <a:defRPr sz="2000" b="1"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18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7" name="Google Shape;197;p30"/>
          <p:cNvSpPr txBox="1"/>
          <p:nvPr>
            <p:ph type="body" idx="2"/>
          </p:nvPr>
        </p:nvSpPr>
        <p:spPr>
          <a:xfrm>
            <a:off x="839788" y="2505075"/>
            <a:ext cx="5157900" cy="3684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8" name="Google Shape;198;p30"/>
          <p:cNvSpPr txBox="1"/>
          <p:nvPr>
            <p:ph type="body" idx="3"/>
          </p:nvPr>
        </p:nvSpPr>
        <p:spPr>
          <a:xfrm>
            <a:off x="6172200" y="1681163"/>
            <a:ext cx="51831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panose="020B0604020202020204"/>
              <a:buNone/>
              <a:defRPr sz="2400" b="1"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000"/>
              <a:buFont typeface="Arial" panose="020B0604020202020204"/>
              <a:buNone/>
              <a:defRPr sz="2000" b="1"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18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99" name="Google Shape;199;p30"/>
          <p:cNvSpPr txBox="1"/>
          <p:nvPr>
            <p:ph type="body" idx="4"/>
          </p:nvPr>
        </p:nvSpPr>
        <p:spPr>
          <a:xfrm>
            <a:off x="6172200" y="2505075"/>
            <a:ext cx="5183100" cy="3684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0" name="Google Shape;200;p30"/>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1" name="Google Shape;201;p30"/>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2" name="Google Shape;202;p30"/>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203" name="Shape 203"/>
        <p:cNvGrpSpPr/>
        <p:nvPr/>
      </p:nvGrpSpPr>
      <p:grpSpPr>
        <a:xfrm>
          <a:off x="0" y="0"/>
          <a:ext cx="0" cy="0"/>
          <a:chOff x="0" y="0"/>
          <a:chExt cx="0" cy="0"/>
        </a:xfrm>
      </p:grpSpPr>
      <p:sp>
        <p:nvSpPr>
          <p:cNvPr id="204" name="Google Shape;204;p31"/>
          <p:cNvSpPr txBox="1"/>
          <p:nvPr>
            <p:ph type="title"/>
          </p:nvPr>
        </p:nvSpPr>
        <p:spPr>
          <a:xfrm>
            <a:off x="838200" y="365125"/>
            <a:ext cx="105156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05" name="Google Shape;205;p31"/>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6" name="Google Shape;206;p31"/>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07" name="Google Shape;207;p31"/>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208" name="Shape 208"/>
        <p:cNvGrpSpPr/>
        <p:nvPr/>
      </p:nvGrpSpPr>
      <p:grpSpPr>
        <a:xfrm>
          <a:off x="0" y="0"/>
          <a:ext cx="0" cy="0"/>
          <a:chOff x="0" y="0"/>
          <a:chExt cx="0" cy="0"/>
        </a:xfrm>
      </p:grpSpPr>
      <p:sp>
        <p:nvSpPr>
          <p:cNvPr id="209" name="Google Shape;209;p32"/>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0" name="Google Shape;210;p32"/>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1" name="Google Shape;211;p32"/>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212" name="Shape 212"/>
        <p:cNvGrpSpPr/>
        <p:nvPr/>
      </p:nvGrpSpPr>
      <p:grpSpPr>
        <a:xfrm>
          <a:off x="0" y="0"/>
          <a:ext cx="0" cy="0"/>
          <a:chOff x="0" y="0"/>
          <a:chExt cx="0" cy="0"/>
        </a:xfrm>
      </p:grpSpPr>
      <p:sp>
        <p:nvSpPr>
          <p:cNvPr id="213" name="Google Shape;213;p33"/>
          <p:cNvSpPr txBox="1"/>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Arial" panose="020B0604020202020204"/>
              <a:buNone/>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14" name="Google Shape;214;p33"/>
          <p:cNvSpPr txBox="1"/>
          <p:nvPr>
            <p:ph type="body" idx="1"/>
          </p:nvPr>
        </p:nvSpPr>
        <p:spPr>
          <a:xfrm>
            <a:off x="5183188" y="987425"/>
            <a:ext cx="6172200" cy="48735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lnSpc>
                <a:spcPct val="90000"/>
              </a:lnSpc>
              <a:spcBef>
                <a:spcPts val="5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5" name="Google Shape;215;p33"/>
          <p:cNvSpPr txBox="1"/>
          <p:nvPr>
            <p:ph type="body" idx="2"/>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6" name="Google Shape;216;p33"/>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7" name="Google Shape;217;p33"/>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18" name="Google Shape;218;p33"/>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219" name="Shape 219"/>
        <p:cNvGrpSpPr/>
        <p:nvPr/>
      </p:nvGrpSpPr>
      <p:grpSpPr>
        <a:xfrm>
          <a:off x="0" y="0"/>
          <a:ext cx="0" cy="0"/>
          <a:chOff x="0" y="0"/>
          <a:chExt cx="0" cy="0"/>
        </a:xfrm>
      </p:grpSpPr>
      <p:sp>
        <p:nvSpPr>
          <p:cNvPr id="220" name="Google Shape;220;p34"/>
          <p:cNvSpPr txBox="1"/>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Arial" panose="020B0604020202020204"/>
              <a:buNone/>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21" name="Google Shape;221;p34"/>
          <p:cNvSpPr/>
          <p:nvPr>
            <p:ph type="pic" idx="2"/>
          </p:nvPr>
        </p:nvSpPr>
        <p:spPr>
          <a:xfrm>
            <a:off x="5183188" y="987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panose="020B0604020202020204"/>
              <a:buNone/>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2" name="Google Shape;222;p34"/>
          <p:cNvSpPr txBox="1"/>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3" name="Google Shape;223;p34"/>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4" name="Google Shape;224;p34"/>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5" name="Google Shape;225;p34"/>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本">
  <p:cSld name="VERTICAL_TEXT">
    <p:spTree>
      <p:nvGrpSpPr>
        <p:cNvPr id="226" name="Shape 226"/>
        <p:cNvGrpSpPr/>
        <p:nvPr/>
      </p:nvGrpSpPr>
      <p:grpSpPr>
        <a:xfrm>
          <a:off x="0" y="0"/>
          <a:ext cx="0" cy="0"/>
          <a:chOff x="0" y="0"/>
          <a:chExt cx="0" cy="0"/>
        </a:xfrm>
      </p:grpSpPr>
      <p:sp>
        <p:nvSpPr>
          <p:cNvPr id="227" name="Google Shape;227;p35"/>
          <p:cNvSpPr txBox="1"/>
          <p:nvPr>
            <p:ph type="title"/>
          </p:nvPr>
        </p:nvSpPr>
        <p:spPr>
          <a:xfrm>
            <a:off x="838200" y="365125"/>
            <a:ext cx="105156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28" name="Google Shape;228;p35"/>
          <p:cNvSpPr txBox="1"/>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29" name="Google Shape;229;p35"/>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0" name="Google Shape;230;p35"/>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1" name="Google Shape;231;p35"/>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和文本">
  <p:cSld name="VERTICAL_TITLE_AND_VERTICAL_TEXT">
    <p:spTree>
      <p:nvGrpSpPr>
        <p:cNvPr id="232" name="Shape 232"/>
        <p:cNvGrpSpPr/>
        <p:nvPr/>
      </p:nvGrpSpPr>
      <p:grpSpPr>
        <a:xfrm>
          <a:off x="0" y="0"/>
          <a:ext cx="0" cy="0"/>
          <a:chOff x="0" y="0"/>
          <a:chExt cx="0" cy="0"/>
        </a:xfrm>
      </p:grpSpPr>
      <p:sp>
        <p:nvSpPr>
          <p:cNvPr id="233" name="Google Shape;233;p36"/>
          <p:cNvSpPr txBox="1"/>
          <p:nvPr>
            <p:ph type="title"/>
          </p:nvPr>
        </p:nvSpPr>
        <p:spPr>
          <a:xfrm rot="5400000">
            <a:off x="7133400" y="1956625"/>
            <a:ext cx="5811900"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34" name="Google Shape;234;p36"/>
          <p:cNvSpPr txBox="1"/>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5" name="Google Shape;235;p36"/>
          <p:cNvSpPr txBox="1"/>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6" name="Google Shape;236;p36"/>
          <p:cNvSpPr txBox="1"/>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7" name="Google Shape;237;p36"/>
          <p:cNvSpPr txBox="1"/>
          <p:nvPr>
            <p:ph type="sldNum" idx="12"/>
          </p:nvPr>
        </p:nvSpPr>
        <p:spPr>
          <a:xfrm>
            <a:off x="8610600" y="6356350"/>
            <a:ext cx="2743200" cy="3651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a:lvl1pPr>
            <a:lvl2pPr marL="0" marR="0" lvl="1" indent="0" algn="r" rtl="0">
              <a:lnSpc>
                <a:spcPct val="100000"/>
              </a:lnSpc>
              <a:spcBef>
                <a:spcPts val="0"/>
              </a:spcBef>
              <a:spcAft>
                <a:spcPts val="0"/>
              </a:spcAft>
              <a:buClr>
                <a:srgbClr val="888888"/>
              </a:buClr>
              <a:buSzPts val="300"/>
              <a:buFont typeface="Arial" panose="020B0604020202020204"/>
              <a:buNone/>
              <a:defRPr/>
            </a:lvl2pPr>
            <a:lvl3pPr marL="0" marR="0" lvl="2" indent="0" algn="r" rtl="0">
              <a:lnSpc>
                <a:spcPct val="100000"/>
              </a:lnSpc>
              <a:spcBef>
                <a:spcPts val="0"/>
              </a:spcBef>
              <a:spcAft>
                <a:spcPts val="0"/>
              </a:spcAft>
              <a:buClr>
                <a:srgbClr val="888888"/>
              </a:buClr>
              <a:buSzPts val="300"/>
              <a:buFont typeface="Arial" panose="020B0604020202020204"/>
              <a:buNone/>
              <a:defRPr/>
            </a:lvl3pPr>
            <a:lvl4pPr marL="0" marR="0" lvl="3" indent="0" algn="r" rtl="0">
              <a:lnSpc>
                <a:spcPct val="100000"/>
              </a:lnSpc>
              <a:spcBef>
                <a:spcPts val="0"/>
              </a:spcBef>
              <a:spcAft>
                <a:spcPts val="0"/>
              </a:spcAft>
              <a:buClr>
                <a:srgbClr val="888888"/>
              </a:buClr>
              <a:buSzPts val="300"/>
              <a:buFont typeface="Arial" panose="020B0604020202020204"/>
              <a:buNone/>
              <a:defRPr/>
            </a:lvl4pPr>
            <a:lvl5pPr marL="0" marR="0" lvl="4" indent="0" algn="r" rtl="0">
              <a:lnSpc>
                <a:spcPct val="100000"/>
              </a:lnSpc>
              <a:spcBef>
                <a:spcPts val="0"/>
              </a:spcBef>
              <a:spcAft>
                <a:spcPts val="0"/>
              </a:spcAft>
              <a:buClr>
                <a:srgbClr val="888888"/>
              </a:buClr>
              <a:buSzPts val="300"/>
              <a:buFont typeface="Arial" panose="020B0604020202020204"/>
              <a:buNone/>
              <a:defRPr/>
            </a:lvl5pPr>
            <a:lvl6pPr marL="0" marR="0" lvl="5" indent="0" algn="r" rtl="0">
              <a:lnSpc>
                <a:spcPct val="100000"/>
              </a:lnSpc>
              <a:spcBef>
                <a:spcPts val="0"/>
              </a:spcBef>
              <a:spcAft>
                <a:spcPts val="0"/>
              </a:spcAft>
              <a:buClr>
                <a:srgbClr val="888888"/>
              </a:buClr>
              <a:buSzPts val="300"/>
              <a:buFont typeface="Arial" panose="020B0604020202020204"/>
              <a:buNone/>
              <a:defRPr/>
            </a:lvl6pPr>
            <a:lvl7pPr marL="0" marR="0" lvl="6" indent="0" algn="r" rtl="0">
              <a:lnSpc>
                <a:spcPct val="100000"/>
              </a:lnSpc>
              <a:spcBef>
                <a:spcPts val="0"/>
              </a:spcBef>
              <a:spcAft>
                <a:spcPts val="0"/>
              </a:spcAft>
              <a:buClr>
                <a:srgbClr val="888888"/>
              </a:buClr>
              <a:buSzPts val="300"/>
              <a:buFont typeface="Arial" panose="020B0604020202020204"/>
              <a:buNone/>
              <a:defRPr/>
            </a:lvl7pPr>
            <a:lvl8pPr marL="0" marR="0" lvl="7" indent="0" algn="r" rtl="0">
              <a:lnSpc>
                <a:spcPct val="100000"/>
              </a:lnSpc>
              <a:spcBef>
                <a:spcPts val="0"/>
              </a:spcBef>
              <a:spcAft>
                <a:spcPts val="0"/>
              </a:spcAft>
              <a:buClr>
                <a:srgbClr val="888888"/>
              </a:buClr>
              <a:buSzPts val="300"/>
              <a:buFont typeface="Arial" panose="020B0604020202020204"/>
              <a:buNone/>
              <a:defRPr/>
            </a:lvl8pPr>
            <a:lvl9pPr marL="0" marR="0" lvl="8" indent="0" algn="r" rtl="0">
              <a:lnSpc>
                <a:spcPct val="100000"/>
              </a:lnSpc>
              <a:spcBef>
                <a:spcPts val="0"/>
              </a:spcBef>
              <a:spcAft>
                <a:spcPts val="0"/>
              </a:spcAft>
              <a:buClr>
                <a:srgbClr val="888888"/>
              </a:buClr>
              <a:buSzPts val="300"/>
              <a:buFont typeface="Arial" panose="020B0604020202020204"/>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0" matchingName="目录">
  <p:cSld name="TITLE_AND_BODY">
    <p:spTree>
      <p:nvGrpSpPr>
        <p:cNvPr id="238" name="Shape 238"/>
        <p:cNvGrpSpPr/>
        <p:nvPr/>
      </p:nvGrpSpPr>
      <p:grpSpPr>
        <a:xfrm>
          <a:off x="0" y="0"/>
          <a:ext cx="0" cy="0"/>
          <a:chOff x="0" y="0"/>
          <a:chExt cx="0" cy="0"/>
        </a:xfrm>
      </p:grpSpPr>
      <p:sp>
        <p:nvSpPr>
          <p:cNvPr id="239" name="Google Shape;239;p37"/>
          <p:cNvSpPr txBox="1"/>
          <p:nvPr>
            <p:ph type="title"/>
          </p:nvPr>
        </p:nvSpPr>
        <p:spPr>
          <a:xfrm>
            <a:off x="1380079" y="2226267"/>
            <a:ext cx="5277000" cy="1516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639C"/>
              </a:buClr>
              <a:buSzPts val="7000"/>
              <a:buFont typeface="Arial" panose="020B0604020202020204"/>
              <a:buNone/>
              <a:defRPr sz="7000" b="0" i="0" u="none" strike="noStrike" cap="none">
                <a:solidFill>
                  <a:srgbClr val="03639C"/>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240" name="Google Shape;240;p37"/>
          <p:cNvSpPr txBox="1"/>
          <p:nvPr>
            <p:ph type="sldNum" idx="12"/>
          </p:nvPr>
        </p:nvSpPr>
        <p:spPr>
          <a:xfrm>
            <a:off x="5970682" y="6502072"/>
            <a:ext cx="253500" cy="244200"/>
          </a:xfrm>
          <a:prstGeom prst="rect">
            <a:avLst/>
          </a:prstGeom>
          <a:noFill/>
          <a:ln>
            <a:noFill/>
          </a:ln>
        </p:spPr>
        <p:txBody>
          <a:bodyPr spcFirstLastPara="1" wrap="square" lIns="35650" tIns="35650" rIns="35650" bIns="35650" anchor="t" anchorCtr="0">
            <a:noAutofit/>
          </a:bodyPr>
          <a:lstStyle>
            <a:lvl1pPr marL="0" lvl="0"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1pPr>
            <a:lvl2pPr marL="0" lvl="1"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2pPr>
            <a:lvl3pPr marL="0" lvl="2"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3pPr>
            <a:lvl4pPr marL="0" lvl="3"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4pPr>
            <a:lvl5pPr marL="0" lvl="4"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5pPr>
            <a:lvl6pPr marL="0" lvl="5"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6pPr>
            <a:lvl7pPr marL="0" lvl="6"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7pPr>
            <a:lvl8pPr marL="0" lvl="7"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8pPr>
            <a:lvl9pPr marL="0" lvl="8" indent="0" algn="r" rtl="0">
              <a:lnSpc>
                <a:spcPct val="100000"/>
              </a:lnSpc>
              <a:spcBef>
                <a:spcPts val="0"/>
              </a:spcBef>
              <a:spcAft>
                <a:spcPts val="0"/>
              </a:spcAft>
              <a:buSzPts val="300"/>
              <a:buNone/>
              <a:defRPr>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sz="1200" b="0" i="0" u="none" strike="noStrike" cap="none">
              <a:solidFill>
                <a:srgbClr val="888888"/>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94" name="Shape 94"/>
        <p:cNvGrpSpPr/>
        <p:nvPr/>
      </p:nvGrpSpPr>
      <p:grpSpPr>
        <a:xfrm>
          <a:off x="0" y="0"/>
          <a:ext cx="0" cy="0"/>
          <a:chOff x="0" y="0"/>
          <a:chExt cx="0" cy="0"/>
        </a:xfrm>
      </p:grpSpPr>
      <p:sp>
        <p:nvSpPr>
          <p:cNvPr id="95" name="Google Shape;95;p14"/>
          <p:cNvSpPr txBox="1"/>
          <p:nvPr>
            <p:ph type="ctrTitle"/>
          </p:nvPr>
        </p:nvSpPr>
        <p:spPr>
          <a:xfrm>
            <a:off x="1524000" y="1122363"/>
            <a:ext cx="9144000" cy="23877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panose="020F0502020204030204"/>
              <a:buNone/>
              <a:defRPr sz="59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96" name="Google Shape;96;p14"/>
          <p:cNvSpPr txBox="1"/>
          <p:nvPr>
            <p:ph type="subTitle" idx="1"/>
          </p:nvPr>
        </p:nvSpPr>
        <p:spPr>
          <a:xfrm>
            <a:off x="1524000" y="3602038"/>
            <a:ext cx="9144000" cy="1655700"/>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7" name="Google Shape;97;p14"/>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8" name="Google Shape;98;p14"/>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9" name="Google Shape;99;p14"/>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pic>
        <p:nvPicPr>
          <p:cNvPr id="100" name="Google Shape;100;p14" descr="Logo1.png"/>
          <p:cNvPicPr preferRelativeResize="0"/>
          <p:nvPr/>
        </p:nvPicPr>
        <p:blipFill rotWithShape="1">
          <a:blip r:embed="rId2"/>
          <a:srcRect/>
          <a:stretch>
            <a:fillRect/>
          </a:stretch>
        </p:blipFill>
        <p:spPr>
          <a:xfrm>
            <a:off x="10644266" y="398463"/>
            <a:ext cx="1097406" cy="3492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01" name="Shape 101"/>
        <p:cNvGrpSpPr/>
        <p:nvPr/>
      </p:nvGrpSpPr>
      <p:grpSpPr>
        <a:xfrm>
          <a:off x="0" y="0"/>
          <a:ext cx="0" cy="0"/>
          <a:chOff x="0" y="0"/>
          <a:chExt cx="0" cy="0"/>
        </a:xfrm>
      </p:grpSpPr>
      <p:sp>
        <p:nvSpPr>
          <p:cNvPr id="102" name="Google Shape;102;p15"/>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3" name="Google Shape;103;p15"/>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 name="Google Shape;104;p15"/>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pic>
        <p:nvPicPr>
          <p:cNvPr id="105" name="Google Shape;105;p15" descr="Logo1.png"/>
          <p:cNvPicPr preferRelativeResize="0"/>
          <p:nvPr/>
        </p:nvPicPr>
        <p:blipFill rotWithShape="1">
          <a:blip r:embed="rId2"/>
          <a:srcRect/>
          <a:stretch>
            <a:fillRect/>
          </a:stretch>
        </p:blipFill>
        <p:spPr>
          <a:xfrm>
            <a:off x="10804525" y="405073"/>
            <a:ext cx="1097406" cy="3492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06" name="Shape 106"/>
        <p:cNvGrpSpPr/>
        <p:nvPr/>
      </p:nvGrpSpPr>
      <p:grpSpPr>
        <a:xfrm>
          <a:off x="0" y="0"/>
          <a:ext cx="0" cy="0"/>
          <a:chOff x="0" y="0"/>
          <a:chExt cx="0" cy="0"/>
        </a:xfrm>
      </p:grpSpPr>
      <p:sp>
        <p:nvSpPr>
          <p:cNvPr id="107" name="Google Shape;107;p16"/>
          <p:cNvSpPr txBox="1"/>
          <p:nvPr>
            <p:ph type="title"/>
          </p:nvPr>
        </p:nvSpPr>
        <p:spPr>
          <a:xfrm>
            <a:off x="838200"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08" name="Google Shape;108;p16"/>
          <p:cNvSpPr txBox="1"/>
          <p:nvPr>
            <p:ph type="body" idx="1"/>
          </p:nvPr>
        </p:nvSpPr>
        <p:spPr>
          <a:xfrm>
            <a:off x="838200" y="1825625"/>
            <a:ext cx="10515600" cy="4351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9" name="Google Shape;109;p16"/>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0" name="Google Shape;110;p16"/>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1" name="Google Shape;111;p16"/>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12" name="Shape 112"/>
        <p:cNvGrpSpPr/>
        <p:nvPr/>
      </p:nvGrpSpPr>
      <p:grpSpPr>
        <a:xfrm>
          <a:off x="0" y="0"/>
          <a:ext cx="0" cy="0"/>
          <a:chOff x="0" y="0"/>
          <a:chExt cx="0" cy="0"/>
        </a:xfrm>
      </p:grpSpPr>
      <p:sp>
        <p:nvSpPr>
          <p:cNvPr id="113" name="Google Shape;113;p17"/>
          <p:cNvSpPr txBox="1"/>
          <p:nvPr>
            <p:ph type="title"/>
          </p:nvPr>
        </p:nvSpPr>
        <p:spPr>
          <a:xfrm>
            <a:off x="831850" y="1709739"/>
            <a:ext cx="10515600" cy="28527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panose="020F0502020204030204"/>
              <a:buNone/>
              <a:defRPr sz="59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4" name="Google Shape;114;p17"/>
          <p:cNvSpPr txBox="1"/>
          <p:nvPr>
            <p:ph type="body" idx="1"/>
          </p:nvPr>
        </p:nvSpPr>
        <p:spPr>
          <a:xfrm>
            <a:off x="831850" y="4589464"/>
            <a:ext cx="10515600" cy="15003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panose="020B0604020202020204"/>
              <a:buNone/>
              <a:defRPr sz="24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rgbClr val="888888"/>
              </a:buClr>
              <a:buSzPts val="2000"/>
              <a:buFont typeface="Arial" panose="020B0604020202020204"/>
              <a:buNone/>
              <a:defRPr sz="20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rgbClr val="888888"/>
              </a:buClr>
              <a:buSzPts val="1800"/>
              <a:buFont typeface="Arial" panose="020B0604020202020204"/>
              <a:buNone/>
              <a:defRPr sz="18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rgbClr val="888888"/>
              </a:buClr>
              <a:buSzPts val="1600"/>
              <a:buFont typeface="Arial" panose="020B0604020202020204"/>
              <a:buNone/>
              <a:defRPr sz="1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p:txBody>
      </p:sp>
      <p:sp>
        <p:nvSpPr>
          <p:cNvPr id="115" name="Google Shape;115;p17"/>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6" name="Google Shape;116;p17"/>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17" name="Google Shape;117;p17"/>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18" name="Shape 118"/>
        <p:cNvGrpSpPr/>
        <p:nvPr/>
      </p:nvGrpSpPr>
      <p:grpSpPr>
        <a:xfrm>
          <a:off x="0" y="0"/>
          <a:ext cx="0" cy="0"/>
          <a:chOff x="0" y="0"/>
          <a:chExt cx="0" cy="0"/>
        </a:xfrm>
      </p:grpSpPr>
      <p:sp>
        <p:nvSpPr>
          <p:cNvPr id="119" name="Google Shape;119;p18"/>
          <p:cNvSpPr txBox="1"/>
          <p:nvPr>
            <p:ph type="title"/>
          </p:nvPr>
        </p:nvSpPr>
        <p:spPr>
          <a:xfrm>
            <a:off x="838200"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20" name="Google Shape;120;p18"/>
          <p:cNvSpPr txBox="1"/>
          <p:nvPr>
            <p:ph type="body" idx="1"/>
          </p:nvPr>
        </p:nvSpPr>
        <p:spPr>
          <a:xfrm>
            <a:off x="838200" y="1825625"/>
            <a:ext cx="5181600" cy="4351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1" name="Google Shape;121;p18"/>
          <p:cNvSpPr txBox="1"/>
          <p:nvPr>
            <p:ph type="body" idx="2"/>
          </p:nvPr>
        </p:nvSpPr>
        <p:spPr>
          <a:xfrm>
            <a:off x="6172199" y="1825625"/>
            <a:ext cx="5181600" cy="4351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2" name="Google Shape;122;p18"/>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3" name="Google Shape;123;p18"/>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4" name="Google Shape;124;p18"/>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25" name="Shape 125"/>
        <p:cNvGrpSpPr/>
        <p:nvPr/>
      </p:nvGrpSpPr>
      <p:grpSpPr>
        <a:xfrm>
          <a:off x="0" y="0"/>
          <a:ext cx="0" cy="0"/>
          <a:chOff x="0" y="0"/>
          <a:chExt cx="0" cy="0"/>
        </a:xfrm>
      </p:grpSpPr>
      <p:sp>
        <p:nvSpPr>
          <p:cNvPr id="126" name="Google Shape;126;p19"/>
          <p:cNvSpPr txBox="1"/>
          <p:nvPr>
            <p:ph type="title"/>
          </p:nvPr>
        </p:nvSpPr>
        <p:spPr>
          <a:xfrm>
            <a:off x="839788"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27" name="Google Shape;127;p19"/>
          <p:cNvSpPr txBox="1"/>
          <p:nvPr>
            <p:ph type="body" idx="1"/>
          </p:nvPr>
        </p:nvSpPr>
        <p:spPr>
          <a:xfrm>
            <a:off x="839789" y="1681163"/>
            <a:ext cx="5157900" cy="8238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panose="020B0604020202020204"/>
              <a:buNone/>
              <a:defRPr sz="24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8" name="Google Shape;128;p19"/>
          <p:cNvSpPr txBox="1"/>
          <p:nvPr>
            <p:ph type="body" idx="2"/>
          </p:nvPr>
        </p:nvSpPr>
        <p:spPr>
          <a:xfrm>
            <a:off x="839789" y="2505075"/>
            <a:ext cx="5157900" cy="3684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9" name="Google Shape;129;p19"/>
          <p:cNvSpPr txBox="1"/>
          <p:nvPr>
            <p:ph type="body" idx="3"/>
          </p:nvPr>
        </p:nvSpPr>
        <p:spPr>
          <a:xfrm>
            <a:off x="6172200" y="1681163"/>
            <a:ext cx="5183100" cy="8238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panose="020B0604020202020204"/>
              <a:buNone/>
              <a:defRPr sz="24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000"/>
              <a:buFont typeface="Arial" panose="020B0604020202020204"/>
              <a:buNone/>
              <a:defRPr sz="20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800"/>
              <a:buFont typeface="Arial" panose="020B0604020202020204"/>
              <a:buNone/>
              <a:defRPr sz="18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600"/>
              <a:buFont typeface="Arial" panose="020B0604020202020204"/>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0" name="Google Shape;130;p19"/>
          <p:cNvSpPr txBox="1"/>
          <p:nvPr>
            <p:ph type="body" idx="4"/>
          </p:nvPr>
        </p:nvSpPr>
        <p:spPr>
          <a:xfrm>
            <a:off x="6172200" y="2505075"/>
            <a:ext cx="5183100" cy="3684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1" name="Google Shape;131;p19"/>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2" name="Google Shape;132;p19"/>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3" name="Google Shape;133;p19"/>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34" name="Shape 134"/>
        <p:cNvGrpSpPr/>
        <p:nvPr/>
      </p:nvGrpSpPr>
      <p:grpSpPr>
        <a:xfrm>
          <a:off x="0" y="0"/>
          <a:ext cx="0" cy="0"/>
          <a:chOff x="0" y="0"/>
          <a:chExt cx="0" cy="0"/>
        </a:xfrm>
      </p:grpSpPr>
      <p:sp>
        <p:nvSpPr>
          <p:cNvPr id="135" name="Google Shape;135;p20"/>
          <p:cNvSpPr txBox="1"/>
          <p:nvPr>
            <p:ph type="title"/>
          </p:nvPr>
        </p:nvSpPr>
        <p:spPr>
          <a:xfrm>
            <a:off x="838200"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36" name="Google Shape;136;p20"/>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7" name="Google Shape;137;p20"/>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8" name="Google Shape;138;p20"/>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39" name="Shape 139"/>
        <p:cNvGrpSpPr/>
        <p:nvPr/>
      </p:nvGrpSpPr>
      <p:grpSpPr>
        <a:xfrm>
          <a:off x="0" y="0"/>
          <a:ext cx="0" cy="0"/>
          <a:chOff x="0" y="0"/>
          <a:chExt cx="0" cy="0"/>
        </a:xfrm>
      </p:grpSpPr>
      <p:sp>
        <p:nvSpPr>
          <p:cNvPr id="140" name="Google Shape;140;p21"/>
          <p:cNvSpPr txBox="1"/>
          <p:nvPr>
            <p:ph type="title"/>
          </p:nvPr>
        </p:nvSpPr>
        <p:spPr>
          <a:xfrm>
            <a:off x="839789" y="457200"/>
            <a:ext cx="3932100"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panose="020F0502020204030204"/>
              <a:buNone/>
              <a:defRPr sz="31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41" name="Google Shape;141;p21"/>
          <p:cNvSpPr txBox="1"/>
          <p:nvPr>
            <p:ph type="body" idx="1"/>
          </p:nvPr>
        </p:nvSpPr>
        <p:spPr>
          <a:xfrm>
            <a:off x="5183188" y="987426"/>
            <a:ext cx="6172200" cy="4873500"/>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panose="020B0604020202020204"/>
              <a:buChar char="•"/>
              <a:defRPr sz="31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90000"/>
              </a:lnSpc>
              <a:spcBef>
                <a:spcPts val="5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2" name="Google Shape;142;p21"/>
          <p:cNvSpPr txBox="1"/>
          <p:nvPr>
            <p:ph type="body" idx="2"/>
          </p:nvPr>
        </p:nvSpPr>
        <p:spPr>
          <a:xfrm>
            <a:off x="839789" y="2057400"/>
            <a:ext cx="3932100" cy="38115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3" name="Google Shape;143;p21"/>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4" name="Google Shape;144;p21"/>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5" name="Google Shape;145;p21"/>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46" name="Shape 146"/>
        <p:cNvGrpSpPr/>
        <p:nvPr/>
      </p:nvGrpSpPr>
      <p:grpSpPr>
        <a:xfrm>
          <a:off x="0" y="0"/>
          <a:ext cx="0" cy="0"/>
          <a:chOff x="0" y="0"/>
          <a:chExt cx="0" cy="0"/>
        </a:xfrm>
      </p:grpSpPr>
      <p:sp>
        <p:nvSpPr>
          <p:cNvPr id="147" name="Google Shape;147;p22"/>
          <p:cNvSpPr txBox="1"/>
          <p:nvPr>
            <p:ph type="title"/>
          </p:nvPr>
        </p:nvSpPr>
        <p:spPr>
          <a:xfrm>
            <a:off x="839789" y="457200"/>
            <a:ext cx="3932100"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panose="020F0502020204030204"/>
              <a:buNone/>
              <a:defRPr sz="31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48" name="Google Shape;148;p22"/>
          <p:cNvSpPr/>
          <p:nvPr>
            <p:ph type="pic" idx="2"/>
          </p:nvPr>
        </p:nvSpPr>
        <p:spPr>
          <a:xfrm>
            <a:off x="5183188" y="987426"/>
            <a:ext cx="6172200" cy="48735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panose="020B0604020202020204"/>
              <a:buNone/>
              <a:defRPr sz="31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800"/>
              <a:buFont typeface="Arial" panose="020B0604020202020204"/>
              <a:buNone/>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9" name="Google Shape;149;p22"/>
          <p:cNvSpPr txBox="1"/>
          <p:nvPr>
            <p:ph type="body" idx="1"/>
          </p:nvPr>
        </p:nvSpPr>
        <p:spPr>
          <a:xfrm>
            <a:off x="839789" y="2057400"/>
            <a:ext cx="3932100" cy="38115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panose="020B0604020202020204"/>
              <a:buNone/>
              <a:defRPr sz="1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14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90000"/>
              </a:lnSpc>
              <a:spcBef>
                <a:spcPts val="500"/>
              </a:spcBef>
              <a:spcAft>
                <a:spcPts val="0"/>
              </a:spcAft>
              <a:buClr>
                <a:schemeClr val="dk1"/>
              </a:buClr>
              <a:buSzPts val="12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90000"/>
              </a:lnSpc>
              <a:spcBef>
                <a:spcPts val="500"/>
              </a:spcBef>
              <a:spcAft>
                <a:spcPts val="0"/>
              </a:spcAft>
              <a:buClr>
                <a:schemeClr val="dk1"/>
              </a:buClr>
              <a:buSzPts val="1000"/>
              <a:buFont typeface="Arial" panose="020B0604020202020204"/>
              <a:buNone/>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0" name="Google Shape;150;p22"/>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1" name="Google Shape;151;p22"/>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2" name="Google Shape;152;p22"/>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53" name="Shape 153"/>
        <p:cNvGrpSpPr/>
        <p:nvPr/>
      </p:nvGrpSpPr>
      <p:grpSpPr>
        <a:xfrm>
          <a:off x="0" y="0"/>
          <a:ext cx="0" cy="0"/>
          <a:chOff x="0" y="0"/>
          <a:chExt cx="0" cy="0"/>
        </a:xfrm>
      </p:grpSpPr>
      <p:sp>
        <p:nvSpPr>
          <p:cNvPr id="154" name="Google Shape;154;p23"/>
          <p:cNvSpPr txBox="1"/>
          <p:nvPr>
            <p:ph type="title"/>
          </p:nvPr>
        </p:nvSpPr>
        <p:spPr>
          <a:xfrm>
            <a:off x="838200"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55" name="Google Shape;155;p23"/>
          <p:cNvSpPr txBox="1"/>
          <p:nvPr>
            <p:ph type="body" idx="1"/>
          </p:nvPr>
        </p:nvSpPr>
        <p:spPr>
          <a:xfrm rot="5400000">
            <a:off x="3920400" y="-1256575"/>
            <a:ext cx="4351200"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6" name="Google Shape;156;p23"/>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7" name="Google Shape;157;p23"/>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58" name="Google Shape;158;p23"/>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59" name="Shape 159"/>
        <p:cNvGrpSpPr/>
        <p:nvPr/>
      </p:nvGrpSpPr>
      <p:grpSpPr>
        <a:xfrm>
          <a:off x="0" y="0"/>
          <a:ext cx="0" cy="0"/>
          <a:chOff x="0" y="0"/>
          <a:chExt cx="0" cy="0"/>
        </a:xfrm>
      </p:grpSpPr>
      <p:sp>
        <p:nvSpPr>
          <p:cNvPr id="160" name="Google Shape;160;p24"/>
          <p:cNvSpPr txBox="1"/>
          <p:nvPr>
            <p:ph type="title"/>
          </p:nvPr>
        </p:nvSpPr>
        <p:spPr>
          <a:xfrm rot="5400000">
            <a:off x="7133400" y="1956625"/>
            <a:ext cx="5811900"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3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61" name="Google Shape;161;p24"/>
          <p:cNvSpPr txBox="1"/>
          <p:nvPr>
            <p:ph type="body" idx="1"/>
          </p:nvPr>
        </p:nvSpPr>
        <p:spPr>
          <a:xfrm rot="5400000">
            <a:off x="1799400" y="-596075"/>
            <a:ext cx="5811900"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795"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2" name="Google Shape;162;p24"/>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3" name="Google Shape;163;p24"/>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64" name="Google Shape;164;p24"/>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65" name="Shape 165"/>
        <p:cNvGrpSpPr/>
        <p:nvPr/>
      </p:nvGrpSpPr>
      <p:grpSpPr>
        <a:xfrm>
          <a:off x="0" y="0"/>
          <a:ext cx="0" cy="0"/>
          <a:chOff x="0" y="0"/>
          <a:chExt cx="0" cy="0"/>
        </a:xfrm>
      </p:grpSpPr>
      <p:pic>
        <p:nvPicPr>
          <p:cNvPr id="166" name="Google Shape;166;p25"/>
          <p:cNvPicPr preferRelativeResize="0"/>
          <p:nvPr/>
        </p:nvPicPr>
        <p:blipFill rotWithShape="1">
          <a:blip r:embed="rId13"/>
          <a:srcRect/>
          <a:stretch>
            <a:fillRect/>
          </a:stretch>
        </p:blipFill>
        <p:spPr>
          <a:xfrm>
            <a:off x="-6559" y="508551"/>
            <a:ext cx="11100290" cy="828670"/>
          </a:xfrm>
          <a:prstGeom prst="rect">
            <a:avLst/>
          </a:prstGeom>
          <a:noFill/>
          <a:ln>
            <a:noFill/>
          </a:ln>
        </p:spPr>
      </p:pic>
      <p:sp>
        <p:nvSpPr>
          <p:cNvPr id="167" name="Google Shape;167;p25"/>
          <p:cNvSpPr txBox="1"/>
          <p:nvPr>
            <p:ph type="sldNum" idx="12"/>
          </p:nvPr>
        </p:nvSpPr>
        <p:spPr>
          <a:xfrm>
            <a:off x="5964637" y="6502072"/>
            <a:ext cx="259500" cy="256800"/>
          </a:xfrm>
          <a:prstGeom prst="rect">
            <a:avLst/>
          </a:prstGeom>
          <a:noFill/>
          <a:ln>
            <a:noFill/>
          </a:ln>
        </p:spPr>
        <p:txBody>
          <a:bodyPr spcFirstLastPara="1" wrap="square" lIns="35675" tIns="35675" rIns="35675" bIns="35675" anchor="t" anchorCtr="0">
            <a:noAutofit/>
          </a:bodyPr>
          <a:lstStyle>
            <a:lvl1pPr marL="0" marR="0" lvl="0"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888888"/>
              </a:buClr>
              <a:buSzPts val="3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
        <p:nvSpPr>
          <p:cNvPr id="168" name="Google Shape;168;p25"/>
          <p:cNvSpPr txBox="1"/>
          <p:nvPr/>
        </p:nvSpPr>
        <p:spPr>
          <a:xfrm>
            <a:off x="8951495" y="6271239"/>
            <a:ext cx="3090900" cy="461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zh-CN" sz="2400" b="1" i="0" u="none" strike="noStrike" cap="none">
                <a:solidFill>
                  <a:schemeClr val="accent2"/>
                </a:solidFill>
                <a:latin typeface="Arial" panose="020B0604020202020204"/>
                <a:ea typeface="Arial" panose="020B0604020202020204"/>
                <a:cs typeface="Arial" panose="020B0604020202020204"/>
                <a:sym typeface="Arial" panose="020B0604020202020204"/>
              </a:rPr>
              <a:t>C</a:t>
            </a:r>
            <a:r>
              <a:rPr lang="zh-CN" sz="1800" b="0" i="0" u="none" strike="noStrike" cap="none">
                <a:solidFill>
                  <a:srgbClr val="7F7F7F"/>
                </a:solidFill>
                <a:latin typeface="Arial" panose="020B0604020202020204"/>
                <a:ea typeface="Arial" panose="020B0604020202020204"/>
                <a:cs typeface="Arial" panose="020B0604020202020204"/>
                <a:sym typeface="Arial" panose="020B0604020202020204"/>
              </a:rPr>
              <a:t>heetah</a:t>
            </a:r>
            <a:r>
              <a:rPr lang="zh-CN" sz="18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zh-CN" sz="2400" b="1" i="0" u="none" strike="noStrike" cap="none">
                <a:solidFill>
                  <a:schemeClr val="accent2"/>
                </a:solidFill>
                <a:latin typeface="Arial" panose="020B0604020202020204"/>
                <a:ea typeface="Arial" panose="020B0604020202020204"/>
                <a:cs typeface="Arial" panose="020B0604020202020204"/>
                <a:sym typeface="Arial" panose="020B0604020202020204"/>
              </a:rPr>
              <a:t>A</a:t>
            </a:r>
            <a:r>
              <a:rPr lang="zh-CN" sz="1800" b="0" i="0" u="none" strike="noStrike" cap="none">
                <a:solidFill>
                  <a:srgbClr val="7F7F7F"/>
                </a:solidFill>
                <a:latin typeface="Arial" panose="020B0604020202020204"/>
                <a:ea typeface="Arial" panose="020B0604020202020204"/>
                <a:cs typeface="Arial" panose="020B0604020202020204"/>
                <a:sym typeface="Arial" panose="020B0604020202020204"/>
              </a:rPr>
              <a:t>udience</a:t>
            </a:r>
            <a:r>
              <a:rPr lang="zh-CN" sz="18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zh-CN" sz="2400" b="1" i="0" u="none" strike="noStrike" cap="none">
                <a:solidFill>
                  <a:schemeClr val="accent2"/>
                </a:solidFill>
                <a:latin typeface="Arial" panose="020B0604020202020204"/>
                <a:ea typeface="Arial" panose="020B0604020202020204"/>
                <a:cs typeface="Arial" panose="020B0604020202020204"/>
                <a:sym typeface="Arial" panose="020B0604020202020204"/>
              </a:rPr>
              <a:t>N</a:t>
            </a:r>
            <a:r>
              <a:rPr lang="zh-CN" sz="1800" b="0" i="0" u="none" strike="noStrike" cap="none">
                <a:solidFill>
                  <a:srgbClr val="7F7F7F"/>
                </a:solidFill>
                <a:latin typeface="Arial" panose="020B0604020202020204"/>
                <a:ea typeface="Arial" panose="020B0604020202020204"/>
                <a:cs typeface="Arial" panose="020B0604020202020204"/>
                <a:sym typeface="Arial" panose="020B0604020202020204"/>
              </a:rPr>
              <a:t>etwork</a:t>
            </a:r>
            <a:endParaRPr sz="1800" b="0" i="0" u="none" strike="noStrike" cap="none">
              <a:solidFill>
                <a:srgbClr val="7F7F7F"/>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7" name="Shape 87"/>
        <p:cNvGrpSpPr/>
        <p:nvPr/>
      </p:nvGrpSpPr>
      <p:grpSpPr>
        <a:xfrm>
          <a:off x="0" y="0"/>
          <a:ext cx="0" cy="0"/>
          <a:chOff x="0" y="0"/>
          <a:chExt cx="0" cy="0"/>
        </a:xfrm>
      </p:grpSpPr>
      <p:sp>
        <p:nvSpPr>
          <p:cNvPr id="88" name="Google Shape;88;p13"/>
          <p:cNvSpPr txBox="1"/>
          <p:nvPr>
            <p:ph type="title"/>
          </p:nvPr>
        </p:nvSpPr>
        <p:spPr>
          <a:xfrm>
            <a:off x="838200" y="365126"/>
            <a:ext cx="10515600" cy="13257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9" name="Google Shape;89;p13"/>
          <p:cNvSpPr txBox="1"/>
          <p:nvPr>
            <p:ph type="body" idx="1"/>
          </p:nvPr>
        </p:nvSpPr>
        <p:spPr>
          <a:xfrm>
            <a:off x="838200" y="1825625"/>
            <a:ext cx="10515600" cy="4351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0" name="Google Shape;90;p13"/>
          <p:cNvSpPr txBox="1"/>
          <p:nvPr>
            <p:ph type="dt" idx="10"/>
          </p:nvPr>
        </p:nvSpPr>
        <p:spPr>
          <a:xfrm>
            <a:off x="838200" y="6356351"/>
            <a:ext cx="2743200" cy="3651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1" name="Google Shape;91;p13"/>
          <p:cNvSpPr txBox="1"/>
          <p:nvPr>
            <p:ph type="ftr" idx="11"/>
          </p:nvPr>
        </p:nvSpPr>
        <p:spPr>
          <a:xfrm>
            <a:off x="4038600" y="6356351"/>
            <a:ext cx="4114800" cy="3651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888888"/>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2" name="Google Shape;92;p13"/>
          <p:cNvSpPr txBox="1"/>
          <p:nvPr>
            <p:ph type="sldNum" idx="12"/>
          </p:nvPr>
        </p:nvSpPr>
        <p:spPr>
          <a:xfrm>
            <a:off x="8610599"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88888"/>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zh-CN"/>
            </a:fld>
            <a:endParaRPr lang="zh-CN"/>
          </a:p>
        </p:txBody>
      </p:sp>
      <p:pic>
        <p:nvPicPr>
          <p:cNvPr id="93" name="Google Shape;93;p13"/>
          <p:cNvPicPr preferRelativeResize="0"/>
          <p:nvPr/>
        </p:nvPicPr>
        <p:blipFill rotWithShape="1">
          <a:blip r:embed="rId12"/>
          <a:srcRect/>
          <a:stretch>
            <a:fillRect/>
          </a:stretch>
        </p:blipFill>
        <p:spPr>
          <a:xfrm>
            <a:off x="0" y="-1"/>
            <a:ext cx="12192000" cy="689201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3.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3.xml"/><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3.xml"/><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3.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3.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61.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67"/>
          <p:cNvSpPr/>
          <p:nvPr/>
        </p:nvSpPr>
        <p:spPr>
          <a:xfrm>
            <a:off x="-11150" y="26916"/>
            <a:ext cx="12192000" cy="6858000"/>
          </a:xfrm>
          <a:prstGeom prst="rect">
            <a:avLst/>
          </a:prstGeom>
          <a:solidFill>
            <a:srgbClr val="F2F2F2"/>
          </a:solidFill>
          <a:ln w="25400" cap="flat" cmpd="sng">
            <a:solidFill>
              <a:srgbClr val="E6E6E6"/>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5" name="Google Shape;605;p67"/>
          <p:cNvSpPr txBox="1"/>
          <p:nvPr/>
        </p:nvSpPr>
        <p:spPr>
          <a:xfrm>
            <a:off x="-11205" y="1723581"/>
            <a:ext cx="7721100" cy="707700"/>
          </a:xfrm>
          <a:prstGeom prst="rect">
            <a:avLst/>
          </a:prstGeom>
          <a:noFill/>
          <a:ln>
            <a:noFill/>
          </a:ln>
        </p:spPr>
        <p:txBody>
          <a:bodyPr spcFirstLastPara="1" wrap="square" lIns="45675" tIns="45675" rIns="45675" bIns="45675" anchor="b" anchorCtr="0">
            <a:noAutofit/>
          </a:bodyPr>
          <a:lstStyle/>
          <a:p>
            <a:pPr marL="0" marR="0" lvl="0" indent="0" algn="l" rtl="0">
              <a:spcBef>
                <a:spcPts val="0"/>
              </a:spcBef>
              <a:spcAft>
                <a:spcPts val="0"/>
              </a:spcAft>
              <a:buNone/>
            </a:pPr>
            <a:r>
              <a:rPr lang="en-US" altLang="zh-CN" sz="4000" b="1">
                <a:latin typeface="+mj-ea"/>
                <a:ea typeface="+mj-ea"/>
                <a:sym typeface="+mn-ea"/>
              </a:rPr>
              <a:t>Facebook</a:t>
            </a:r>
            <a:r>
              <a:rPr lang="zh-CN" altLang="en-US" sz="4000" b="1">
                <a:latin typeface="+mj-ea"/>
                <a:ea typeface="+mj-ea"/>
                <a:sym typeface="+mn-ea"/>
              </a:rPr>
              <a:t>广告违规案例</a:t>
            </a:r>
            <a:endParaRPr sz="4000" b="1" i="0" u="none" strike="noStrike" cap="non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7" name="Google Shape;607;p67"/>
          <p:cNvSpPr txBox="1"/>
          <p:nvPr/>
        </p:nvSpPr>
        <p:spPr>
          <a:xfrm>
            <a:off x="357829" y="6026005"/>
            <a:ext cx="2370000" cy="338400"/>
          </a:xfrm>
          <a:prstGeom prst="rect">
            <a:avLst/>
          </a:prstGeom>
          <a:noFill/>
          <a:ln>
            <a:noFill/>
          </a:ln>
        </p:spPr>
        <p:txBody>
          <a:bodyPr spcFirstLastPara="1" wrap="square" lIns="45675" tIns="45675" rIns="45675" bIns="45675" anchor="t" anchorCtr="0">
            <a:noAutofit/>
          </a:bodyPr>
          <a:lstStyle/>
          <a:p>
            <a:pPr marL="457200" lvl="0" indent="-330200" algn="l" rtl="0">
              <a:spcBef>
                <a:spcPts val="0"/>
              </a:spcBef>
              <a:spcAft>
                <a:spcPts val="0"/>
              </a:spcAft>
              <a:buClr>
                <a:srgbClr val="F26522"/>
              </a:buClr>
              <a:buSzPts val="1600"/>
              <a:buFont typeface="Helvetica Neue"/>
              <a:buChar char="■"/>
            </a:pPr>
            <a:endParaRPr lang="zh-CN">
              <a:solidFill>
                <a:schemeClr val="dk1"/>
              </a:solidFill>
            </a:endParaRPr>
          </a:p>
        </p:txBody>
      </p:sp>
      <p:cxnSp>
        <p:nvCxnSpPr>
          <p:cNvPr id="608" name="Google Shape;608;p67"/>
          <p:cNvCxnSpPr/>
          <p:nvPr/>
        </p:nvCxnSpPr>
        <p:spPr>
          <a:xfrm>
            <a:off x="8255999" y="0"/>
            <a:ext cx="3936000" cy="6831000"/>
          </a:xfrm>
          <a:prstGeom prst="straightConnector1">
            <a:avLst/>
          </a:prstGeom>
          <a:noFill/>
          <a:ln w="9525" cap="flat" cmpd="sng">
            <a:solidFill>
              <a:srgbClr val="323F4F"/>
            </a:solidFill>
            <a:prstDash val="solid"/>
            <a:round/>
            <a:headEnd type="none" w="sm" len="sm"/>
            <a:tailEnd type="none" w="sm" len="sm"/>
          </a:ln>
        </p:spPr>
      </p:cxnSp>
      <p:cxnSp>
        <p:nvCxnSpPr>
          <p:cNvPr id="609" name="Google Shape;609;p67"/>
          <p:cNvCxnSpPr/>
          <p:nvPr/>
        </p:nvCxnSpPr>
        <p:spPr>
          <a:xfrm flipH="1">
            <a:off x="4119783" y="27000"/>
            <a:ext cx="6747000" cy="6804000"/>
          </a:xfrm>
          <a:prstGeom prst="straightConnector1">
            <a:avLst/>
          </a:prstGeom>
          <a:noFill/>
          <a:ln w="9525" cap="flat" cmpd="sng">
            <a:solidFill>
              <a:srgbClr val="323F4F"/>
            </a:solidFill>
            <a:prstDash val="solid"/>
            <a:round/>
            <a:headEnd type="none" w="sm" len="sm"/>
            <a:tailEnd type="none" w="sm" len="sm"/>
          </a:ln>
        </p:spPr>
      </p:cxnSp>
      <p:cxnSp>
        <p:nvCxnSpPr>
          <p:cNvPr id="610" name="Google Shape;610;p67"/>
          <p:cNvCxnSpPr/>
          <p:nvPr/>
        </p:nvCxnSpPr>
        <p:spPr>
          <a:xfrm>
            <a:off x="1662194" y="26999"/>
            <a:ext cx="10529700" cy="4698000"/>
          </a:xfrm>
          <a:prstGeom prst="straightConnector1">
            <a:avLst/>
          </a:prstGeom>
          <a:noFill/>
          <a:ln w="9525" cap="flat" cmpd="sng">
            <a:solidFill>
              <a:srgbClr val="323F4F"/>
            </a:solidFill>
            <a:prstDash val="solid"/>
            <a:round/>
            <a:headEnd type="none" w="sm" len="sm"/>
            <a:tailEnd type="none" w="sm" len="sm"/>
          </a:ln>
        </p:spPr>
      </p:cxnSp>
      <p:cxnSp>
        <p:nvCxnSpPr>
          <p:cNvPr id="611" name="Google Shape;611;p67"/>
          <p:cNvCxnSpPr/>
          <p:nvPr/>
        </p:nvCxnSpPr>
        <p:spPr>
          <a:xfrm flipH="1">
            <a:off x="10055986" y="3983183"/>
            <a:ext cx="532500" cy="2847900"/>
          </a:xfrm>
          <a:prstGeom prst="straightConnector1">
            <a:avLst/>
          </a:prstGeom>
          <a:noFill/>
          <a:ln w="9525" cap="flat" cmpd="sng">
            <a:solidFill>
              <a:srgbClr val="323F4F"/>
            </a:solidFill>
            <a:prstDash val="solid"/>
            <a:round/>
            <a:headEnd type="none" w="sm" len="sm"/>
            <a:tailEnd type="none" w="sm" len="sm"/>
          </a:ln>
        </p:spPr>
      </p:cxnSp>
      <p:sp>
        <p:nvSpPr>
          <p:cNvPr id="612" name="Google Shape;612;p67"/>
          <p:cNvSpPr/>
          <p:nvPr/>
        </p:nvSpPr>
        <p:spPr>
          <a:xfrm rot="10800000" flipH="1">
            <a:off x="9192000" y="1651321"/>
            <a:ext cx="72000" cy="72000"/>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3" name="Google Shape;613;p67"/>
          <p:cNvSpPr/>
          <p:nvPr/>
        </p:nvSpPr>
        <p:spPr>
          <a:xfrm rot="8917620" flipH="1">
            <a:off x="7981441" y="2821469"/>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4" name="Google Shape;614;p67"/>
          <p:cNvSpPr/>
          <p:nvPr/>
        </p:nvSpPr>
        <p:spPr>
          <a:xfrm rot="8917620" flipH="1">
            <a:off x="10531520" y="3956092"/>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5" name="Google Shape;615;p67"/>
          <p:cNvSpPr/>
          <p:nvPr/>
        </p:nvSpPr>
        <p:spPr>
          <a:xfrm>
            <a:off x="9747778" y="27000"/>
            <a:ext cx="2370006" cy="2830518"/>
          </a:xfrm>
          <a:custGeom>
            <a:avLst/>
            <a:gdLst/>
            <a:ahLst/>
            <a:cxnLst/>
            <a:rect l="l" t="t" r="r" b="b"/>
            <a:pathLst>
              <a:path w="21600" h="21600" extrusionOk="0">
                <a:moveTo>
                  <a:pt x="0" y="21600"/>
                </a:moveTo>
                <a:lnTo>
                  <a:pt x="10231" y="0"/>
                </a:lnTo>
                <a:lnTo>
                  <a:pt x="21600" y="0"/>
                </a:lnTo>
                <a:lnTo>
                  <a:pt x="11369" y="2160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6" name="Google Shape;616;p67"/>
          <p:cNvSpPr/>
          <p:nvPr/>
        </p:nvSpPr>
        <p:spPr>
          <a:xfrm rot="-5400000">
            <a:off x="9666008" y="133204"/>
            <a:ext cx="2609982" cy="2370006"/>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7" name="Google Shape;617;p67"/>
          <p:cNvSpPr/>
          <p:nvPr/>
        </p:nvSpPr>
        <p:spPr>
          <a:xfrm rot="10800000">
            <a:off x="10631871" y="2268918"/>
            <a:ext cx="1526418" cy="1808082"/>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8" name="Google Shape;618;p67"/>
          <p:cNvSpPr/>
          <p:nvPr/>
        </p:nvSpPr>
        <p:spPr>
          <a:xfrm rot="8592263">
            <a:off x="9984137" y="2102997"/>
            <a:ext cx="1532651" cy="2692129"/>
          </a:xfrm>
          <a:custGeom>
            <a:avLst/>
            <a:gdLst/>
            <a:ahLst/>
            <a:cxnLst/>
            <a:rect l="l" t="t" r="r" b="b"/>
            <a:pathLst>
              <a:path w="21600" h="21600" extrusionOk="0">
                <a:moveTo>
                  <a:pt x="0" y="21600"/>
                </a:moveTo>
                <a:lnTo>
                  <a:pt x="21600" y="21600"/>
                </a:lnTo>
                <a:lnTo>
                  <a:pt x="0" y="0"/>
                </a:lnTo>
                <a:close/>
              </a:path>
            </a:pathLst>
          </a:custGeom>
          <a:solidFill>
            <a:srgbClr val="8296B0"/>
          </a:solidFill>
          <a:ln w="25400" cap="flat" cmpd="sng">
            <a:solidFill>
              <a:srgbClr val="8296B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389255" y="2430780"/>
            <a:ext cx="4412615" cy="2584450"/>
          </a:xfrm>
          <a:prstGeom prst="rect">
            <a:avLst/>
          </a:prstGeom>
          <a:noFill/>
        </p:spPr>
        <p:txBody>
          <a:bodyPr wrap="square" rtlCol="0">
            <a:spAutoFit/>
          </a:bodyPr>
          <a:p>
            <a:pPr algn="l" eaLnBrk="1" fontAlgn="auto" latinLnBrk="0" hangingPunct="1">
              <a:lnSpc>
                <a:spcPct val="150000"/>
              </a:lnSpc>
            </a:pPr>
            <a:r>
              <a:rPr lang="zh-CN" altLang="en-US" sz="3600" b="1">
                <a:latin typeface="+mj-ea"/>
                <a:ea typeface="+mj-ea"/>
              </a:rPr>
              <a:t>电商</a:t>
            </a:r>
            <a:endParaRPr lang="zh-CN" altLang="en-US" sz="3600" b="1">
              <a:latin typeface="+mj-ea"/>
              <a:ea typeface="+mj-ea"/>
            </a:endParaRPr>
          </a:p>
          <a:p>
            <a:pPr algn="l" eaLnBrk="1" fontAlgn="auto" latinLnBrk="0" hangingPunct="1">
              <a:lnSpc>
                <a:spcPct val="150000"/>
              </a:lnSpc>
            </a:pPr>
            <a:r>
              <a:rPr lang="zh-CN" altLang="en-US" sz="3600" b="1">
                <a:latin typeface="+mj-ea"/>
                <a:ea typeface="+mj-ea"/>
                <a:sym typeface="+mn-ea"/>
              </a:rPr>
              <a:t>金融</a:t>
            </a:r>
            <a:endParaRPr lang="zh-CN" altLang="en-US" sz="3600" b="1">
              <a:latin typeface="+mj-ea"/>
              <a:ea typeface="+mj-ea"/>
            </a:endParaRPr>
          </a:p>
          <a:p>
            <a:pPr algn="l" eaLnBrk="1" fontAlgn="auto" latinLnBrk="0" hangingPunct="1">
              <a:lnSpc>
                <a:spcPct val="150000"/>
              </a:lnSpc>
            </a:pPr>
            <a:r>
              <a:rPr lang="zh-CN" sz="3600" b="1">
                <a:latin typeface="+mj-ea"/>
                <a:ea typeface="+mj-ea"/>
                <a:sym typeface="+mn-ea"/>
              </a:rPr>
              <a:t>常见违规案例</a:t>
            </a:r>
            <a:endParaRPr lang="zh-CN" altLang="en-US" sz="3600" b="1">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67"/>
          <p:cNvSpPr/>
          <p:nvPr/>
        </p:nvSpPr>
        <p:spPr>
          <a:xfrm>
            <a:off x="-11150" y="26916"/>
            <a:ext cx="12192000" cy="6858000"/>
          </a:xfrm>
          <a:prstGeom prst="rect">
            <a:avLst/>
          </a:prstGeom>
          <a:solidFill>
            <a:srgbClr val="F2F2F2"/>
          </a:solidFill>
          <a:ln w="25400" cap="flat" cmpd="sng">
            <a:solidFill>
              <a:srgbClr val="E6E6E6"/>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5" name="Google Shape;605;p67"/>
          <p:cNvSpPr txBox="1"/>
          <p:nvPr/>
        </p:nvSpPr>
        <p:spPr>
          <a:xfrm>
            <a:off x="172945" y="1849946"/>
            <a:ext cx="7721100" cy="707700"/>
          </a:xfrm>
          <a:prstGeom prst="rect">
            <a:avLst/>
          </a:prstGeom>
          <a:noFill/>
          <a:ln>
            <a:noFill/>
          </a:ln>
        </p:spPr>
        <p:txBody>
          <a:bodyPr spcFirstLastPara="1" wrap="square" lIns="45675" tIns="45675" rIns="45675" bIns="45675" anchor="b" anchorCtr="0">
            <a:noAutofit/>
          </a:bodyPr>
          <a:lstStyle/>
          <a:p>
            <a:pPr marL="0" marR="0" lvl="0" indent="0" algn="l" rtl="0">
              <a:spcBef>
                <a:spcPts val="0"/>
              </a:spcBef>
              <a:spcAft>
                <a:spcPts val="0"/>
              </a:spcAft>
              <a:buNone/>
            </a:pPr>
            <a:r>
              <a:rPr lang="en-US" altLang="zh-CN" sz="4000" b="1">
                <a:latin typeface="+mj-ea"/>
                <a:ea typeface="+mj-ea"/>
                <a:sym typeface="+mn-ea"/>
              </a:rPr>
              <a:t>Facebook</a:t>
            </a:r>
            <a:r>
              <a:rPr lang="zh-CN" altLang="en-US" sz="4000" b="1">
                <a:latin typeface="+mj-ea"/>
                <a:ea typeface="+mj-ea"/>
                <a:sym typeface="+mn-ea"/>
              </a:rPr>
              <a:t>广告违规案例</a:t>
            </a:r>
            <a:endParaRPr sz="4000" b="1" i="0" u="none" strike="noStrike" cap="non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08" name="Google Shape;608;p67"/>
          <p:cNvCxnSpPr/>
          <p:nvPr/>
        </p:nvCxnSpPr>
        <p:spPr>
          <a:xfrm>
            <a:off x="8255999" y="0"/>
            <a:ext cx="3936000" cy="6831000"/>
          </a:xfrm>
          <a:prstGeom prst="straightConnector1">
            <a:avLst/>
          </a:prstGeom>
          <a:noFill/>
          <a:ln w="9525" cap="flat" cmpd="sng">
            <a:solidFill>
              <a:srgbClr val="323F4F"/>
            </a:solidFill>
            <a:prstDash val="solid"/>
            <a:round/>
            <a:headEnd type="none" w="sm" len="sm"/>
            <a:tailEnd type="none" w="sm" len="sm"/>
          </a:ln>
        </p:spPr>
      </p:cxnSp>
      <p:cxnSp>
        <p:nvCxnSpPr>
          <p:cNvPr id="609" name="Google Shape;609;p67"/>
          <p:cNvCxnSpPr/>
          <p:nvPr/>
        </p:nvCxnSpPr>
        <p:spPr>
          <a:xfrm flipH="1">
            <a:off x="4119783" y="27000"/>
            <a:ext cx="6747000" cy="6804000"/>
          </a:xfrm>
          <a:prstGeom prst="straightConnector1">
            <a:avLst/>
          </a:prstGeom>
          <a:noFill/>
          <a:ln w="9525" cap="flat" cmpd="sng">
            <a:solidFill>
              <a:srgbClr val="323F4F"/>
            </a:solidFill>
            <a:prstDash val="solid"/>
            <a:round/>
            <a:headEnd type="none" w="sm" len="sm"/>
            <a:tailEnd type="none" w="sm" len="sm"/>
          </a:ln>
        </p:spPr>
      </p:cxnSp>
      <p:cxnSp>
        <p:nvCxnSpPr>
          <p:cNvPr id="610" name="Google Shape;610;p67"/>
          <p:cNvCxnSpPr/>
          <p:nvPr/>
        </p:nvCxnSpPr>
        <p:spPr>
          <a:xfrm>
            <a:off x="1662194" y="26999"/>
            <a:ext cx="10529700" cy="4698000"/>
          </a:xfrm>
          <a:prstGeom prst="straightConnector1">
            <a:avLst/>
          </a:prstGeom>
          <a:noFill/>
          <a:ln w="9525" cap="flat" cmpd="sng">
            <a:solidFill>
              <a:srgbClr val="323F4F"/>
            </a:solidFill>
            <a:prstDash val="solid"/>
            <a:round/>
            <a:headEnd type="none" w="sm" len="sm"/>
            <a:tailEnd type="none" w="sm" len="sm"/>
          </a:ln>
        </p:spPr>
      </p:cxnSp>
      <p:cxnSp>
        <p:nvCxnSpPr>
          <p:cNvPr id="611" name="Google Shape;611;p67"/>
          <p:cNvCxnSpPr/>
          <p:nvPr/>
        </p:nvCxnSpPr>
        <p:spPr>
          <a:xfrm flipH="1">
            <a:off x="10055986" y="3983183"/>
            <a:ext cx="532500" cy="2847900"/>
          </a:xfrm>
          <a:prstGeom prst="straightConnector1">
            <a:avLst/>
          </a:prstGeom>
          <a:noFill/>
          <a:ln w="9525" cap="flat" cmpd="sng">
            <a:solidFill>
              <a:srgbClr val="323F4F"/>
            </a:solidFill>
            <a:prstDash val="solid"/>
            <a:round/>
            <a:headEnd type="none" w="sm" len="sm"/>
            <a:tailEnd type="none" w="sm" len="sm"/>
          </a:ln>
        </p:spPr>
      </p:cxnSp>
      <p:sp>
        <p:nvSpPr>
          <p:cNvPr id="612" name="Google Shape;612;p67"/>
          <p:cNvSpPr/>
          <p:nvPr/>
        </p:nvSpPr>
        <p:spPr>
          <a:xfrm rot="10800000" flipH="1">
            <a:off x="9192000" y="1651321"/>
            <a:ext cx="72000" cy="72000"/>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3" name="Google Shape;613;p67"/>
          <p:cNvSpPr/>
          <p:nvPr/>
        </p:nvSpPr>
        <p:spPr>
          <a:xfrm rot="8917620" flipH="1">
            <a:off x="7981441" y="2821469"/>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4" name="Google Shape;614;p67"/>
          <p:cNvSpPr/>
          <p:nvPr/>
        </p:nvSpPr>
        <p:spPr>
          <a:xfrm rot="8917620" flipH="1">
            <a:off x="10531520" y="3956092"/>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5" name="Google Shape;615;p67"/>
          <p:cNvSpPr/>
          <p:nvPr/>
        </p:nvSpPr>
        <p:spPr>
          <a:xfrm>
            <a:off x="9747778" y="27000"/>
            <a:ext cx="2370006" cy="2830518"/>
          </a:xfrm>
          <a:custGeom>
            <a:avLst/>
            <a:gdLst/>
            <a:ahLst/>
            <a:cxnLst/>
            <a:rect l="l" t="t" r="r" b="b"/>
            <a:pathLst>
              <a:path w="21600" h="21600" extrusionOk="0">
                <a:moveTo>
                  <a:pt x="0" y="21600"/>
                </a:moveTo>
                <a:lnTo>
                  <a:pt x="10231" y="0"/>
                </a:lnTo>
                <a:lnTo>
                  <a:pt x="21600" y="0"/>
                </a:lnTo>
                <a:lnTo>
                  <a:pt x="11369" y="2160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6" name="Google Shape;616;p67"/>
          <p:cNvSpPr/>
          <p:nvPr/>
        </p:nvSpPr>
        <p:spPr>
          <a:xfrm rot="-5400000">
            <a:off x="9666008" y="133204"/>
            <a:ext cx="2609982" cy="2370006"/>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7" name="Google Shape;617;p67"/>
          <p:cNvSpPr/>
          <p:nvPr/>
        </p:nvSpPr>
        <p:spPr>
          <a:xfrm rot="10800000">
            <a:off x="10631871" y="2268918"/>
            <a:ext cx="1526418" cy="1808082"/>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8" name="Google Shape;618;p67"/>
          <p:cNvSpPr/>
          <p:nvPr/>
        </p:nvSpPr>
        <p:spPr>
          <a:xfrm rot="8592263">
            <a:off x="9984137" y="2102997"/>
            <a:ext cx="1532651" cy="2692129"/>
          </a:xfrm>
          <a:custGeom>
            <a:avLst/>
            <a:gdLst/>
            <a:ahLst/>
            <a:cxnLst/>
            <a:rect l="l" t="t" r="r" b="b"/>
            <a:pathLst>
              <a:path w="21600" h="21600" extrusionOk="0">
                <a:moveTo>
                  <a:pt x="0" y="21600"/>
                </a:moveTo>
                <a:lnTo>
                  <a:pt x="21600" y="21600"/>
                </a:lnTo>
                <a:lnTo>
                  <a:pt x="0" y="0"/>
                </a:lnTo>
                <a:close/>
              </a:path>
            </a:pathLst>
          </a:custGeom>
          <a:solidFill>
            <a:srgbClr val="8296B0"/>
          </a:solidFill>
          <a:ln w="25400" cap="flat" cmpd="sng">
            <a:solidFill>
              <a:srgbClr val="8296B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1307465" y="3060700"/>
            <a:ext cx="1273175" cy="1014730"/>
          </a:xfrm>
          <a:prstGeom prst="rect">
            <a:avLst/>
          </a:prstGeom>
          <a:noFill/>
        </p:spPr>
        <p:txBody>
          <a:bodyPr wrap="square" rtlCol="0">
            <a:spAutoFit/>
          </a:bodyPr>
          <a:p>
            <a:pPr algn="l" eaLnBrk="1" fontAlgn="auto" latinLnBrk="0" hangingPunct="1">
              <a:lnSpc>
                <a:spcPct val="150000"/>
              </a:lnSpc>
            </a:pPr>
            <a:r>
              <a:rPr lang="zh-CN" altLang="en-US" sz="4000" b="1">
                <a:latin typeface="+mj-ea"/>
                <a:ea typeface="+mj-ea"/>
              </a:rPr>
              <a:t>电商</a:t>
            </a:r>
            <a:endParaRPr lang="zh-CN" altLang="en-US" sz="2800" b="1">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5"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lstStyle/>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rPr>
              <a:t>9月</a:t>
            </a:r>
            <a:r>
              <a:rPr lang="en-US" altLang="zh-CN" sz="2400" b="1">
                <a:solidFill>
                  <a:schemeClr val="lt1"/>
                </a:solidFill>
                <a:latin typeface="宋体" panose="02010600030101010101" pitchFamily="2" charset="-122"/>
                <a:ea typeface="宋体" panose="02010600030101010101" pitchFamily="2" charset="-122"/>
              </a:rPr>
              <a:t>25</a:t>
            </a:r>
            <a:r>
              <a:rPr lang="zh-CN" sz="2400" b="1">
                <a:solidFill>
                  <a:schemeClr val="lt1"/>
                </a:solidFill>
                <a:latin typeface="宋体" panose="02010600030101010101" pitchFamily="2" charset="-122"/>
                <a:ea typeface="宋体" panose="02010600030101010101" pitchFamily="2" charset="-122"/>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rPr>
              <a:t>（周</a:t>
            </a:r>
            <a:r>
              <a:rPr lang="zh-CN" sz="2400" b="1">
                <a:solidFill>
                  <a:schemeClr val="lt1"/>
                </a:solidFill>
                <a:latin typeface="宋体" panose="02010600030101010101" pitchFamily="2" charset="-122"/>
                <a:ea typeface="宋体" panose="02010600030101010101" pitchFamily="2" charset="-122"/>
              </a:rPr>
              <a:t>三</a:t>
            </a:r>
            <a:r>
              <a:rPr lang="zh-CN"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7295"/>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Arial" panose="020B0604020202020204"/>
                <a:ea typeface="Arial" panose="020B0604020202020204"/>
                <a:cs typeface="Arial" panose="020B0604020202020204"/>
                <a:sym typeface="Arial" panose="020B0604020202020204"/>
              </a:rPr>
              <a:t> </a:t>
            </a:r>
            <a:r>
              <a:rPr lang="zh-CN" sz="1800" b="1" i="0" u="none" strike="noStrike" cap="none">
                <a:solidFill>
                  <a:srgbClr val="F26522"/>
                </a:solidFill>
                <a:latin typeface="Arial" panose="020B0604020202020204"/>
                <a:ea typeface="宋体" panose="02010600030101010101" pitchFamily="2" charset="-122"/>
                <a:cs typeface="Arial" panose="020B0604020202020204"/>
                <a:sym typeface="Arial" panose="020B0604020202020204"/>
              </a:rPr>
              <a:t>其他</a:t>
            </a:r>
            <a:endParaRPr lang="zh-CN" sz="1800" b="1" i="0" u="none" strike="noStrike" cap="none">
              <a:solidFill>
                <a:srgbClr val="F26522"/>
              </a:solidFill>
              <a:latin typeface="Arial" panose="020B0604020202020204"/>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pic>
        <p:nvPicPr>
          <p:cNvPr id="8" name="图片 7"/>
          <p:cNvPicPr>
            <a:picLocks noChangeAspect="1"/>
          </p:cNvPicPr>
          <p:nvPr/>
        </p:nvPicPr>
        <p:blipFill>
          <a:blip r:embed="rId2"/>
          <a:stretch>
            <a:fillRect/>
          </a:stretch>
        </p:blipFill>
        <p:spPr>
          <a:xfrm>
            <a:off x="1600835" y="959485"/>
            <a:ext cx="10626090" cy="59702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ea typeface="宋体" panose="02010600030101010101" pitchFamily="2" charset="-122"/>
              </a:rPr>
              <a:t>电商</a:t>
            </a:r>
            <a:endParaRPr lang="zh-CN" sz="1800" b="1">
              <a:solidFill>
                <a:srgbClr val="F26522"/>
              </a:solidFill>
              <a:ea typeface="宋体" panose="02010600030101010101" pitchFamily="2" charset="-122"/>
            </a:endParaRPr>
          </a:p>
        </p:txBody>
      </p:sp>
      <p:sp>
        <p:nvSpPr>
          <p:cNvPr id="9"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NO.1——</a:t>
            </a:r>
            <a:r>
              <a:rPr lang="zh-CN" altLang="en-US"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电视节目</a:t>
            </a:r>
            <a:endParaRPr lang="zh-CN" altLang="en-US"/>
          </a:p>
        </p:txBody>
      </p:sp>
      <p:pic>
        <p:nvPicPr>
          <p:cNvPr id="5" name="图片 4"/>
          <p:cNvPicPr>
            <a:picLocks noChangeAspect="1"/>
          </p:cNvPicPr>
          <p:nvPr/>
        </p:nvPicPr>
        <p:blipFill>
          <a:blip r:embed="rId2"/>
          <a:stretch>
            <a:fillRect/>
          </a:stretch>
        </p:blipFill>
        <p:spPr>
          <a:xfrm>
            <a:off x="2444750" y="1277620"/>
            <a:ext cx="3760470" cy="3098800"/>
          </a:xfrm>
          <a:prstGeom prst="rect">
            <a:avLst/>
          </a:prstGeom>
        </p:spPr>
      </p:pic>
      <p:pic>
        <p:nvPicPr>
          <p:cNvPr id="3" name="图片 2"/>
          <p:cNvPicPr>
            <a:picLocks noChangeAspect="1"/>
          </p:cNvPicPr>
          <p:nvPr/>
        </p:nvPicPr>
        <p:blipFill>
          <a:blip r:embed="rId3"/>
          <a:stretch>
            <a:fillRect/>
          </a:stretch>
        </p:blipFill>
        <p:spPr>
          <a:xfrm>
            <a:off x="7247890" y="1277620"/>
            <a:ext cx="3437255" cy="2286000"/>
          </a:xfrm>
          <a:prstGeom prst="rect">
            <a:avLst/>
          </a:prstGeom>
        </p:spPr>
      </p:pic>
      <p:pic>
        <p:nvPicPr>
          <p:cNvPr id="6" name="图片 5"/>
          <p:cNvPicPr>
            <a:picLocks noChangeAspect="1"/>
          </p:cNvPicPr>
          <p:nvPr/>
        </p:nvPicPr>
        <p:blipFill>
          <a:blip r:embed="rId4"/>
          <a:stretch>
            <a:fillRect/>
          </a:stretch>
        </p:blipFill>
        <p:spPr>
          <a:xfrm>
            <a:off x="7620000" y="4182745"/>
            <a:ext cx="3065145" cy="2035175"/>
          </a:xfrm>
          <a:prstGeom prst="rect">
            <a:avLst/>
          </a:prstGeom>
        </p:spPr>
      </p:pic>
      <p:sp>
        <p:nvSpPr>
          <p:cNvPr id="4" name="文本框 3"/>
          <p:cNvSpPr txBox="1"/>
          <p:nvPr/>
        </p:nvSpPr>
        <p:spPr>
          <a:xfrm>
            <a:off x="2687320" y="4674235"/>
            <a:ext cx="3275965" cy="1938020"/>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sym typeface="+mn-ea"/>
              </a:rPr>
              <a:t>无论是综艺节目还是新闻节目，只要是在公共媒体出现过的，都不能直接挪到商户自己的广告账户中使用，会构成侵权问题，且往往对用户构成很大的误导。</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ea typeface="宋体" panose="02010600030101010101" pitchFamily="2" charset="-122"/>
              </a:rPr>
              <a:t>电商</a:t>
            </a:r>
            <a:endParaRPr lang="zh-CN" sz="1800" b="1">
              <a:solidFill>
                <a:srgbClr val="F26522"/>
              </a:solidFill>
              <a:ea typeface="宋体" panose="02010600030101010101" pitchFamily="2" charset="-122"/>
            </a:endParaRPr>
          </a:p>
        </p:txBody>
      </p:sp>
      <p:sp>
        <p:nvSpPr>
          <p:cNvPr id="4"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NO.2——仿品</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p:txBody>
      </p:sp>
      <p:pic>
        <p:nvPicPr>
          <p:cNvPr id="14" name="图片 13"/>
          <p:cNvPicPr>
            <a:picLocks noChangeAspect="1"/>
          </p:cNvPicPr>
          <p:nvPr/>
        </p:nvPicPr>
        <p:blipFill>
          <a:blip r:embed="rId2"/>
          <a:stretch>
            <a:fillRect/>
          </a:stretch>
        </p:blipFill>
        <p:spPr>
          <a:xfrm>
            <a:off x="2592070" y="1163955"/>
            <a:ext cx="2089785" cy="2077085"/>
          </a:xfrm>
          <a:prstGeom prst="rect">
            <a:avLst/>
          </a:prstGeom>
        </p:spPr>
      </p:pic>
      <p:pic>
        <p:nvPicPr>
          <p:cNvPr id="11" name="图片 10"/>
          <p:cNvPicPr>
            <a:picLocks noChangeAspect="1"/>
          </p:cNvPicPr>
          <p:nvPr/>
        </p:nvPicPr>
        <p:blipFill>
          <a:blip r:embed="rId3"/>
          <a:stretch>
            <a:fillRect/>
          </a:stretch>
        </p:blipFill>
        <p:spPr>
          <a:xfrm>
            <a:off x="5170805" y="1163955"/>
            <a:ext cx="2202815" cy="2077085"/>
          </a:xfrm>
          <a:prstGeom prst="rect">
            <a:avLst/>
          </a:prstGeom>
        </p:spPr>
      </p:pic>
      <p:pic>
        <p:nvPicPr>
          <p:cNvPr id="10" name="图片 9"/>
          <p:cNvPicPr>
            <a:picLocks noChangeAspect="1"/>
          </p:cNvPicPr>
          <p:nvPr/>
        </p:nvPicPr>
        <p:blipFill>
          <a:blip r:embed="rId4"/>
          <a:stretch>
            <a:fillRect/>
          </a:stretch>
        </p:blipFill>
        <p:spPr>
          <a:xfrm>
            <a:off x="8344535" y="1163955"/>
            <a:ext cx="3361690" cy="4881245"/>
          </a:xfrm>
          <a:prstGeom prst="rect">
            <a:avLst/>
          </a:prstGeom>
        </p:spPr>
      </p:pic>
      <p:pic>
        <p:nvPicPr>
          <p:cNvPr id="15" name="图片 14"/>
          <p:cNvPicPr>
            <a:picLocks noChangeAspect="1"/>
          </p:cNvPicPr>
          <p:nvPr/>
        </p:nvPicPr>
        <p:blipFill>
          <a:blip r:embed="rId5"/>
          <a:stretch>
            <a:fillRect/>
          </a:stretch>
        </p:blipFill>
        <p:spPr>
          <a:xfrm>
            <a:off x="2592070" y="3549650"/>
            <a:ext cx="2122170" cy="1935480"/>
          </a:xfrm>
          <a:prstGeom prst="rect">
            <a:avLst/>
          </a:prstGeom>
        </p:spPr>
      </p:pic>
      <p:pic>
        <p:nvPicPr>
          <p:cNvPr id="8" name="图片 7"/>
          <p:cNvPicPr>
            <a:picLocks noChangeAspect="1"/>
          </p:cNvPicPr>
          <p:nvPr/>
        </p:nvPicPr>
        <p:blipFill>
          <a:blip r:embed="rId6"/>
          <a:stretch>
            <a:fillRect/>
          </a:stretch>
        </p:blipFill>
        <p:spPr>
          <a:xfrm>
            <a:off x="5236210" y="3559810"/>
            <a:ext cx="2072005" cy="1925320"/>
          </a:xfrm>
          <a:prstGeom prst="rect">
            <a:avLst/>
          </a:prstGeom>
        </p:spPr>
      </p:pic>
      <p:sp>
        <p:nvSpPr>
          <p:cNvPr id="9" name="文本框 8"/>
          <p:cNvSpPr txBox="1"/>
          <p:nvPr/>
        </p:nvSpPr>
        <p:spPr>
          <a:xfrm>
            <a:off x="2532380" y="5749925"/>
            <a:ext cx="5080000" cy="829945"/>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sym typeface="+mn-ea"/>
              </a:rPr>
              <a:t>禁止出售任何仿品（电子产品、服饰鞋包、化妆品等），包括外观与形象的仿照，以及对品牌logo的修缮。</a:t>
            </a:r>
            <a:endParaRPr lang="zh-CN" altLang="en-US" sz="1600">
              <a:latin typeface="宋体" panose="02010600030101010101" pitchFamily="2" charset="-122"/>
              <a:ea typeface="宋体" panose="02010600030101010101" pitchFamily="2" charset="-122"/>
            </a:endParaRPr>
          </a:p>
        </p:txBody>
      </p:sp>
      <p:sp>
        <p:nvSpPr>
          <p:cNvPr id="3"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9"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NO.3——明星代言</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1988820" y="1334770"/>
            <a:ext cx="2758440" cy="1945640"/>
          </a:xfrm>
          <a:prstGeom prst="rect">
            <a:avLst/>
          </a:prstGeom>
        </p:spPr>
      </p:pic>
      <p:pic>
        <p:nvPicPr>
          <p:cNvPr id="3" name="图片 2"/>
          <p:cNvPicPr>
            <a:picLocks noChangeAspect="1"/>
          </p:cNvPicPr>
          <p:nvPr/>
        </p:nvPicPr>
        <p:blipFill>
          <a:blip r:embed="rId3"/>
          <a:stretch>
            <a:fillRect/>
          </a:stretch>
        </p:blipFill>
        <p:spPr>
          <a:xfrm>
            <a:off x="5161915" y="3742690"/>
            <a:ext cx="3460750" cy="1991360"/>
          </a:xfrm>
          <a:prstGeom prst="rect">
            <a:avLst/>
          </a:prstGeom>
        </p:spPr>
      </p:pic>
      <p:pic>
        <p:nvPicPr>
          <p:cNvPr id="5" name="图片 4"/>
          <p:cNvPicPr>
            <a:picLocks noChangeAspect="1"/>
          </p:cNvPicPr>
          <p:nvPr/>
        </p:nvPicPr>
        <p:blipFill>
          <a:blip r:embed="rId4"/>
          <a:stretch>
            <a:fillRect/>
          </a:stretch>
        </p:blipFill>
        <p:spPr>
          <a:xfrm>
            <a:off x="7430770" y="1253490"/>
            <a:ext cx="1931670" cy="1991360"/>
          </a:xfrm>
          <a:prstGeom prst="rect">
            <a:avLst/>
          </a:prstGeom>
        </p:spPr>
      </p:pic>
      <p:pic>
        <p:nvPicPr>
          <p:cNvPr id="6" name="图片 5"/>
          <p:cNvPicPr>
            <a:picLocks noChangeAspect="1"/>
          </p:cNvPicPr>
          <p:nvPr/>
        </p:nvPicPr>
        <p:blipFill>
          <a:blip r:embed="rId5"/>
          <a:stretch>
            <a:fillRect/>
          </a:stretch>
        </p:blipFill>
        <p:spPr>
          <a:xfrm>
            <a:off x="1988820" y="3642360"/>
            <a:ext cx="2829560" cy="2192020"/>
          </a:xfrm>
          <a:prstGeom prst="rect">
            <a:avLst/>
          </a:prstGeom>
        </p:spPr>
      </p:pic>
      <p:pic>
        <p:nvPicPr>
          <p:cNvPr id="12" name="图片 11"/>
          <p:cNvPicPr>
            <a:picLocks noChangeAspect="1"/>
          </p:cNvPicPr>
          <p:nvPr/>
        </p:nvPicPr>
        <p:blipFill>
          <a:blip r:embed="rId6"/>
          <a:stretch>
            <a:fillRect/>
          </a:stretch>
        </p:blipFill>
        <p:spPr>
          <a:xfrm>
            <a:off x="9692005" y="1173480"/>
            <a:ext cx="2112010" cy="2170430"/>
          </a:xfrm>
          <a:prstGeom prst="rect">
            <a:avLst/>
          </a:prstGeom>
        </p:spPr>
      </p:pic>
      <p:pic>
        <p:nvPicPr>
          <p:cNvPr id="13" name="图片 12"/>
          <p:cNvPicPr>
            <a:picLocks noChangeAspect="1"/>
          </p:cNvPicPr>
          <p:nvPr/>
        </p:nvPicPr>
        <p:blipFill>
          <a:blip r:embed="rId7"/>
          <a:stretch>
            <a:fillRect/>
          </a:stretch>
        </p:blipFill>
        <p:spPr>
          <a:xfrm>
            <a:off x="5161915" y="1289050"/>
            <a:ext cx="1868170" cy="1938655"/>
          </a:xfrm>
          <a:prstGeom prst="rect">
            <a:avLst/>
          </a:prstGeom>
        </p:spPr>
      </p:pic>
      <p:sp>
        <p:nvSpPr>
          <p:cNvPr id="16" name="文本框 15"/>
          <p:cNvSpPr txBox="1"/>
          <p:nvPr/>
        </p:nvSpPr>
        <p:spPr>
          <a:xfrm>
            <a:off x="8817610" y="3642360"/>
            <a:ext cx="3355975" cy="2676525"/>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sym typeface="+mn-ea"/>
              </a:rPr>
              <a:t>×广告声称谭咏麟等名人用过某个产品并强烈推荐，但实际上这些名人并未代言过这个产品；</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sym typeface="+mn-ea"/>
              </a:rPr>
              <a:t>×使用明星/名人素材只是为了吸引用户点击；</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sym typeface="+mn-ea"/>
              </a:rPr>
              <a:t>注意：</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sym typeface="+mn-ea"/>
              </a:rPr>
              <a:t>检查名人是否真的有代言某个产品</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10" name="文本框 9"/>
          <p:cNvSpPr txBox="1"/>
          <p:nvPr/>
        </p:nvSpPr>
        <p:spPr>
          <a:xfrm>
            <a:off x="1988820" y="5873750"/>
            <a:ext cx="4316730" cy="829945"/>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sym typeface="+mn-ea"/>
              </a:rPr>
              <a:t>明星有相当大的影响力且非产品代言人，会影响用户的判断，所以在广告中禁止使用明星。</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7295"/>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11"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NO.4——成人内容、色情</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3" name="图片 2"/>
          <p:cNvPicPr>
            <a:picLocks noChangeAspect="1"/>
          </p:cNvPicPr>
          <p:nvPr/>
        </p:nvPicPr>
        <p:blipFill>
          <a:blip r:embed="rId2"/>
          <a:stretch>
            <a:fillRect/>
          </a:stretch>
        </p:blipFill>
        <p:spPr>
          <a:xfrm>
            <a:off x="2496820" y="1136650"/>
            <a:ext cx="3096895" cy="2649220"/>
          </a:xfrm>
          <a:prstGeom prst="rect">
            <a:avLst/>
          </a:prstGeom>
        </p:spPr>
      </p:pic>
      <p:pic>
        <p:nvPicPr>
          <p:cNvPr id="8" name="图片 7"/>
          <p:cNvPicPr>
            <a:picLocks noChangeAspect="1"/>
          </p:cNvPicPr>
          <p:nvPr/>
        </p:nvPicPr>
        <p:blipFill>
          <a:blip r:embed="rId3"/>
          <a:stretch>
            <a:fillRect/>
          </a:stretch>
        </p:blipFill>
        <p:spPr>
          <a:xfrm>
            <a:off x="5730240" y="1262380"/>
            <a:ext cx="1946910" cy="1952625"/>
          </a:xfrm>
          <a:prstGeom prst="rect">
            <a:avLst/>
          </a:prstGeom>
        </p:spPr>
      </p:pic>
      <p:pic>
        <p:nvPicPr>
          <p:cNvPr id="4" name="图片 3"/>
          <p:cNvPicPr>
            <a:picLocks noChangeAspect="1"/>
          </p:cNvPicPr>
          <p:nvPr/>
        </p:nvPicPr>
        <p:blipFill>
          <a:blip r:embed="rId4"/>
          <a:stretch>
            <a:fillRect/>
          </a:stretch>
        </p:blipFill>
        <p:spPr>
          <a:xfrm>
            <a:off x="7878445" y="1136650"/>
            <a:ext cx="3719830" cy="2204720"/>
          </a:xfrm>
          <a:prstGeom prst="rect">
            <a:avLst/>
          </a:prstGeom>
        </p:spPr>
      </p:pic>
      <p:pic>
        <p:nvPicPr>
          <p:cNvPr id="5" name="图片 4"/>
          <p:cNvPicPr>
            <a:picLocks noChangeAspect="1"/>
          </p:cNvPicPr>
          <p:nvPr/>
        </p:nvPicPr>
        <p:blipFill>
          <a:blip r:embed="rId5"/>
          <a:stretch>
            <a:fillRect/>
          </a:stretch>
        </p:blipFill>
        <p:spPr>
          <a:xfrm>
            <a:off x="5844540" y="4006215"/>
            <a:ext cx="2574290" cy="2536190"/>
          </a:xfrm>
          <a:prstGeom prst="rect">
            <a:avLst/>
          </a:prstGeom>
        </p:spPr>
      </p:pic>
      <p:pic>
        <p:nvPicPr>
          <p:cNvPr id="6" name="图片 5"/>
          <p:cNvPicPr>
            <a:picLocks noChangeAspect="1"/>
          </p:cNvPicPr>
          <p:nvPr/>
        </p:nvPicPr>
        <p:blipFill>
          <a:blip r:embed="rId6"/>
          <a:stretch>
            <a:fillRect/>
          </a:stretch>
        </p:blipFill>
        <p:spPr>
          <a:xfrm>
            <a:off x="9130030" y="4110355"/>
            <a:ext cx="2468245" cy="2432050"/>
          </a:xfrm>
          <a:prstGeom prst="rect">
            <a:avLst/>
          </a:prstGeom>
        </p:spPr>
      </p:pic>
      <p:sp>
        <p:nvSpPr>
          <p:cNvPr id="9" name="文本框 8"/>
          <p:cNvSpPr txBox="1"/>
          <p:nvPr/>
        </p:nvSpPr>
        <p:spPr>
          <a:xfrm>
            <a:off x="2444750" y="3935730"/>
            <a:ext cx="2952115" cy="2676525"/>
          </a:xfrm>
          <a:prstGeom prst="rect">
            <a:avLst/>
          </a:prstGeom>
          <a:noFill/>
        </p:spPr>
        <p:txBody>
          <a:bodyPr wrap="square" rtlCol="0">
            <a:spAutoFit/>
          </a:bodyPr>
          <a:p>
            <a:pPr algn="l" eaLnBrk="1" fontAlgn="auto" latinLnBrk="0" hangingPunct="1">
              <a:lnSpc>
                <a:spcPct val="150000"/>
              </a:lnSpc>
            </a:pPr>
            <a:r>
              <a:rPr sz="1600">
                <a:solidFill>
                  <a:schemeClr val="tx1"/>
                </a:solidFill>
                <a:latin typeface="宋体" panose="02010600030101010101" pitchFamily="2" charset="-122"/>
                <a:ea typeface="宋体" panose="02010600030101010101" pitchFamily="2" charset="-122"/>
                <a:sym typeface="+mn-ea"/>
              </a:rPr>
              <a:t>暗示性行为 </a:t>
            </a:r>
            <a:endParaRPr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r>
              <a:rPr sz="1600">
                <a:solidFill>
                  <a:schemeClr val="tx1"/>
                </a:solidFill>
                <a:latin typeface="宋体" panose="02010600030101010101" pitchFamily="2" charset="-122"/>
                <a:ea typeface="宋体" panose="02010600030101010101" pitchFamily="2" charset="-122"/>
                <a:sym typeface="+mn-ea"/>
              </a:rPr>
              <a:t>暗示裸体 </a:t>
            </a:r>
            <a:endParaRPr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r>
              <a:rPr sz="1600">
                <a:solidFill>
                  <a:schemeClr val="tx1"/>
                </a:solidFill>
                <a:latin typeface="宋体" panose="02010600030101010101" pitchFamily="2" charset="-122"/>
                <a:ea typeface="宋体" panose="02010600030101010101" pitchFamily="2" charset="-122"/>
                <a:sym typeface="+mn-ea"/>
              </a:rPr>
              <a:t>展示过多肌肤或乳沟</a:t>
            </a:r>
            <a:endParaRPr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r>
              <a:rPr sz="1600">
                <a:solidFill>
                  <a:schemeClr val="tx1"/>
                </a:solidFill>
                <a:latin typeface="宋体" panose="02010600030101010101" pitchFamily="2" charset="-122"/>
                <a:ea typeface="宋体" panose="02010600030101010101" pitchFamily="2" charset="-122"/>
                <a:sym typeface="+mn-ea"/>
              </a:rPr>
              <a:t>含有性暗示意味的姿势</a:t>
            </a:r>
            <a:endParaRPr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r>
              <a:rPr sz="1600">
                <a:solidFill>
                  <a:schemeClr val="tx1"/>
                </a:solidFill>
                <a:latin typeface="宋体" panose="02010600030101010101" pitchFamily="2" charset="-122"/>
                <a:ea typeface="宋体" panose="02010600030101010101" pitchFamily="2" charset="-122"/>
                <a:sym typeface="+mn-ea"/>
              </a:rPr>
              <a:t>聚焦于个人身体部位，例如腹肌、臀部或胸部，即使其本质并非明显的色情内容</a:t>
            </a:r>
            <a:endParaRPr lang="zh-CN" altLang="en-US" sz="1600">
              <a:latin typeface="宋体" panose="02010600030101010101" pitchFamily="2" charset="-122"/>
              <a:ea typeface="宋体" panose="02010600030101010101" pitchFamily="2" charset="-122"/>
            </a:endParaRPr>
          </a:p>
        </p:txBody>
      </p:sp>
      <p:sp>
        <p:nvSpPr>
          <p:cNvPr id="10"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11"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NO.5——虚假、夸张宣传</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10" name="图片 9"/>
          <p:cNvPicPr>
            <a:picLocks noChangeAspect="1"/>
          </p:cNvPicPr>
          <p:nvPr/>
        </p:nvPicPr>
        <p:blipFill>
          <a:blip r:embed="rId2"/>
          <a:stretch>
            <a:fillRect/>
          </a:stretch>
        </p:blipFill>
        <p:spPr>
          <a:xfrm>
            <a:off x="2028190" y="1338580"/>
            <a:ext cx="2831465" cy="1914525"/>
          </a:xfrm>
          <a:prstGeom prst="rect">
            <a:avLst/>
          </a:prstGeom>
        </p:spPr>
      </p:pic>
      <p:pic>
        <p:nvPicPr>
          <p:cNvPr id="4" name="图片 3"/>
          <p:cNvPicPr>
            <a:picLocks noChangeAspect="1"/>
          </p:cNvPicPr>
          <p:nvPr/>
        </p:nvPicPr>
        <p:blipFill>
          <a:blip r:embed="rId3"/>
          <a:stretch>
            <a:fillRect/>
          </a:stretch>
        </p:blipFill>
        <p:spPr>
          <a:xfrm>
            <a:off x="2028190" y="3637280"/>
            <a:ext cx="2608580" cy="2595245"/>
          </a:xfrm>
          <a:prstGeom prst="rect">
            <a:avLst/>
          </a:prstGeom>
        </p:spPr>
      </p:pic>
      <p:pic>
        <p:nvPicPr>
          <p:cNvPr id="6" name="图片 5"/>
          <p:cNvPicPr>
            <a:picLocks noChangeAspect="1"/>
          </p:cNvPicPr>
          <p:nvPr/>
        </p:nvPicPr>
        <p:blipFill>
          <a:blip r:embed="rId4"/>
          <a:stretch>
            <a:fillRect/>
          </a:stretch>
        </p:blipFill>
        <p:spPr>
          <a:xfrm>
            <a:off x="5214620" y="1338580"/>
            <a:ext cx="3752215" cy="1914525"/>
          </a:xfrm>
          <a:prstGeom prst="rect">
            <a:avLst/>
          </a:prstGeom>
        </p:spPr>
      </p:pic>
      <p:pic>
        <p:nvPicPr>
          <p:cNvPr id="3" name="图片 2"/>
          <p:cNvPicPr>
            <a:picLocks noChangeAspect="1"/>
          </p:cNvPicPr>
          <p:nvPr/>
        </p:nvPicPr>
        <p:blipFill>
          <a:blip r:embed="rId5"/>
          <a:stretch>
            <a:fillRect/>
          </a:stretch>
        </p:blipFill>
        <p:spPr>
          <a:xfrm>
            <a:off x="9203690" y="1338580"/>
            <a:ext cx="2672715" cy="1820545"/>
          </a:xfrm>
          <a:prstGeom prst="rect">
            <a:avLst/>
          </a:prstGeom>
        </p:spPr>
      </p:pic>
      <p:pic>
        <p:nvPicPr>
          <p:cNvPr id="8" name="图片 7"/>
          <p:cNvPicPr>
            <a:picLocks noChangeAspect="1"/>
          </p:cNvPicPr>
          <p:nvPr/>
        </p:nvPicPr>
        <p:blipFill>
          <a:blip r:embed="rId6"/>
          <a:stretch>
            <a:fillRect/>
          </a:stretch>
        </p:blipFill>
        <p:spPr>
          <a:xfrm>
            <a:off x="8369300" y="4004945"/>
            <a:ext cx="3310255" cy="2006600"/>
          </a:xfrm>
          <a:prstGeom prst="rect">
            <a:avLst/>
          </a:prstGeom>
        </p:spPr>
      </p:pic>
      <p:pic>
        <p:nvPicPr>
          <p:cNvPr id="9" name="图片 8"/>
          <p:cNvPicPr>
            <a:picLocks noChangeAspect="1"/>
          </p:cNvPicPr>
          <p:nvPr/>
        </p:nvPicPr>
        <p:blipFill>
          <a:blip r:embed="rId7"/>
          <a:stretch>
            <a:fillRect/>
          </a:stretch>
        </p:blipFill>
        <p:spPr>
          <a:xfrm>
            <a:off x="5297805" y="3859530"/>
            <a:ext cx="2297430" cy="2297430"/>
          </a:xfrm>
          <a:prstGeom prst="rect">
            <a:avLst/>
          </a:prstGeom>
        </p:spPr>
      </p:pic>
      <p:sp>
        <p:nvSpPr>
          <p:cNvPr id="5"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6"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NO.6——前后使用对比</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5" name="图片 4"/>
          <p:cNvPicPr>
            <a:picLocks noChangeAspect="1"/>
          </p:cNvPicPr>
          <p:nvPr/>
        </p:nvPicPr>
        <p:blipFill>
          <a:blip r:embed="rId2"/>
          <a:stretch>
            <a:fillRect/>
          </a:stretch>
        </p:blipFill>
        <p:spPr>
          <a:xfrm>
            <a:off x="2279015" y="4025265"/>
            <a:ext cx="2292350" cy="2367280"/>
          </a:xfrm>
          <a:prstGeom prst="rect">
            <a:avLst/>
          </a:prstGeom>
        </p:spPr>
      </p:pic>
      <p:pic>
        <p:nvPicPr>
          <p:cNvPr id="3" name="图片 2"/>
          <p:cNvPicPr>
            <a:picLocks noChangeAspect="1"/>
          </p:cNvPicPr>
          <p:nvPr/>
        </p:nvPicPr>
        <p:blipFill>
          <a:blip r:embed="rId3"/>
          <a:stretch>
            <a:fillRect/>
          </a:stretch>
        </p:blipFill>
        <p:spPr>
          <a:xfrm>
            <a:off x="5679440" y="1165860"/>
            <a:ext cx="2343785" cy="2332355"/>
          </a:xfrm>
          <a:prstGeom prst="rect">
            <a:avLst/>
          </a:prstGeom>
        </p:spPr>
      </p:pic>
      <p:pic>
        <p:nvPicPr>
          <p:cNvPr id="9" name="图片 8"/>
          <p:cNvPicPr>
            <a:picLocks noChangeAspect="1"/>
          </p:cNvPicPr>
          <p:nvPr/>
        </p:nvPicPr>
        <p:blipFill>
          <a:blip r:embed="rId4"/>
          <a:stretch>
            <a:fillRect/>
          </a:stretch>
        </p:blipFill>
        <p:spPr>
          <a:xfrm>
            <a:off x="2279015" y="1365885"/>
            <a:ext cx="2826385" cy="1932305"/>
          </a:xfrm>
          <a:prstGeom prst="rect">
            <a:avLst/>
          </a:prstGeom>
        </p:spPr>
      </p:pic>
      <p:pic>
        <p:nvPicPr>
          <p:cNvPr id="13" name="图片 12"/>
          <p:cNvPicPr>
            <a:picLocks noChangeAspect="1"/>
          </p:cNvPicPr>
          <p:nvPr/>
        </p:nvPicPr>
        <p:blipFill>
          <a:blip r:embed="rId5"/>
          <a:stretch>
            <a:fillRect/>
          </a:stretch>
        </p:blipFill>
        <p:spPr>
          <a:xfrm>
            <a:off x="8676640" y="4222115"/>
            <a:ext cx="3295650" cy="1917065"/>
          </a:xfrm>
          <a:prstGeom prst="rect">
            <a:avLst/>
          </a:prstGeom>
        </p:spPr>
      </p:pic>
      <p:pic>
        <p:nvPicPr>
          <p:cNvPr id="14" name="图片 13"/>
          <p:cNvPicPr>
            <a:picLocks noChangeAspect="1"/>
          </p:cNvPicPr>
          <p:nvPr/>
        </p:nvPicPr>
        <p:blipFill>
          <a:blip r:embed="rId6"/>
          <a:stretch>
            <a:fillRect/>
          </a:stretch>
        </p:blipFill>
        <p:spPr>
          <a:xfrm>
            <a:off x="4861560" y="4222115"/>
            <a:ext cx="3474720" cy="1972945"/>
          </a:xfrm>
          <a:prstGeom prst="rect">
            <a:avLst/>
          </a:prstGeom>
        </p:spPr>
      </p:pic>
      <p:sp>
        <p:nvSpPr>
          <p:cNvPr id="4" name="文本框 3"/>
          <p:cNvSpPr txBox="1"/>
          <p:nvPr/>
        </p:nvSpPr>
        <p:spPr>
          <a:xfrm>
            <a:off x="8336280" y="1045845"/>
            <a:ext cx="3560445" cy="2676525"/>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sym typeface="+mn-ea"/>
              </a:rPr>
              <a:t>FB并不是禁止前后对比的形式，而是禁止前后对比所体现的夸大效果。比方说，对于祛痘产品前后对比图，瘦身裤、美白霜等的前后对比，都是违规。如果对比的效果是客观事实，比方说戴假发前&amp;戴假发后（没有修图），是合规的。</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10"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NO.7——引起不适的内容</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4" name="图片 3"/>
          <p:cNvPicPr>
            <a:picLocks noChangeAspect="1"/>
          </p:cNvPicPr>
          <p:nvPr/>
        </p:nvPicPr>
        <p:blipFill>
          <a:blip r:embed="rId2"/>
          <a:stretch>
            <a:fillRect/>
          </a:stretch>
        </p:blipFill>
        <p:spPr>
          <a:xfrm>
            <a:off x="2444750" y="924560"/>
            <a:ext cx="3923665" cy="3141345"/>
          </a:xfrm>
          <a:prstGeom prst="rect">
            <a:avLst/>
          </a:prstGeom>
        </p:spPr>
      </p:pic>
      <p:pic>
        <p:nvPicPr>
          <p:cNvPr id="5" name="图片 4"/>
          <p:cNvPicPr>
            <a:picLocks noChangeAspect="1"/>
          </p:cNvPicPr>
          <p:nvPr/>
        </p:nvPicPr>
        <p:blipFill>
          <a:blip r:embed="rId3"/>
          <a:stretch>
            <a:fillRect/>
          </a:stretch>
        </p:blipFill>
        <p:spPr>
          <a:xfrm>
            <a:off x="5920740" y="4263390"/>
            <a:ext cx="2471420" cy="2372360"/>
          </a:xfrm>
          <a:prstGeom prst="rect">
            <a:avLst/>
          </a:prstGeom>
        </p:spPr>
      </p:pic>
      <p:pic>
        <p:nvPicPr>
          <p:cNvPr id="3" name="图片 2"/>
          <p:cNvPicPr>
            <a:picLocks noChangeAspect="1"/>
          </p:cNvPicPr>
          <p:nvPr/>
        </p:nvPicPr>
        <p:blipFill>
          <a:blip r:embed="rId4"/>
          <a:stretch>
            <a:fillRect/>
          </a:stretch>
        </p:blipFill>
        <p:spPr>
          <a:xfrm>
            <a:off x="2444750" y="4263390"/>
            <a:ext cx="2427605" cy="2406015"/>
          </a:xfrm>
          <a:prstGeom prst="rect">
            <a:avLst/>
          </a:prstGeom>
        </p:spPr>
      </p:pic>
      <p:pic>
        <p:nvPicPr>
          <p:cNvPr id="8" name="图片 7"/>
          <p:cNvPicPr>
            <a:picLocks noChangeAspect="1"/>
          </p:cNvPicPr>
          <p:nvPr/>
        </p:nvPicPr>
        <p:blipFill>
          <a:blip r:embed="rId5"/>
          <a:stretch>
            <a:fillRect/>
          </a:stretch>
        </p:blipFill>
        <p:spPr>
          <a:xfrm>
            <a:off x="7410450" y="924560"/>
            <a:ext cx="3169920" cy="3143250"/>
          </a:xfrm>
          <a:prstGeom prst="rect">
            <a:avLst/>
          </a:prstGeom>
        </p:spPr>
      </p:pic>
      <p:sp>
        <p:nvSpPr>
          <p:cNvPr id="6" name="文本框 5"/>
          <p:cNvSpPr txBox="1"/>
          <p:nvPr/>
        </p:nvSpPr>
        <p:spPr>
          <a:xfrm>
            <a:off x="9151620" y="4966335"/>
            <a:ext cx="2215515" cy="829945"/>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sym typeface="+mn-ea"/>
              </a:rPr>
              <a:t>任何给用户造成不适的素材都应禁止使用。</a:t>
            </a:r>
            <a:endParaRPr lang="zh-CN" altLang="en-US" sz="1600">
              <a:latin typeface="宋体" panose="02010600030101010101" pitchFamily="2" charset="-122"/>
              <a:ea typeface="宋体" panose="02010600030101010101" pitchFamily="2" charset="-122"/>
            </a:endParaRPr>
          </a:p>
        </p:txBody>
      </p:sp>
      <p:sp>
        <p:nvSpPr>
          <p:cNvPr id="9"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4"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NO.8——药品、保健品及理想医疗</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5" name="图片 4"/>
          <p:cNvPicPr>
            <a:picLocks noChangeAspect="1"/>
          </p:cNvPicPr>
          <p:nvPr/>
        </p:nvPicPr>
        <p:blipFill>
          <a:blip r:embed="rId2"/>
          <a:stretch>
            <a:fillRect/>
          </a:stretch>
        </p:blipFill>
        <p:spPr>
          <a:xfrm>
            <a:off x="5518150" y="3391535"/>
            <a:ext cx="3037205" cy="2621915"/>
          </a:xfrm>
          <a:prstGeom prst="rect">
            <a:avLst/>
          </a:prstGeom>
        </p:spPr>
      </p:pic>
      <p:pic>
        <p:nvPicPr>
          <p:cNvPr id="6" name="图片 5"/>
          <p:cNvPicPr>
            <a:picLocks noChangeAspect="1"/>
          </p:cNvPicPr>
          <p:nvPr/>
        </p:nvPicPr>
        <p:blipFill>
          <a:blip r:embed="rId3"/>
          <a:stretch>
            <a:fillRect/>
          </a:stretch>
        </p:blipFill>
        <p:spPr>
          <a:xfrm>
            <a:off x="2444750" y="3373120"/>
            <a:ext cx="2755265" cy="2640330"/>
          </a:xfrm>
          <a:prstGeom prst="rect">
            <a:avLst/>
          </a:prstGeom>
        </p:spPr>
      </p:pic>
      <p:pic>
        <p:nvPicPr>
          <p:cNvPr id="11" name="图片 10"/>
          <p:cNvPicPr>
            <a:picLocks noChangeAspect="1"/>
          </p:cNvPicPr>
          <p:nvPr/>
        </p:nvPicPr>
        <p:blipFill>
          <a:blip r:embed="rId4"/>
          <a:stretch>
            <a:fillRect/>
          </a:stretch>
        </p:blipFill>
        <p:spPr>
          <a:xfrm>
            <a:off x="2444750" y="1264285"/>
            <a:ext cx="6121400" cy="1403350"/>
          </a:xfrm>
          <a:prstGeom prst="rect">
            <a:avLst/>
          </a:prstGeom>
        </p:spPr>
      </p:pic>
      <p:sp>
        <p:nvSpPr>
          <p:cNvPr id="8" name="文本框 7"/>
          <p:cNvSpPr txBox="1"/>
          <p:nvPr/>
        </p:nvSpPr>
        <p:spPr>
          <a:xfrm>
            <a:off x="8802370" y="3729990"/>
            <a:ext cx="3185160" cy="3046095"/>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rPr>
              <a:t>广告不得展示药品，及有任何有疗效的保健品。不得夸大任何产品的医疗效果，误导用户。</a:t>
            </a:r>
            <a:endParaRPr lang="zh-CN" altLang="en-US"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solidFill>
                <a:schemeClr val="tx1"/>
              </a:solidFill>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rPr>
              <a:t>例如某普通拖鞋，被夸张宣传后，可以疏通全身脉络，治疗疾病；某种药品可以治愈癌症等多种疗效。</a:t>
            </a:r>
            <a:endParaRPr lang="en-US" altLang="zh-CN" sz="1600">
              <a:solidFill>
                <a:schemeClr val="tx1"/>
              </a:solidFill>
              <a:latin typeface="宋体" panose="02010600030101010101" pitchFamily="2" charset="-122"/>
              <a:ea typeface="宋体" panose="02010600030101010101" pitchFamily="2" charset="-122"/>
            </a:endParaRPr>
          </a:p>
        </p:txBody>
      </p:sp>
      <p:sp>
        <p:nvSpPr>
          <p:cNvPr id="3"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pic>
        <p:nvPicPr>
          <p:cNvPr id="9" name="图片 8"/>
          <p:cNvPicPr>
            <a:picLocks noChangeAspect="1"/>
          </p:cNvPicPr>
          <p:nvPr/>
        </p:nvPicPr>
        <p:blipFill>
          <a:blip r:embed="rId5"/>
          <a:stretch>
            <a:fillRect/>
          </a:stretch>
        </p:blipFill>
        <p:spPr>
          <a:xfrm>
            <a:off x="9085580" y="1264285"/>
            <a:ext cx="2399030" cy="22377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3"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NO.9——低价钻石、金首饰</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9" name="图片 8"/>
          <p:cNvPicPr>
            <a:picLocks noChangeAspect="1"/>
          </p:cNvPicPr>
          <p:nvPr/>
        </p:nvPicPr>
        <p:blipFill>
          <a:blip r:embed="rId2"/>
          <a:stretch>
            <a:fillRect/>
          </a:stretch>
        </p:blipFill>
        <p:spPr>
          <a:xfrm>
            <a:off x="5069205" y="1164590"/>
            <a:ext cx="3293110" cy="1707515"/>
          </a:xfrm>
          <a:prstGeom prst="rect">
            <a:avLst/>
          </a:prstGeom>
        </p:spPr>
      </p:pic>
      <p:pic>
        <p:nvPicPr>
          <p:cNvPr id="10" name="图片 9"/>
          <p:cNvPicPr>
            <a:picLocks noChangeAspect="1"/>
          </p:cNvPicPr>
          <p:nvPr/>
        </p:nvPicPr>
        <p:blipFill>
          <a:blip r:embed="rId3"/>
          <a:stretch>
            <a:fillRect/>
          </a:stretch>
        </p:blipFill>
        <p:spPr>
          <a:xfrm>
            <a:off x="8155940" y="4928235"/>
            <a:ext cx="3722370" cy="1778635"/>
          </a:xfrm>
          <a:prstGeom prst="rect">
            <a:avLst/>
          </a:prstGeom>
        </p:spPr>
      </p:pic>
      <p:pic>
        <p:nvPicPr>
          <p:cNvPr id="11" name="图片 10"/>
          <p:cNvPicPr>
            <a:picLocks noChangeAspect="1"/>
          </p:cNvPicPr>
          <p:nvPr/>
        </p:nvPicPr>
        <p:blipFill>
          <a:blip r:embed="rId4"/>
          <a:stretch>
            <a:fillRect/>
          </a:stretch>
        </p:blipFill>
        <p:spPr>
          <a:xfrm>
            <a:off x="8663940" y="3035935"/>
            <a:ext cx="3213735" cy="1647190"/>
          </a:xfrm>
          <a:prstGeom prst="rect">
            <a:avLst/>
          </a:prstGeom>
        </p:spPr>
      </p:pic>
      <p:pic>
        <p:nvPicPr>
          <p:cNvPr id="12" name="图片 11"/>
          <p:cNvPicPr>
            <a:picLocks noChangeAspect="1"/>
          </p:cNvPicPr>
          <p:nvPr/>
        </p:nvPicPr>
        <p:blipFill>
          <a:blip r:embed="rId5"/>
          <a:stretch>
            <a:fillRect/>
          </a:stretch>
        </p:blipFill>
        <p:spPr>
          <a:xfrm>
            <a:off x="8663940" y="1163955"/>
            <a:ext cx="3213735" cy="1413510"/>
          </a:xfrm>
          <a:prstGeom prst="rect">
            <a:avLst/>
          </a:prstGeom>
        </p:spPr>
      </p:pic>
      <p:pic>
        <p:nvPicPr>
          <p:cNvPr id="14" name="图片 13"/>
          <p:cNvPicPr>
            <a:picLocks noChangeAspect="1"/>
          </p:cNvPicPr>
          <p:nvPr/>
        </p:nvPicPr>
        <p:blipFill>
          <a:blip r:embed="rId6"/>
          <a:stretch>
            <a:fillRect/>
          </a:stretch>
        </p:blipFill>
        <p:spPr>
          <a:xfrm>
            <a:off x="2065020" y="1108710"/>
            <a:ext cx="2921635" cy="2900680"/>
          </a:xfrm>
          <a:prstGeom prst="rect">
            <a:avLst/>
          </a:prstGeom>
        </p:spPr>
      </p:pic>
      <p:pic>
        <p:nvPicPr>
          <p:cNvPr id="15" name="图片 14"/>
          <p:cNvPicPr>
            <a:picLocks noChangeAspect="1"/>
          </p:cNvPicPr>
          <p:nvPr/>
        </p:nvPicPr>
        <p:blipFill>
          <a:blip r:embed="rId7"/>
          <a:stretch>
            <a:fillRect/>
          </a:stretch>
        </p:blipFill>
        <p:spPr>
          <a:xfrm>
            <a:off x="5166995" y="3009265"/>
            <a:ext cx="3097530" cy="1612900"/>
          </a:xfrm>
          <a:prstGeom prst="rect">
            <a:avLst/>
          </a:prstGeom>
        </p:spPr>
      </p:pic>
      <p:sp>
        <p:nvSpPr>
          <p:cNvPr id="4" name="文本框 3"/>
          <p:cNvSpPr txBox="1"/>
          <p:nvPr/>
        </p:nvSpPr>
        <p:spPr>
          <a:xfrm>
            <a:off x="2065020" y="4928235"/>
            <a:ext cx="4893310" cy="1568450"/>
          </a:xfrm>
          <a:prstGeom prst="rect">
            <a:avLst/>
          </a:prstGeom>
          <a:noFill/>
        </p:spPr>
        <p:txBody>
          <a:bodyPr wrap="square" rtlCol="0">
            <a:spAutoFit/>
          </a:bodyPr>
          <a:p>
            <a:pPr algn="l" eaLnBrk="1" fontAlgn="auto" latinLnBrk="0" hangingPunct="1">
              <a:lnSpc>
                <a:spcPct val="150000"/>
              </a:lnSpc>
            </a:pPr>
            <a:r>
              <a:rPr lang="zh-CN" altLang="en-US" sz="1600">
                <a:solidFill>
                  <a:schemeClr val="tx1"/>
                </a:solidFill>
                <a:latin typeface="宋体" panose="02010600030101010101" pitchFamily="2" charset="-122"/>
                <a:ea typeface="宋体" panose="02010600030101010101" pitchFamily="2" charset="-122"/>
                <a:sym typeface="+mn-ea"/>
              </a:rPr>
              <a:t>珠宝钻石都有自己的恒定价值，虽然会根据市场价有所波动，但是本身的商业属性就高，所以超低价甩卖、买一送三这样的促销并不能适用于这些昂贵的商品，价格严重不实。</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4"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NO.10——全好评、零差评</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3" name="图片 2"/>
          <p:cNvPicPr>
            <a:picLocks noChangeAspect="1"/>
          </p:cNvPicPr>
          <p:nvPr/>
        </p:nvPicPr>
        <p:blipFill>
          <a:blip r:embed="rId2"/>
          <a:stretch>
            <a:fillRect/>
          </a:stretch>
        </p:blipFill>
        <p:spPr>
          <a:xfrm>
            <a:off x="2245360" y="1163955"/>
            <a:ext cx="3039745" cy="1962785"/>
          </a:xfrm>
          <a:prstGeom prst="rect">
            <a:avLst/>
          </a:prstGeom>
        </p:spPr>
      </p:pic>
      <p:pic>
        <p:nvPicPr>
          <p:cNvPr id="5" name="图片 4"/>
          <p:cNvPicPr>
            <a:picLocks noChangeAspect="1"/>
          </p:cNvPicPr>
          <p:nvPr/>
        </p:nvPicPr>
        <p:blipFill>
          <a:blip r:embed="rId3"/>
          <a:stretch>
            <a:fillRect/>
          </a:stretch>
        </p:blipFill>
        <p:spPr>
          <a:xfrm>
            <a:off x="2245360" y="4026535"/>
            <a:ext cx="3091815" cy="2035175"/>
          </a:xfrm>
          <a:prstGeom prst="rect">
            <a:avLst/>
          </a:prstGeom>
        </p:spPr>
      </p:pic>
      <p:pic>
        <p:nvPicPr>
          <p:cNvPr id="6" name="图片 5"/>
          <p:cNvPicPr>
            <a:picLocks noChangeAspect="1"/>
          </p:cNvPicPr>
          <p:nvPr/>
        </p:nvPicPr>
        <p:blipFill>
          <a:blip r:embed="rId4"/>
          <a:stretch>
            <a:fillRect/>
          </a:stretch>
        </p:blipFill>
        <p:spPr>
          <a:xfrm>
            <a:off x="8833485" y="1188085"/>
            <a:ext cx="2915285" cy="1915160"/>
          </a:xfrm>
          <a:prstGeom prst="rect">
            <a:avLst/>
          </a:prstGeom>
        </p:spPr>
      </p:pic>
      <p:pic>
        <p:nvPicPr>
          <p:cNvPr id="16" name="图片 15"/>
          <p:cNvPicPr>
            <a:picLocks noChangeAspect="1"/>
          </p:cNvPicPr>
          <p:nvPr/>
        </p:nvPicPr>
        <p:blipFill>
          <a:blip r:embed="rId5"/>
          <a:stretch>
            <a:fillRect/>
          </a:stretch>
        </p:blipFill>
        <p:spPr>
          <a:xfrm>
            <a:off x="5628640" y="4026535"/>
            <a:ext cx="3519805" cy="1963420"/>
          </a:xfrm>
          <a:prstGeom prst="rect">
            <a:avLst/>
          </a:prstGeom>
        </p:spPr>
      </p:pic>
      <p:pic>
        <p:nvPicPr>
          <p:cNvPr id="17" name="图片 16"/>
          <p:cNvPicPr>
            <a:picLocks noChangeAspect="1"/>
          </p:cNvPicPr>
          <p:nvPr/>
        </p:nvPicPr>
        <p:blipFill>
          <a:blip r:embed="rId6"/>
          <a:stretch>
            <a:fillRect/>
          </a:stretch>
        </p:blipFill>
        <p:spPr>
          <a:xfrm>
            <a:off x="5628640" y="1163955"/>
            <a:ext cx="2820670" cy="1998345"/>
          </a:xfrm>
          <a:prstGeom prst="rect">
            <a:avLst/>
          </a:prstGeom>
        </p:spPr>
      </p:pic>
      <p:sp>
        <p:nvSpPr>
          <p:cNvPr id="18" name="文本框 17"/>
          <p:cNvSpPr txBox="1"/>
          <p:nvPr/>
        </p:nvSpPr>
        <p:spPr>
          <a:xfrm>
            <a:off x="9305290" y="3863975"/>
            <a:ext cx="2614930" cy="2676525"/>
          </a:xfrm>
          <a:prstGeom prst="rect">
            <a:avLst/>
          </a:prstGeom>
          <a:noFill/>
        </p:spPr>
        <p:txBody>
          <a:bodyPr wrap="square" rtlCol="0">
            <a:spAutoFit/>
          </a:bodyPr>
          <a:p>
            <a:pPr algn="l"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sym typeface="+mn-ea"/>
              </a:rPr>
              <a:t>产品页面的评论区尽量不要只展示好评信息，不允许负面评论会引起造假嫌疑。（</a:t>
            </a:r>
            <a:r>
              <a:rPr lang="zh-CN" sz="1600">
                <a:latin typeface="宋体" panose="02010600030101010101" pitchFamily="2" charset="-122"/>
                <a:ea typeface="宋体" panose="02010600030101010101" pitchFamily="2" charset="-122"/>
                <a:sym typeface="+mn-ea"/>
              </a:rPr>
              <a:t>比如广告主刷好评吸引客户或是删除负面评论等，</a:t>
            </a:r>
            <a:r>
              <a:rPr lang="zh-CN" sz="1600">
                <a:solidFill>
                  <a:schemeClr val="tx1"/>
                </a:solidFill>
                <a:latin typeface="宋体" panose="02010600030101010101" pitchFamily="2" charset="-122"/>
                <a:ea typeface="宋体" panose="02010600030101010101" pitchFamily="2" charset="-122"/>
                <a:sym typeface="+mn-ea"/>
              </a:rPr>
              <a:t>产品评分低应提升自身，不要走极端。）</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4"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5071745"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NO.11——虚假倒计时、虚假售卖数量</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5" name="图片 4"/>
          <p:cNvPicPr>
            <a:picLocks noChangeAspect="1"/>
          </p:cNvPicPr>
          <p:nvPr/>
        </p:nvPicPr>
        <p:blipFill>
          <a:blip r:embed="rId2"/>
          <a:stretch>
            <a:fillRect/>
          </a:stretch>
        </p:blipFill>
        <p:spPr>
          <a:xfrm>
            <a:off x="2103755" y="3785870"/>
            <a:ext cx="5190490" cy="1873250"/>
          </a:xfrm>
          <a:prstGeom prst="rect">
            <a:avLst/>
          </a:prstGeom>
          <a:noFill/>
          <a:ln w="9525">
            <a:noFill/>
          </a:ln>
        </p:spPr>
      </p:pic>
      <p:pic>
        <p:nvPicPr>
          <p:cNvPr id="9" name="图片 8"/>
          <p:cNvPicPr>
            <a:picLocks noChangeAspect="1"/>
          </p:cNvPicPr>
          <p:nvPr/>
        </p:nvPicPr>
        <p:blipFill>
          <a:blip r:embed="rId3"/>
          <a:stretch>
            <a:fillRect/>
          </a:stretch>
        </p:blipFill>
        <p:spPr>
          <a:xfrm>
            <a:off x="7677785" y="3785870"/>
            <a:ext cx="4210685" cy="1859280"/>
          </a:xfrm>
          <a:prstGeom prst="rect">
            <a:avLst/>
          </a:prstGeom>
          <a:noFill/>
          <a:ln w="9525">
            <a:noFill/>
          </a:ln>
        </p:spPr>
      </p:pic>
      <p:pic>
        <p:nvPicPr>
          <p:cNvPr id="11" name="图片 10"/>
          <p:cNvPicPr>
            <a:picLocks noChangeAspect="1"/>
          </p:cNvPicPr>
          <p:nvPr/>
        </p:nvPicPr>
        <p:blipFill>
          <a:blip r:embed="rId4"/>
          <a:stretch>
            <a:fillRect/>
          </a:stretch>
        </p:blipFill>
        <p:spPr>
          <a:xfrm>
            <a:off x="2103755" y="1517650"/>
            <a:ext cx="6655435" cy="1466850"/>
          </a:xfrm>
          <a:prstGeom prst="rect">
            <a:avLst/>
          </a:prstGeom>
        </p:spPr>
      </p:pic>
      <p:sp>
        <p:nvSpPr>
          <p:cNvPr id="3" name="文本框 2"/>
          <p:cNvSpPr txBox="1"/>
          <p:nvPr/>
        </p:nvSpPr>
        <p:spPr>
          <a:xfrm>
            <a:off x="9169400" y="1177290"/>
            <a:ext cx="2719070" cy="2306955"/>
          </a:xfrm>
          <a:prstGeom prst="rect">
            <a:avLst/>
          </a:prstGeom>
          <a:noFill/>
        </p:spPr>
        <p:txBody>
          <a:bodyPr wrap="square" rtlCol="0">
            <a:spAutoFit/>
          </a:bodyPr>
          <a:p>
            <a:pPr algn="l"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sym typeface="+mn-ea"/>
              </a:rPr>
              <a:t>产品页面允许有倒计时及售卖数量，要保证真实有效，如果页面售卖数量、倒计时是设定好的，每天点进去的内容一致，属于违规，FB有办法从源代码检查。</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9"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2" name="文本框 1"/>
          <p:cNvSpPr txBox="1"/>
          <p:nvPr/>
        </p:nvSpPr>
        <p:spPr>
          <a:xfrm>
            <a:off x="2444750" y="458470"/>
            <a:ext cx="4085590" cy="398780"/>
          </a:xfrm>
          <a:prstGeom prst="rect">
            <a:avLst/>
          </a:prstGeom>
          <a:noFill/>
        </p:spPr>
        <p:txBody>
          <a:bodyPr wrap="square" rtlCol="0">
            <a:spAutoFit/>
          </a:bodyPr>
          <a:p>
            <a:pPr algn="l"/>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rPr>
              <a:t>NO.12——恐怖、惊悚、令人不安</a:t>
            </a:r>
            <a:endPar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mn-ea"/>
            </a:endParaRPr>
          </a:p>
        </p:txBody>
      </p:sp>
      <p:pic>
        <p:nvPicPr>
          <p:cNvPr id="3" name="图片 2"/>
          <p:cNvPicPr>
            <a:picLocks noChangeAspect="1"/>
          </p:cNvPicPr>
          <p:nvPr/>
        </p:nvPicPr>
        <p:blipFill>
          <a:blip r:embed="rId2"/>
          <a:stretch>
            <a:fillRect/>
          </a:stretch>
        </p:blipFill>
        <p:spPr>
          <a:xfrm>
            <a:off x="2567940" y="4072890"/>
            <a:ext cx="2722245" cy="2458085"/>
          </a:xfrm>
          <a:prstGeom prst="rect">
            <a:avLst/>
          </a:prstGeom>
        </p:spPr>
      </p:pic>
      <p:pic>
        <p:nvPicPr>
          <p:cNvPr id="4" name="图片 3"/>
          <p:cNvPicPr>
            <a:picLocks noChangeAspect="1"/>
          </p:cNvPicPr>
          <p:nvPr/>
        </p:nvPicPr>
        <p:blipFill>
          <a:blip r:embed="rId3"/>
          <a:stretch>
            <a:fillRect/>
          </a:stretch>
        </p:blipFill>
        <p:spPr>
          <a:xfrm>
            <a:off x="9192260" y="1457960"/>
            <a:ext cx="2677160" cy="2445385"/>
          </a:xfrm>
          <a:prstGeom prst="rect">
            <a:avLst/>
          </a:prstGeom>
        </p:spPr>
      </p:pic>
      <p:pic>
        <p:nvPicPr>
          <p:cNvPr id="6" name="图片 5"/>
          <p:cNvPicPr>
            <a:picLocks noChangeAspect="1"/>
          </p:cNvPicPr>
          <p:nvPr/>
        </p:nvPicPr>
        <p:blipFill>
          <a:blip r:embed="rId4"/>
          <a:stretch>
            <a:fillRect/>
          </a:stretch>
        </p:blipFill>
        <p:spPr>
          <a:xfrm>
            <a:off x="2567940" y="1002665"/>
            <a:ext cx="6263640" cy="2740025"/>
          </a:xfrm>
          <a:prstGeom prst="rect">
            <a:avLst/>
          </a:prstGeom>
        </p:spPr>
      </p:pic>
      <p:sp>
        <p:nvSpPr>
          <p:cNvPr id="8" name="文本框 7"/>
          <p:cNvSpPr txBox="1"/>
          <p:nvPr/>
        </p:nvSpPr>
        <p:spPr>
          <a:xfrm>
            <a:off x="6692900" y="4148455"/>
            <a:ext cx="4265930" cy="2306955"/>
          </a:xfrm>
          <a:prstGeom prst="rect">
            <a:avLst/>
          </a:prstGeom>
          <a:noFill/>
        </p:spPr>
        <p:txBody>
          <a:bodyPr wrap="square" rtlCol="0">
            <a:spAutoFit/>
          </a:bodyPr>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rPr>
              <a:t>广告不得包含令人恐惧、骇人听闻、对人无礼或过度暴力的内容。</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rPr>
              <a:t>可能会让观看者受到惊吓的图片</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rPr>
              <a:t>恐怖、血腥或骇人听闻的图片</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rPr>
              <a:t>描述暴力或暴力威胁的广告</a:t>
            </a:r>
            <a:endParaRPr lang="zh-CN" sz="1600">
              <a:solidFill>
                <a:schemeClr val="tx1"/>
              </a:solidFill>
              <a:latin typeface="宋体" panose="02010600030101010101" pitchFamily="2" charset="-122"/>
              <a:ea typeface="宋体" panose="02010600030101010101" pitchFamily="2" charset="-122"/>
            </a:endParaRPr>
          </a:p>
        </p:txBody>
      </p:sp>
      <p:sp>
        <p:nvSpPr>
          <p:cNvPr id="5"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67"/>
          <p:cNvSpPr/>
          <p:nvPr/>
        </p:nvSpPr>
        <p:spPr>
          <a:xfrm>
            <a:off x="-11150" y="26916"/>
            <a:ext cx="12192000" cy="6858000"/>
          </a:xfrm>
          <a:prstGeom prst="rect">
            <a:avLst/>
          </a:prstGeom>
          <a:solidFill>
            <a:srgbClr val="F2F2F2"/>
          </a:solidFill>
          <a:ln w="25400" cap="flat" cmpd="sng">
            <a:solidFill>
              <a:srgbClr val="E6E6E6"/>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5" name="Google Shape;605;p67"/>
          <p:cNvSpPr txBox="1"/>
          <p:nvPr/>
        </p:nvSpPr>
        <p:spPr>
          <a:xfrm>
            <a:off x="172945" y="1849946"/>
            <a:ext cx="7721100" cy="707700"/>
          </a:xfrm>
          <a:prstGeom prst="rect">
            <a:avLst/>
          </a:prstGeom>
          <a:noFill/>
          <a:ln>
            <a:noFill/>
          </a:ln>
        </p:spPr>
        <p:txBody>
          <a:bodyPr spcFirstLastPara="1" wrap="square" lIns="45675" tIns="45675" rIns="45675" bIns="45675" anchor="b" anchorCtr="0">
            <a:noAutofit/>
          </a:bodyPr>
          <a:lstStyle/>
          <a:p>
            <a:pPr marL="0" marR="0" lvl="0" indent="0" algn="l" rtl="0">
              <a:spcBef>
                <a:spcPts val="0"/>
              </a:spcBef>
              <a:spcAft>
                <a:spcPts val="0"/>
              </a:spcAft>
              <a:buNone/>
            </a:pPr>
            <a:r>
              <a:rPr lang="en-US" altLang="zh-CN" sz="4000" b="1">
                <a:latin typeface="+mj-ea"/>
                <a:ea typeface="+mj-ea"/>
                <a:sym typeface="+mn-ea"/>
              </a:rPr>
              <a:t>Facebook</a:t>
            </a:r>
            <a:r>
              <a:rPr lang="zh-CN" altLang="en-US" sz="4000" b="1">
                <a:latin typeface="+mj-ea"/>
                <a:ea typeface="+mj-ea"/>
                <a:sym typeface="+mn-ea"/>
              </a:rPr>
              <a:t>广告违规案例</a:t>
            </a:r>
            <a:endParaRPr sz="4000" b="1" i="0" u="none" strike="noStrike" cap="non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08" name="Google Shape;608;p67"/>
          <p:cNvCxnSpPr/>
          <p:nvPr/>
        </p:nvCxnSpPr>
        <p:spPr>
          <a:xfrm>
            <a:off x="8255999" y="0"/>
            <a:ext cx="3936000" cy="6831000"/>
          </a:xfrm>
          <a:prstGeom prst="straightConnector1">
            <a:avLst/>
          </a:prstGeom>
          <a:noFill/>
          <a:ln w="9525" cap="flat" cmpd="sng">
            <a:solidFill>
              <a:srgbClr val="323F4F"/>
            </a:solidFill>
            <a:prstDash val="solid"/>
            <a:round/>
            <a:headEnd type="none" w="sm" len="sm"/>
            <a:tailEnd type="none" w="sm" len="sm"/>
          </a:ln>
        </p:spPr>
      </p:cxnSp>
      <p:cxnSp>
        <p:nvCxnSpPr>
          <p:cNvPr id="609" name="Google Shape;609;p67"/>
          <p:cNvCxnSpPr/>
          <p:nvPr/>
        </p:nvCxnSpPr>
        <p:spPr>
          <a:xfrm flipH="1">
            <a:off x="4119783" y="27000"/>
            <a:ext cx="6747000" cy="6804000"/>
          </a:xfrm>
          <a:prstGeom prst="straightConnector1">
            <a:avLst/>
          </a:prstGeom>
          <a:noFill/>
          <a:ln w="9525" cap="flat" cmpd="sng">
            <a:solidFill>
              <a:srgbClr val="323F4F"/>
            </a:solidFill>
            <a:prstDash val="solid"/>
            <a:round/>
            <a:headEnd type="none" w="sm" len="sm"/>
            <a:tailEnd type="none" w="sm" len="sm"/>
          </a:ln>
        </p:spPr>
      </p:cxnSp>
      <p:cxnSp>
        <p:nvCxnSpPr>
          <p:cNvPr id="610" name="Google Shape;610;p67"/>
          <p:cNvCxnSpPr/>
          <p:nvPr/>
        </p:nvCxnSpPr>
        <p:spPr>
          <a:xfrm>
            <a:off x="1662194" y="26999"/>
            <a:ext cx="10529700" cy="4698000"/>
          </a:xfrm>
          <a:prstGeom prst="straightConnector1">
            <a:avLst/>
          </a:prstGeom>
          <a:noFill/>
          <a:ln w="9525" cap="flat" cmpd="sng">
            <a:solidFill>
              <a:srgbClr val="323F4F"/>
            </a:solidFill>
            <a:prstDash val="solid"/>
            <a:round/>
            <a:headEnd type="none" w="sm" len="sm"/>
            <a:tailEnd type="none" w="sm" len="sm"/>
          </a:ln>
        </p:spPr>
      </p:cxnSp>
      <p:cxnSp>
        <p:nvCxnSpPr>
          <p:cNvPr id="611" name="Google Shape;611;p67"/>
          <p:cNvCxnSpPr/>
          <p:nvPr/>
        </p:nvCxnSpPr>
        <p:spPr>
          <a:xfrm flipH="1">
            <a:off x="10055986" y="3983183"/>
            <a:ext cx="532500" cy="2847900"/>
          </a:xfrm>
          <a:prstGeom prst="straightConnector1">
            <a:avLst/>
          </a:prstGeom>
          <a:noFill/>
          <a:ln w="9525" cap="flat" cmpd="sng">
            <a:solidFill>
              <a:srgbClr val="323F4F"/>
            </a:solidFill>
            <a:prstDash val="solid"/>
            <a:round/>
            <a:headEnd type="none" w="sm" len="sm"/>
            <a:tailEnd type="none" w="sm" len="sm"/>
          </a:ln>
        </p:spPr>
      </p:cxnSp>
      <p:sp>
        <p:nvSpPr>
          <p:cNvPr id="612" name="Google Shape;612;p67"/>
          <p:cNvSpPr/>
          <p:nvPr/>
        </p:nvSpPr>
        <p:spPr>
          <a:xfrm rot="10800000" flipH="1">
            <a:off x="9192000" y="1651321"/>
            <a:ext cx="72000" cy="72000"/>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3" name="Google Shape;613;p67"/>
          <p:cNvSpPr/>
          <p:nvPr/>
        </p:nvSpPr>
        <p:spPr>
          <a:xfrm rot="8917620" flipH="1">
            <a:off x="7981441" y="2821469"/>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4" name="Google Shape;614;p67"/>
          <p:cNvSpPr/>
          <p:nvPr/>
        </p:nvSpPr>
        <p:spPr>
          <a:xfrm rot="8917620" flipH="1">
            <a:off x="10531520" y="3956092"/>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5" name="Google Shape;615;p67"/>
          <p:cNvSpPr/>
          <p:nvPr/>
        </p:nvSpPr>
        <p:spPr>
          <a:xfrm>
            <a:off x="9747778" y="27000"/>
            <a:ext cx="2370006" cy="2830518"/>
          </a:xfrm>
          <a:custGeom>
            <a:avLst/>
            <a:gdLst/>
            <a:ahLst/>
            <a:cxnLst/>
            <a:rect l="l" t="t" r="r" b="b"/>
            <a:pathLst>
              <a:path w="21600" h="21600" extrusionOk="0">
                <a:moveTo>
                  <a:pt x="0" y="21600"/>
                </a:moveTo>
                <a:lnTo>
                  <a:pt x="10231" y="0"/>
                </a:lnTo>
                <a:lnTo>
                  <a:pt x="21600" y="0"/>
                </a:lnTo>
                <a:lnTo>
                  <a:pt x="11369" y="2160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6" name="Google Shape;616;p67"/>
          <p:cNvSpPr/>
          <p:nvPr/>
        </p:nvSpPr>
        <p:spPr>
          <a:xfrm rot="-5400000">
            <a:off x="9666008" y="133204"/>
            <a:ext cx="2609982" cy="2370006"/>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7" name="Google Shape;617;p67"/>
          <p:cNvSpPr/>
          <p:nvPr/>
        </p:nvSpPr>
        <p:spPr>
          <a:xfrm rot="10800000">
            <a:off x="10631871" y="2268918"/>
            <a:ext cx="1526418" cy="1808082"/>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8" name="Google Shape;618;p67"/>
          <p:cNvSpPr/>
          <p:nvPr/>
        </p:nvSpPr>
        <p:spPr>
          <a:xfrm rot="8592263">
            <a:off x="9984137" y="2102997"/>
            <a:ext cx="1532651" cy="2692129"/>
          </a:xfrm>
          <a:custGeom>
            <a:avLst/>
            <a:gdLst/>
            <a:ahLst/>
            <a:cxnLst/>
            <a:rect l="l" t="t" r="r" b="b"/>
            <a:pathLst>
              <a:path w="21600" h="21600" extrusionOk="0">
                <a:moveTo>
                  <a:pt x="0" y="21600"/>
                </a:moveTo>
                <a:lnTo>
                  <a:pt x="21600" y="21600"/>
                </a:lnTo>
                <a:lnTo>
                  <a:pt x="0" y="0"/>
                </a:lnTo>
                <a:close/>
              </a:path>
            </a:pathLst>
          </a:custGeom>
          <a:solidFill>
            <a:srgbClr val="8296B0"/>
          </a:solidFill>
          <a:ln w="25400" cap="flat" cmpd="sng">
            <a:solidFill>
              <a:srgbClr val="8296B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1307465" y="3060700"/>
            <a:ext cx="1273175" cy="1014730"/>
          </a:xfrm>
          <a:prstGeom prst="rect">
            <a:avLst/>
          </a:prstGeom>
          <a:noFill/>
        </p:spPr>
        <p:txBody>
          <a:bodyPr wrap="square" rtlCol="0">
            <a:spAutoFit/>
          </a:bodyPr>
          <a:p>
            <a:pPr algn="l" eaLnBrk="1" fontAlgn="auto" latinLnBrk="0" hangingPunct="1">
              <a:lnSpc>
                <a:spcPct val="150000"/>
              </a:lnSpc>
            </a:pPr>
            <a:r>
              <a:rPr lang="zh-CN" altLang="en-US" sz="4000" b="1">
                <a:latin typeface="+mj-ea"/>
                <a:ea typeface="+mj-ea"/>
              </a:rPr>
              <a:t>金融</a:t>
            </a:r>
            <a:endParaRPr lang="zh-CN" altLang="en-US" sz="4000" b="1">
              <a:latin typeface="+mj-ea"/>
              <a:ea typeface="+mj-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5"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altLang="en-US" sz="2000" b="1">
                <a:effectLst>
                  <a:outerShdw blurRad="38100" dist="38100" dir="2700000" algn="tl">
                    <a:srgbClr val="000000">
                      <a:alpha val="43137"/>
                    </a:srgbClr>
                  </a:outerShdw>
                </a:effectLst>
                <a:sym typeface="+mn-ea"/>
              </a:rPr>
              <a:t>【Facebook 对于金融产品的管制】 </a:t>
            </a:r>
            <a:endParaRPr lang="zh-CN" altLang="en-US" sz="2000" b="1">
              <a:effectLst>
                <a:outerShdw blurRad="38100" dist="38100" dir="2700000" algn="tl">
                  <a:srgbClr val="000000">
                    <a:alpha val="43137"/>
                  </a:srgbClr>
                </a:outerShdw>
              </a:effectLst>
              <a:sym typeface="+mn-ea"/>
            </a:endParaRPr>
          </a:p>
        </p:txBody>
      </p:sp>
      <p:sp>
        <p:nvSpPr>
          <p:cNvPr id="4" name="Content Placeholder 2"/>
          <p:cNvSpPr txBox="1"/>
          <p:nvPr/>
        </p:nvSpPr>
        <p:spPr>
          <a:xfrm>
            <a:off x="2342515" y="2163445"/>
            <a:ext cx="4306570" cy="38322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fontAlgn="auto">
              <a:lnSpc>
                <a:spcPct val="150000"/>
              </a:lnSpc>
              <a:buNone/>
            </a:pPr>
            <a:r>
              <a:rPr lang="zh-CN" altLang="en-US" sz="1600" dirty="0">
                <a:latin typeface="宋体" panose="02010600030101010101" pitchFamily="2" charset="-122"/>
                <a:ea typeface="宋体" panose="02010600030101010101" pitchFamily="2" charset="-122"/>
              </a:rPr>
              <a:t>政策 广告不得宣传经常与误导性或欺骗性促销活动相关的金融产品和服务，</a:t>
            </a:r>
            <a:endParaRPr lang="en-US" altLang="zh-CN" sz="1600" dirty="0">
              <a:latin typeface="宋体" panose="02010600030101010101" pitchFamily="2" charset="-122"/>
              <a:ea typeface="宋体" panose="02010600030101010101" pitchFamily="2" charset="-122"/>
            </a:endParaRPr>
          </a:p>
          <a:p>
            <a:pPr marL="0" indent="0" fontAlgn="auto">
              <a:lnSpc>
                <a:spcPct val="150000"/>
              </a:lnSpc>
              <a:buNone/>
            </a:pPr>
            <a:r>
              <a:rPr lang="zh-CN" altLang="en-US" sz="1600" dirty="0">
                <a:latin typeface="宋体" panose="02010600030101010101" pitchFamily="2" charset="-122"/>
                <a:ea typeface="宋体" panose="02010600030101010101" pitchFamily="2" charset="-122"/>
              </a:rPr>
              <a:t>例如</a:t>
            </a:r>
            <a:endParaRPr lang="en-US" altLang="zh-CN" sz="1600" dirty="0">
              <a:latin typeface="宋体" panose="02010600030101010101" pitchFamily="2" charset="-122"/>
              <a:ea typeface="宋体" panose="02010600030101010101" pitchFamily="2" charset="-122"/>
            </a:endParaRPr>
          </a:p>
          <a:p>
            <a:pPr marL="0" indent="0" fontAlgn="auto">
              <a:lnSpc>
                <a:spcPct val="150000"/>
              </a:lnSpc>
              <a:buNone/>
            </a:pPr>
            <a:r>
              <a:rPr lang="zh-CN" altLang="en-US" sz="1600" dirty="0">
                <a:latin typeface="宋体" panose="02010600030101010101" pitchFamily="2" charset="-122"/>
                <a:ea typeface="宋体" panose="02010600030101010101" pitchFamily="2" charset="-122"/>
              </a:rPr>
              <a:t>二元期权</a:t>
            </a:r>
            <a:r>
              <a:rPr lang="en-US" altLang="zh-CN" sz="1600" dirty="0">
                <a:latin typeface="宋体" panose="02010600030101010101" pitchFamily="2" charset="-122"/>
                <a:ea typeface="宋体" panose="02010600030101010101" pitchFamily="2" charset="-122"/>
              </a:rPr>
              <a:t> [Binary Options] </a:t>
            </a:r>
            <a:endParaRPr lang="en-US" altLang="zh-CN" sz="1600" dirty="0">
              <a:latin typeface="宋体" panose="02010600030101010101" pitchFamily="2" charset="-122"/>
              <a:ea typeface="宋体" panose="02010600030101010101" pitchFamily="2" charset="-122"/>
            </a:endParaRPr>
          </a:p>
          <a:p>
            <a:pPr marL="0" indent="0" fontAlgn="auto">
              <a:lnSpc>
                <a:spcPct val="150000"/>
              </a:lnSpc>
              <a:buNone/>
            </a:pPr>
            <a:r>
              <a:rPr lang="zh-CN" altLang="en-US" sz="1600" dirty="0">
                <a:latin typeface="宋体" panose="02010600030101010101" pitchFamily="2" charset="-122"/>
                <a:ea typeface="宋体" panose="02010600030101010101" pitchFamily="2" charset="-122"/>
              </a:rPr>
              <a:t>硬币产品</a:t>
            </a:r>
            <a:r>
              <a:rPr lang="en-US" altLang="zh-CN" sz="1600" dirty="0">
                <a:latin typeface="宋体" panose="02010600030101010101" pitchFamily="2" charset="-122"/>
                <a:ea typeface="宋体" panose="02010600030101010101" pitchFamily="2" charset="-122"/>
              </a:rPr>
              <a:t> [Initial Coin offering] </a:t>
            </a:r>
            <a:endParaRPr lang="en-US" altLang="zh-CN" sz="1600" dirty="0">
              <a:latin typeface="宋体" panose="02010600030101010101" pitchFamily="2" charset="-122"/>
              <a:ea typeface="宋体" panose="02010600030101010101" pitchFamily="2" charset="-122"/>
            </a:endParaRPr>
          </a:p>
          <a:p>
            <a:pPr marL="0" indent="0" fontAlgn="auto">
              <a:lnSpc>
                <a:spcPct val="150000"/>
              </a:lnSpc>
              <a:buNone/>
            </a:pPr>
            <a:r>
              <a:rPr lang="zh-CN" altLang="en-US" sz="1600" dirty="0">
                <a:latin typeface="宋体" panose="02010600030101010101" pitchFamily="2" charset="-122"/>
                <a:ea typeface="宋体" panose="02010600030101010101" pitchFamily="2" charset="-122"/>
              </a:rPr>
              <a:t>加密货币</a:t>
            </a:r>
            <a:r>
              <a:rPr lang="en-US" altLang="zh-CN" sz="1600" dirty="0">
                <a:latin typeface="宋体" panose="02010600030101010101" pitchFamily="2" charset="-122"/>
                <a:ea typeface="宋体" panose="02010600030101010101" pitchFamily="2" charset="-122"/>
              </a:rPr>
              <a:t> [Cryptocurrency] </a:t>
            </a:r>
            <a:endParaRPr lang="en-US" altLang="zh-CN" sz="1600" dirty="0">
              <a:latin typeface="宋体" panose="02010600030101010101" pitchFamily="2" charset="-122"/>
              <a:ea typeface="宋体" panose="02010600030101010101" pitchFamily="2" charset="-122"/>
            </a:endParaRPr>
          </a:p>
        </p:txBody>
      </p:sp>
      <p:sp>
        <p:nvSpPr>
          <p:cNvPr id="6" name="Content Placeholder 2"/>
          <p:cNvSpPr>
            <a:spLocks noGrp="1"/>
          </p:cNvSpPr>
          <p:nvPr>
            <p:ph idx="1"/>
          </p:nvPr>
        </p:nvSpPr>
        <p:spPr>
          <a:xfrm>
            <a:off x="7523480" y="1769110"/>
            <a:ext cx="4023360" cy="4351655"/>
          </a:xfrm>
        </p:spPr>
        <p:txBody>
          <a:bodyPr>
            <a:normAutofit lnSpcReduction="10000"/>
          </a:bodyPr>
          <a:lstStyle/>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贷款</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自动融资</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信用卡</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抵押贷款</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债务再融资</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信贷优惠</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助学贷款</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房屋购买或房地产融资</a:t>
            </a:r>
            <a:endParaRPr lang="en-US" altLang="zh-CN" sz="1600" dirty="0">
              <a:latin typeface="宋体" panose="02010600030101010101" pitchFamily="2" charset="-122"/>
              <a:ea typeface="宋体" panose="02010600030101010101" pitchFamily="2" charset="-122"/>
            </a:endParaRPr>
          </a:p>
          <a:p>
            <a:pPr eaLnBrk="1" fontAlgn="auto" latinLnBrk="0" hangingPunct="1">
              <a:lnSpc>
                <a:spcPct val="150000"/>
              </a:lnSpc>
            </a:pPr>
            <a:r>
              <a:rPr lang="zh-CN" altLang="en-US" sz="1600" dirty="0">
                <a:latin typeface="宋体" panose="02010600030101010101" pitchFamily="2" charset="-122"/>
                <a:ea typeface="宋体" panose="02010600030101010101" pitchFamily="2" charset="-122"/>
              </a:rPr>
              <a:t>抵押贷款或抵押贷款服务</a:t>
            </a:r>
            <a:endParaRPr lang="en-US" sz="1600" dirty="0">
              <a:latin typeface="宋体" panose="02010600030101010101" pitchFamily="2" charset="-122"/>
              <a:ea typeface="宋体" panose="02010600030101010101" pitchFamily="2" charset="-122"/>
            </a:endParaRPr>
          </a:p>
        </p:txBody>
      </p:sp>
      <p:sp>
        <p:nvSpPr>
          <p:cNvPr id="2" name="Rectangle 6"/>
          <p:cNvSpPr/>
          <p:nvPr/>
        </p:nvSpPr>
        <p:spPr>
          <a:xfrm>
            <a:off x="2342515" y="1189990"/>
            <a:ext cx="4306570" cy="3155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solidFill>
                  <a:schemeClr val="tx1"/>
                </a:solidFill>
                <a:effectLst>
                  <a:outerShdw blurRad="38100" dist="38100" dir="2700000" algn="tl">
                    <a:srgbClr val="000000">
                      <a:alpha val="43137"/>
                    </a:srgbClr>
                  </a:outerShdw>
                </a:effectLst>
              </a:rPr>
              <a:t>不能接受</a:t>
            </a:r>
            <a:endParaRPr lang="en-US" dirty="0">
              <a:solidFill>
                <a:schemeClr val="tx1"/>
              </a:solidFill>
              <a:effectLst>
                <a:outerShdw blurRad="38100" dist="38100" dir="2700000" algn="tl">
                  <a:srgbClr val="000000">
                    <a:alpha val="43137"/>
                  </a:srgbClr>
                </a:outerShdw>
              </a:effectLst>
            </a:endParaRPr>
          </a:p>
        </p:txBody>
      </p:sp>
      <p:sp>
        <p:nvSpPr>
          <p:cNvPr id="8" name="Rectangle 7"/>
          <p:cNvSpPr/>
          <p:nvPr/>
        </p:nvSpPr>
        <p:spPr>
          <a:xfrm>
            <a:off x="7359015" y="1163955"/>
            <a:ext cx="4352925" cy="34226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solidFill>
                  <a:schemeClr val="tx1"/>
                </a:solidFill>
                <a:effectLst>
                  <a:outerShdw blurRad="38100" dist="38100" dir="2700000" algn="tl">
                    <a:srgbClr val="000000">
                      <a:alpha val="43137"/>
                    </a:srgbClr>
                  </a:outerShdw>
                </a:effectLst>
              </a:rPr>
              <a:t>可接受</a:t>
            </a:r>
            <a:endParaRPr lang="en-US" altLang="en-US" dirty="0">
              <a:solidFill>
                <a:schemeClr val="tx1"/>
              </a:solidFill>
              <a:effectLst>
                <a:outerShdw blurRad="38100" dist="38100" dir="2700000" algn="tl">
                  <a:srgbClr val="000000">
                    <a:alpha val="43137"/>
                  </a:srgbClr>
                </a:outerShdw>
              </a:effectLst>
            </a:endParaRPr>
          </a:p>
        </p:txBody>
      </p:sp>
      <p:sp>
        <p:nvSpPr>
          <p:cNvPr id="3"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9525"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altLang="en-US" sz="2000" b="1">
                <a:effectLst>
                  <a:outerShdw blurRad="38100" dist="38100" dir="2700000" algn="tl">
                    <a:srgbClr val="000000">
                      <a:alpha val="43137"/>
                    </a:srgbClr>
                  </a:outerShdw>
                </a:effectLst>
                <a:sym typeface="+mn-ea"/>
              </a:rPr>
              <a:t>长期贷款及保险的广告发布政策注意事项</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11" name="文本框 10"/>
          <p:cNvSpPr txBox="1"/>
          <p:nvPr/>
        </p:nvSpPr>
        <p:spPr>
          <a:xfrm>
            <a:off x="2139950" y="1351915"/>
            <a:ext cx="9219565" cy="3784600"/>
          </a:xfrm>
          <a:prstGeom prst="rect">
            <a:avLst/>
          </a:prstGeom>
          <a:noFill/>
        </p:spPr>
        <p:txBody>
          <a:bodyPr wrap="square" rtlCol="0">
            <a:spAutoFit/>
          </a:bodyPr>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1、广告不得宣传用以满足人们下次发薪之前消费所需的发薪日贷款、薪水预支、保释金服务或其他任何短期贷款。短期贷款指借款期限不超过 90 天的贷款；</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2、贷款期限需在91天或以上，文案中避免出现快速贷款</a:t>
            </a:r>
            <a:r>
              <a:rPr lang="zh-CN" sz="1600">
                <a:latin typeface="宋体" panose="02010600030101010101" pitchFamily="2" charset="-122"/>
                <a:ea typeface="宋体" panose="02010600030101010101" pitchFamily="2" charset="-122"/>
                <a:sym typeface="+mn-ea"/>
              </a:rPr>
              <a:t>、快速还款</a:t>
            </a:r>
            <a:r>
              <a:rPr sz="1600">
                <a:latin typeface="宋体" panose="02010600030101010101" pitchFamily="2" charset="-122"/>
                <a:ea typeface="宋体" panose="02010600030101010101" pitchFamily="2" charset="-122"/>
                <a:sym typeface="+mn-ea"/>
              </a:rPr>
              <a:t>字样；</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3</a:t>
            </a:r>
            <a:r>
              <a:rPr lang="zh-CN" altLang="en-US" sz="1600">
                <a:latin typeface="宋体" panose="02010600030101010101" pitchFamily="2" charset="-122"/>
                <a:ea typeface="宋体" panose="02010600030101010101" pitchFamily="2" charset="-122"/>
                <a:sym typeface="+mn-ea"/>
              </a:rPr>
              <a:t>、</a:t>
            </a:r>
            <a:r>
              <a:rPr sz="1600">
                <a:latin typeface="宋体" panose="02010600030101010101" pitchFamily="2" charset="-122"/>
                <a:ea typeface="宋体" panose="02010600030101010101" pitchFamily="2" charset="-122"/>
                <a:sym typeface="+mn-ea"/>
              </a:rPr>
              <a:t>必须在登陆页面上充分披露信息，其中包括:</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   在落地页面上标明提供此产品的公司实体地址→新规定</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4</a:t>
            </a:r>
            <a:r>
              <a:rPr sz="1600">
                <a:latin typeface="宋体" panose="02010600030101010101" pitchFamily="2" charset="-122"/>
                <a:ea typeface="宋体" panose="02010600030101010101" pitchFamily="2" charset="-122"/>
                <a:sym typeface="+mn-ea"/>
              </a:rPr>
              <a:t>、年利率、手续费、贷款期限（不适用于抵押贷款）、及任何其他可能产生的关联费用等信息，必须在产品落地页有明确的描述（若手续费为0必须写清楚，若手续费或其他费用会因为借款金额变动而变动，也要清晰写出百分比或金额浮动上下限）；</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5</a:t>
            </a:r>
            <a:r>
              <a:rPr sz="1600">
                <a:latin typeface="宋体" panose="02010600030101010101" pitchFamily="2" charset="-122"/>
                <a:ea typeface="宋体" panose="02010600030101010101" pitchFamily="2" charset="-122"/>
                <a:sym typeface="+mn-ea"/>
              </a:rPr>
              <a:t>、目标受众必须是18岁以上；</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6</a:t>
            </a:r>
            <a:r>
              <a:rPr sz="1600">
                <a:latin typeface="宋体" panose="02010600030101010101" pitchFamily="2" charset="-122"/>
                <a:ea typeface="宋体" panose="02010600030101010101" pitchFamily="2" charset="-122"/>
                <a:sym typeface="+mn-ea"/>
              </a:rPr>
              <a:t>、必须接受非歧视政策；</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altLang="en-US" sz="2000" b="1">
                <a:effectLst>
                  <a:outerShdw blurRad="38100" dist="38100" dir="2700000" algn="tl">
                    <a:srgbClr val="000000">
                      <a:alpha val="43137"/>
                    </a:srgbClr>
                  </a:outerShdw>
                </a:effectLst>
                <a:sym typeface="+mn-ea"/>
              </a:rPr>
              <a:t>长期贷款及保险的广告发布政策注意事项</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11" name="文本框 10"/>
          <p:cNvSpPr txBox="1"/>
          <p:nvPr/>
        </p:nvSpPr>
        <p:spPr>
          <a:xfrm>
            <a:off x="2139950" y="1351915"/>
            <a:ext cx="9219565" cy="4154170"/>
          </a:xfrm>
          <a:prstGeom prst="rect">
            <a:avLst/>
          </a:prstGeom>
          <a:noFill/>
        </p:spPr>
        <p:txBody>
          <a:bodyPr wrap="square" rtlCol="0">
            <a:spAutoFit/>
          </a:bodyPr>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7</a:t>
            </a:r>
            <a:r>
              <a:rPr sz="1600">
                <a:latin typeface="宋体" panose="02010600030101010101" pitchFamily="2" charset="-122"/>
                <a:ea typeface="宋体" panose="02010600030101010101" pitchFamily="2" charset="-122"/>
                <a:sym typeface="+mn-ea"/>
              </a:rPr>
              <a:t>、不许针对个人特征，如：种族、性别、年龄、性取向、健康状况等特征；          </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错误示范-最近是不是缺钱；是不是没有钱租房</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8</a:t>
            </a:r>
            <a:r>
              <a:rPr sz="1600">
                <a:latin typeface="宋体" panose="02010600030101010101" pitchFamily="2" charset="-122"/>
                <a:ea typeface="宋体" panose="02010600030101010101" pitchFamily="2" charset="-122"/>
                <a:sym typeface="+mn-ea"/>
              </a:rPr>
              <a:t>、不许给用户任何保证或承诺，或对用户有任何误导，如：你已经有10个好友在使用这个APP；</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9</a:t>
            </a:r>
            <a:r>
              <a:rPr sz="1600">
                <a:latin typeface="宋体" panose="02010600030101010101" pitchFamily="2" charset="-122"/>
                <a:ea typeface="宋体" panose="02010600030101010101" pitchFamily="2" charset="-122"/>
                <a:sym typeface="+mn-ea"/>
              </a:rPr>
              <a:t>、图片素材中不要有过多的文字；</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lang="en-US" sz="1600">
                <a:latin typeface="宋体" panose="02010600030101010101" pitchFamily="2" charset="-122"/>
                <a:ea typeface="宋体" panose="02010600030101010101" pitchFamily="2" charset="-122"/>
                <a:sym typeface="+mn-ea"/>
              </a:rPr>
              <a:t>10</a:t>
            </a:r>
            <a:r>
              <a:rPr sz="1600">
                <a:latin typeface="宋体" panose="02010600030101010101" pitchFamily="2" charset="-122"/>
                <a:ea typeface="宋体" panose="02010600030101010101" pitchFamily="2" charset="-122"/>
                <a:sym typeface="+mn-ea"/>
              </a:rPr>
              <a:t>、</a:t>
            </a:r>
            <a:r>
              <a:rPr lang="zh-CN" sz="1600">
                <a:latin typeface="宋体" panose="02010600030101010101" pitchFamily="2" charset="-122"/>
                <a:ea typeface="宋体" panose="02010600030101010101" pitchFamily="2" charset="-122"/>
                <a:sym typeface="+mn-ea"/>
              </a:rPr>
              <a:t>登录页面</a:t>
            </a:r>
            <a:r>
              <a:rPr sz="1600">
                <a:latin typeface="宋体" panose="02010600030101010101" pitchFamily="2" charset="-122"/>
                <a:ea typeface="宋体" panose="02010600030101010101" pitchFamily="2" charset="-122"/>
                <a:sym typeface="+mn-ea"/>
              </a:rPr>
              <a:t>不许向受众询问如下类型问题：</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政府颁发的身份证件，如：社保码、护照码；</a:t>
            </a:r>
            <a:br>
              <a:rPr sz="1600">
                <a:latin typeface="宋体" panose="02010600030101010101" pitchFamily="2" charset="-122"/>
                <a:ea typeface="宋体" panose="02010600030101010101" pitchFamily="2" charset="-122"/>
                <a:sym typeface="+mn-ea"/>
              </a:rPr>
            </a:br>
            <a:r>
              <a:rPr sz="1600">
                <a:latin typeface="宋体" panose="02010600030101010101" pitchFamily="2" charset="-122"/>
                <a:ea typeface="宋体" panose="02010600030101010101" pitchFamily="2" charset="-122"/>
                <a:sym typeface="+mn-ea"/>
              </a:rPr>
              <a:t>任何形式的账号，如：电话、常旅客号码；</a:t>
            </a:r>
            <a:br>
              <a:rPr sz="1600">
                <a:latin typeface="宋体" panose="02010600030101010101" pitchFamily="2" charset="-122"/>
                <a:ea typeface="宋体" panose="02010600030101010101" pitchFamily="2" charset="-122"/>
                <a:sym typeface="+mn-ea"/>
              </a:rPr>
            </a:br>
            <a:r>
              <a:rPr sz="1600">
                <a:latin typeface="宋体" panose="02010600030101010101" pitchFamily="2" charset="-122"/>
                <a:ea typeface="宋体" panose="02010600030101010101" pitchFamily="2" charset="-122"/>
                <a:sym typeface="+mn-ea"/>
              </a:rPr>
              <a:t>财务信息，如：银行账号、信用卡借记卡的卡号、收入、债务等；</a:t>
            </a:r>
            <a:endParaRPr sz="1600">
              <a:latin typeface="宋体" panose="02010600030101010101" pitchFamily="2" charset="-122"/>
              <a:ea typeface="宋体" panose="02010600030101010101" pitchFamily="2" charset="-122"/>
            </a:endParaRPr>
          </a:p>
          <a:p>
            <a:pPr marL="0" indent="0" algn="l" eaLnBrk="1" fontAlgn="auto" latinLnBrk="0" hangingPunct="1">
              <a:lnSpc>
                <a:spcPct val="150000"/>
              </a:lnSpc>
              <a:buNone/>
            </a:pPr>
            <a:endParaRPr sz="1600">
              <a:latin typeface="宋体" panose="02010600030101010101" pitchFamily="2" charset="-122"/>
              <a:ea typeface="宋体" panose="02010600030101010101" pitchFamily="2" charset="-122"/>
              <a:sym typeface="+mn-ea"/>
            </a:endParaRPr>
          </a:p>
          <a:p>
            <a:pPr marL="0" indent="0" algn="l" eaLnBrk="1" fontAlgn="auto" latinLnBrk="0" hangingPunct="1">
              <a:lnSpc>
                <a:spcPct val="150000"/>
              </a:lnSpc>
              <a:buNone/>
            </a:pPr>
            <a:endParaRPr sz="1600">
              <a:latin typeface="宋体" panose="02010600030101010101" pitchFamily="2" charset="-122"/>
              <a:ea typeface="宋体" panose="02010600030101010101" pitchFamily="2" charset="-122"/>
              <a:sym typeface="+mn-ea"/>
            </a:endParaRPr>
          </a:p>
          <a:p>
            <a:pPr marL="0" indent="0" algn="l" eaLnBrk="1" fontAlgn="auto" latinLnBrk="0" hangingPunct="1">
              <a:lnSpc>
                <a:spcPct val="150000"/>
              </a:lnSpc>
              <a:buNone/>
            </a:pPr>
            <a:r>
              <a:rPr sz="1600">
                <a:latin typeface="宋体" panose="02010600030101010101" pitchFamily="2" charset="-122"/>
                <a:ea typeface="宋体" panose="02010600030101010101" pitchFamily="2" charset="-122"/>
                <a:sym typeface="+mn-ea"/>
              </a:rPr>
              <a:t>更多细节访问：https://www.facebook.com/policies/ads/prohibited_content；</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3"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altLang="en-US" sz="2000" b="1">
                <a:effectLst>
                  <a:outerShdw blurRad="38100" dist="38100" dir="2700000" algn="tl">
                    <a:srgbClr val="000000">
                      <a:alpha val="43137"/>
                    </a:srgbClr>
                  </a:outerShdw>
                </a:effectLst>
                <a:sym typeface="+mn-ea"/>
              </a:rPr>
              <a:t>长期贷款及保险的广告发布政策注意事项</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2" name="文本框 1"/>
          <p:cNvSpPr txBox="1"/>
          <p:nvPr/>
        </p:nvSpPr>
        <p:spPr>
          <a:xfrm>
            <a:off x="2139950" y="1257300"/>
            <a:ext cx="8382000" cy="2676525"/>
          </a:xfrm>
          <a:prstGeom prst="rect">
            <a:avLst/>
          </a:prstGeom>
          <a:noFill/>
        </p:spPr>
        <p:txBody>
          <a:bodyPr wrap="square" rtlCol="0">
            <a:spAutoFit/>
          </a:bodyPr>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注意：</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广告图片中出现不存在的功能，如：无法点击的“播放”按键</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诱导或者暗示客户选择某个选项（如：高亮某个选项；帮客户选好了贷款金额/期限，等）</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视频演示，如：贷款广告视频演示如何选择贷款金额/期限——不诱导或者暗示客户选择某个特定的金额/期限</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67"/>
          <p:cNvSpPr/>
          <p:nvPr/>
        </p:nvSpPr>
        <p:spPr>
          <a:xfrm>
            <a:off x="-21310" y="19931"/>
            <a:ext cx="12192000" cy="6858000"/>
          </a:xfrm>
          <a:prstGeom prst="rect">
            <a:avLst/>
          </a:prstGeom>
          <a:solidFill>
            <a:srgbClr val="F2F2F2"/>
          </a:solidFill>
          <a:ln w="25400" cap="flat" cmpd="sng">
            <a:solidFill>
              <a:srgbClr val="E6E6E6"/>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5" name="Google Shape;605;p67"/>
          <p:cNvSpPr txBox="1"/>
          <p:nvPr/>
        </p:nvSpPr>
        <p:spPr>
          <a:xfrm>
            <a:off x="172945" y="1849946"/>
            <a:ext cx="7721100" cy="707700"/>
          </a:xfrm>
          <a:prstGeom prst="rect">
            <a:avLst/>
          </a:prstGeom>
          <a:noFill/>
          <a:ln>
            <a:noFill/>
          </a:ln>
        </p:spPr>
        <p:txBody>
          <a:bodyPr spcFirstLastPara="1" wrap="square" lIns="45675" tIns="45675" rIns="45675" bIns="45675" anchor="b" anchorCtr="0">
            <a:noAutofit/>
          </a:bodyPr>
          <a:lstStyle/>
          <a:p>
            <a:pPr marL="0" marR="0" lvl="0" indent="0" algn="l" rtl="0">
              <a:spcBef>
                <a:spcPts val="0"/>
              </a:spcBef>
              <a:spcAft>
                <a:spcPts val="0"/>
              </a:spcAft>
              <a:buNone/>
            </a:pPr>
            <a:r>
              <a:rPr lang="en-US" altLang="zh-CN" sz="4000" b="1">
                <a:latin typeface="+mj-ea"/>
                <a:ea typeface="+mj-ea"/>
                <a:sym typeface="+mn-ea"/>
              </a:rPr>
              <a:t>Facebook</a:t>
            </a:r>
            <a:r>
              <a:rPr lang="zh-CN" altLang="en-US" sz="4000" b="1">
                <a:latin typeface="+mj-ea"/>
                <a:ea typeface="+mj-ea"/>
                <a:sym typeface="+mn-ea"/>
              </a:rPr>
              <a:t>广告违规案例</a:t>
            </a:r>
            <a:endParaRPr sz="4000" b="1" i="0" u="none" strike="noStrike" cap="non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7" name="Google Shape;607;p67"/>
          <p:cNvSpPr txBox="1"/>
          <p:nvPr/>
        </p:nvSpPr>
        <p:spPr>
          <a:xfrm>
            <a:off x="357829" y="6026005"/>
            <a:ext cx="2370000" cy="338400"/>
          </a:xfrm>
          <a:prstGeom prst="rect">
            <a:avLst/>
          </a:prstGeom>
          <a:noFill/>
          <a:ln>
            <a:noFill/>
          </a:ln>
        </p:spPr>
        <p:txBody>
          <a:bodyPr spcFirstLastPara="1" wrap="square" lIns="45675" tIns="45675" rIns="45675" bIns="45675" anchor="t" anchorCtr="0">
            <a:noAutofit/>
          </a:bodyPr>
          <a:lstStyle/>
          <a:p>
            <a:pPr marL="457200" lvl="0" indent="-330200" algn="l" rtl="0">
              <a:spcBef>
                <a:spcPts val="0"/>
              </a:spcBef>
              <a:spcAft>
                <a:spcPts val="0"/>
              </a:spcAft>
              <a:buClr>
                <a:srgbClr val="F26522"/>
              </a:buClr>
              <a:buSzPts val="1600"/>
              <a:buFont typeface="Helvetica Neue"/>
              <a:buChar char="■"/>
            </a:pPr>
            <a:r>
              <a:rPr lang="zh-CN">
                <a:solidFill>
                  <a:schemeClr val="dk1"/>
                </a:solidFill>
              </a:rPr>
              <a:t>2019年9月</a:t>
            </a:r>
            <a:r>
              <a:rPr lang="en-US" altLang="zh-CN">
                <a:solidFill>
                  <a:schemeClr val="dk1"/>
                </a:solidFill>
              </a:rPr>
              <a:t>25</a:t>
            </a:r>
            <a:r>
              <a:rPr lang="zh-CN">
                <a:solidFill>
                  <a:schemeClr val="dk1"/>
                </a:solidFill>
              </a:rPr>
              <a:t>日</a:t>
            </a:r>
            <a:endParaRPr lang="zh-CN">
              <a:solidFill>
                <a:schemeClr val="dk1"/>
              </a:solidFill>
            </a:endParaRPr>
          </a:p>
        </p:txBody>
      </p:sp>
      <p:cxnSp>
        <p:nvCxnSpPr>
          <p:cNvPr id="608" name="Google Shape;608;p67"/>
          <p:cNvCxnSpPr/>
          <p:nvPr/>
        </p:nvCxnSpPr>
        <p:spPr>
          <a:xfrm>
            <a:off x="8255999" y="0"/>
            <a:ext cx="3936000" cy="6831000"/>
          </a:xfrm>
          <a:prstGeom prst="straightConnector1">
            <a:avLst/>
          </a:prstGeom>
          <a:noFill/>
          <a:ln w="9525" cap="flat" cmpd="sng">
            <a:solidFill>
              <a:srgbClr val="323F4F"/>
            </a:solidFill>
            <a:prstDash val="solid"/>
            <a:round/>
            <a:headEnd type="none" w="sm" len="sm"/>
            <a:tailEnd type="none" w="sm" len="sm"/>
          </a:ln>
        </p:spPr>
      </p:cxnSp>
      <p:cxnSp>
        <p:nvCxnSpPr>
          <p:cNvPr id="609" name="Google Shape;609;p67"/>
          <p:cNvCxnSpPr/>
          <p:nvPr/>
        </p:nvCxnSpPr>
        <p:spPr>
          <a:xfrm flipH="1">
            <a:off x="4119783" y="27000"/>
            <a:ext cx="6747000" cy="6804000"/>
          </a:xfrm>
          <a:prstGeom prst="straightConnector1">
            <a:avLst/>
          </a:prstGeom>
          <a:noFill/>
          <a:ln w="9525" cap="flat" cmpd="sng">
            <a:solidFill>
              <a:srgbClr val="323F4F"/>
            </a:solidFill>
            <a:prstDash val="solid"/>
            <a:round/>
            <a:headEnd type="none" w="sm" len="sm"/>
            <a:tailEnd type="none" w="sm" len="sm"/>
          </a:ln>
        </p:spPr>
      </p:cxnSp>
      <p:cxnSp>
        <p:nvCxnSpPr>
          <p:cNvPr id="610" name="Google Shape;610;p67"/>
          <p:cNvCxnSpPr/>
          <p:nvPr/>
        </p:nvCxnSpPr>
        <p:spPr>
          <a:xfrm>
            <a:off x="1662194" y="26999"/>
            <a:ext cx="10529700" cy="4698000"/>
          </a:xfrm>
          <a:prstGeom prst="straightConnector1">
            <a:avLst/>
          </a:prstGeom>
          <a:noFill/>
          <a:ln w="9525" cap="flat" cmpd="sng">
            <a:solidFill>
              <a:srgbClr val="323F4F"/>
            </a:solidFill>
            <a:prstDash val="solid"/>
            <a:round/>
            <a:headEnd type="none" w="sm" len="sm"/>
            <a:tailEnd type="none" w="sm" len="sm"/>
          </a:ln>
        </p:spPr>
      </p:cxnSp>
      <p:cxnSp>
        <p:nvCxnSpPr>
          <p:cNvPr id="611" name="Google Shape;611;p67"/>
          <p:cNvCxnSpPr/>
          <p:nvPr/>
        </p:nvCxnSpPr>
        <p:spPr>
          <a:xfrm flipH="1">
            <a:off x="10055986" y="3983183"/>
            <a:ext cx="532500" cy="2847900"/>
          </a:xfrm>
          <a:prstGeom prst="straightConnector1">
            <a:avLst/>
          </a:prstGeom>
          <a:noFill/>
          <a:ln w="9525" cap="flat" cmpd="sng">
            <a:solidFill>
              <a:srgbClr val="323F4F"/>
            </a:solidFill>
            <a:prstDash val="solid"/>
            <a:round/>
            <a:headEnd type="none" w="sm" len="sm"/>
            <a:tailEnd type="none" w="sm" len="sm"/>
          </a:ln>
        </p:spPr>
      </p:cxnSp>
      <p:sp>
        <p:nvSpPr>
          <p:cNvPr id="612" name="Google Shape;612;p67"/>
          <p:cNvSpPr/>
          <p:nvPr/>
        </p:nvSpPr>
        <p:spPr>
          <a:xfrm rot="10800000" flipH="1">
            <a:off x="9192000" y="1651321"/>
            <a:ext cx="72000" cy="72000"/>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3" name="Google Shape;613;p67"/>
          <p:cNvSpPr/>
          <p:nvPr/>
        </p:nvSpPr>
        <p:spPr>
          <a:xfrm rot="8917620" flipH="1">
            <a:off x="7981441" y="2821469"/>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4" name="Google Shape;614;p67"/>
          <p:cNvSpPr/>
          <p:nvPr/>
        </p:nvSpPr>
        <p:spPr>
          <a:xfrm rot="8917620" flipH="1">
            <a:off x="10531520" y="3956092"/>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5" name="Google Shape;615;p67"/>
          <p:cNvSpPr/>
          <p:nvPr/>
        </p:nvSpPr>
        <p:spPr>
          <a:xfrm>
            <a:off x="9747778" y="27000"/>
            <a:ext cx="2370006" cy="2830518"/>
          </a:xfrm>
          <a:custGeom>
            <a:avLst/>
            <a:gdLst/>
            <a:ahLst/>
            <a:cxnLst/>
            <a:rect l="l" t="t" r="r" b="b"/>
            <a:pathLst>
              <a:path w="21600" h="21600" extrusionOk="0">
                <a:moveTo>
                  <a:pt x="0" y="21600"/>
                </a:moveTo>
                <a:lnTo>
                  <a:pt x="10231" y="0"/>
                </a:lnTo>
                <a:lnTo>
                  <a:pt x="21600" y="0"/>
                </a:lnTo>
                <a:lnTo>
                  <a:pt x="11369" y="2160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6" name="Google Shape;616;p67"/>
          <p:cNvSpPr/>
          <p:nvPr/>
        </p:nvSpPr>
        <p:spPr>
          <a:xfrm rot="-5400000">
            <a:off x="9666008" y="133204"/>
            <a:ext cx="2609982" cy="2370006"/>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7" name="Google Shape;617;p67"/>
          <p:cNvSpPr/>
          <p:nvPr/>
        </p:nvSpPr>
        <p:spPr>
          <a:xfrm rot="10800000">
            <a:off x="10631871" y="2268918"/>
            <a:ext cx="1526418" cy="1808082"/>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8" name="Google Shape;618;p67"/>
          <p:cNvSpPr/>
          <p:nvPr/>
        </p:nvSpPr>
        <p:spPr>
          <a:xfrm rot="8592263">
            <a:off x="9984137" y="2102997"/>
            <a:ext cx="1532651" cy="2692129"/>
          </a:xfrm>
          <a:custGeom>
            <a:avLst/>
            <a:gdLst/>
            <a:ahLst/>
            <a:cxnLst/>
            <a:rect l="l" t="t" r="r" b="b"/>
            <a:pathLst>
              <a:path w="21600" h="21600" extrusionOk="0">
                <a:moveTo>
                  <a:pt x="0" y="21600"/>
                </a:moveTo>
                <a:lnTo>
                  <a:pt x="21600" y="21600"/>
                </a:lnTo>
                <a:lnTo>
                  <a:pt x="0" y="0"/>
                </a:lnTo>
                <a:close/>
              </a:path>
            </a:pathLst>
          </a:custGeom>
          <a:solidFill>
            <a:srgbClr val="8296B0"/>
          </a:solidFill>
          <a:ln w="25400" cap="flat" cmpd="sng">
            <a:solidFill>
              <a:srgbClr val="8296B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358140" y="3152775"/>
            <a:ext cx="4443730" cy="1014730"/>
          </a:xfrm>
          <a:prstGeom prst="rect">
            <a:avLst/>
          </a:prstGeom>
          <a:noFill/>
        </p:spPr>
        <p:txBody>
          <a:bodyPr wrap="square" rtlCol="0">
            <a:spAutoFit/>
          </a:bodyPr>
          <a:p>
            <a:pPr algn="l" eaLnBrk="1" fontAlgn="auto" latinLnBrk="0" hangingPunct="1">
              <a:lnSpc>
                <a:spcPct val="150000"/>
              </a:lnSpc>
            </a:pPr>
            <a:r>
              <a:rPr lang="zh-CN" sz="4000" b="1">
                <a:latin typeface="+mj-ea"/>
                <a:ea typeface="+mj-ea"/>
                <a:sym typeface="+mn-ea"/>
              </a:rPr>
              <a:t>常见违规案例</a:t>
            </a:r>
            <a:endParaRPr lang="zh-CN" altLang="en-US" sz="4000" b="1">
              <a:latin typeface="+mj-ea"/>
              <a:ea typeface="+mj-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sz="2000" b="1">
                <a:latin typeface="+mj-ea"/>
                <a:ea typeface="+mj-ea"/>
                <a:sym typeface="+mn-ea"/>
              </a:rPr>
              <a:t>常见违规案例</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4" name="文本框 3"/>
          <p:cNvSpPr txBox="1"/>
          <p:nvPr/>
        </p:nvSpPr>
        <p:spPr>
          <a:xfrm>
            <a:off x="2218055" y="1163955"/>
            <a:ext cx="9017000" cy="5262245"/>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1 User trust用户信任度</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A. Beauty Scam欺骗性美化（与理想化医疗有关）</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×夸张的效果描述，如：“10倍的速度燃烧脂肪”、“30倍的抗皱效果”</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×夸张的前后对比（idealized medical），如：减肥前后对比（腹部、腿等）、美容前后对比</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√美颜相机前后对比（真实对比即可）</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B. Click-bait Language - Celebrity明星/名人诱导点击</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×广告声称某明星等人用过某个产品并强烈推荐，但实际上这些名人并未代言过这个产品</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×使用明星/名人素材只是为了吸引用户点击</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注意：</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检查名人是否真的有代言某个产品</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sz="2000" b="1">
                <a:latin typeface="+mj-ea"/>
                <a:ea typeface="+mj-ea"/>
                <a:sym typeface="+mn-ea"/>
              </a:rPr>
              <a:t>常见违规案例</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4" name="文本框 3"/>
          <p:cNvSpPr txBox="1"/>
          <p:nvPr/>
        </p:nvSpPr>
        <p:spPr>
          <a:xfrm>
            <a:off x="2218055" y="1163955"/>
            <a:ext cx="9017000" cy="5262245"/>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C. ESCAM电商欺诈 </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a. Fake Ads虚假广告</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例：</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Creatives：LV包，超低折扣</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Landing Page：没有牌子的包（无关落地页）</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Creatives：Rothy’s $49.99（低价）</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Landing Page：非Rothy’s官网（盗用）</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一定要注意，能轻易辨别出是卖仿品的广告（如：LV同款印花但P掉字母的包包），风险很高。</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b. Unrealistic Pricing/Fake Discount不切实际的价格/虚假折扣</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例：</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某个品牌口红，不切实际的超低折扣/超低价</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电子产品，如：某电脑50刀（亚马逊上相同产品800刀）</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某种车，原价10000刀，折后100刀</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sz="2000" b="1">
                <a:latin typeface="+mj-ea"/>
                <a:ea typeface="+mj-ea"/>
                <a:sym typeface="+mn-ea"/>
              </a:rPr>
              <a:t>常见违规案例</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4" name="文本框 3"/>
          <p:cNvSpPr txBox="1"/>
          <p:nvPr/>
        </p:nvSpPr>
        <p:spPr>
          <a:xfrm>
            <a:off x="2218055" y="1163955"/>
            <a:ext cx="9601200" cy="4892675"/>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c. Action Items（90% are obvious scams）客户/代理商需要注意的事情（出现以下状况，90%可能是电商欺诈）</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Website</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Domain is clean（网址不能是乱码www.uigfufg.com）</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Product category makes sense落地页产品类别差距大（不要第一页卖食品，第二页卖汽车，第三页卖美妆）</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Shipping and customer services（配送、客服）</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Branded items（品牌商品是否为仿品/假货）</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Ad Creative广告创意</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检查创意、检查落地页是否相关、检查产品价格是否合理</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 电商欺诈常见产品：电单车、航拍器、Smart watch智能手表、Surfing board冲浪板、爆款产品</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sz="2000" b="1">
                <a:latin typeface="+mj-ea"/>
                <a:ea typeface="+mj-ea"/>
                <a:sym typeface="+mn-ea"/>
              </a:rPr>
              <a:t>常见违规案例</a:t>
            </a:r>
            <a:endParaRPr lang="en-US" altLang="zh-CN"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4" name="文本框 3"/>
          <p:cNvSpPr txBox="1"/>
          <p:nvPr/>
        </p:nvSpPr>
        <p:spPr>
          <a:xfrm>
            <a:off x="2218055" y="1163955"/>
            <a:ext cx="9017000" cy="1938020"/>
          </a:xfrm>
          <a:prstGeom prst="rect">
            <a:avLst/>
          </a:prstGeom>
          <a:noFill/>
        </p:spPr>
        <p:txBody>
          <a:bodyPr wrap="square" rtlCol="0">
            <a:spAutoFit/>
          </a:bodyPr>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2 Cloaking掩盖违规</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比如，Facebook点击网址会前往一个正规网站，但用户点击会被送往一个有问题的网站。这种情况被Facebook抓到会直接封停账户。</a:t>
            </a: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algn="l" eaLnBrk="1" fontAlgn="auto" latinLnBrk="0" hangingPunct="1">
              <a:lnSpc>
                <a:spcPct val="150000"/>
              </a:lnSpc>
            </a:pPr>
            <a:r>
              <a:rPr lang="zh-CN" altLang="en-US" sz="1600">
                <a:latin typeface="宋体" panose="02010600030101010101" pitchFamily="2" charset="-122"/>
                <a:ea typeface="宋体" panose="02010600030101010101" pitchFamily="2" charset="-122"/>
              </a:rPr>
              <a:t>3 LQEC劣质电商产品</a:t>
            </a: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67"/>
          <p:cNvSpPr/>
          <p:nvPr/>
        </p:nvSpPr>
        <p:spPr>
          <a:xfrm>
            <a:off x="-11150" y="26916"/>
            <a:ext cx="12192000" cy="6858000"/>
          </a:xfrm>
          <a:prstGeom prst="rect">
            <a:avLst/>
          </a:prstGeom>
          <a:solidFill>
            <a:srgbClr val="F2F2F2"/>
          </a:solidFill>
          <a:ln w="25400" cap="flat" cmpd="sng">
            <a:solidFill>
              <a:srgbClr val="E6E6E6"/>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5" name="Google Shape;605;p67"/>
          <p:cNvSpPr txBox="1"/>
          <p:nvPr/>
        </p:nvSpPr>
        <p:spPr>
          <a:xfrm>
            <a:off x="172945" y="1849946"/>
            <a:ext cx="7721100" cy="707700"/>
          </a:xfrm>
          <a:prstGeom prst="rect">
            <a:avLst/>
          </a:prstGeom>
          <a:noFill/>
          <a:ln>
            <a:noFill/>
          </a:ln>
        </p:spPr>
        <p:txBody>
          <a:bodyPr spcFirstLastPara="1" wrap="square" lIns="45675" tIns="45675" rIns="45675" bIns="45675" anchor="b" anchorCtr="0">
            <a:noAutofit/>
          </a:bodyPr>
          <a:lstStyle/>
          <a:p>
            <a:pPr marL="0" marR="0" lvl="0" indent="0" algn="l" rtl="0">
              <a:spcBef>
                <a:spcPts val="0"/>
              </a:spcBef>
              <a:spcAft>
                <a:spcPts val="0"/>
              </a:spcAft>
              <a:buNone/>
            </a:pPr>
            <a:r>
              <a:rPr lang="en-US" altLang="zh-CN" sz="4000" b="1">
                <a:latin typeface="+mj-ea"/>
                <a:ea typeface="+mj-ea"/>
                <a:sym typeface="+mn-ea"/>
              </a:rPr>
              <a:t>Facebook</a:t>
            </a:r>
            <a:r>
              <a:rPr lang="zh-CN" altLang="en-US" sz="4000" b="1">
                <a:latin typeface="+mj-ea"/>
                <a:ea typeface="+mj-ea"/>
                <a:sym typeface="+mn-ea"/>
              </a:rPr>
              <a:t>广告违规案例</a:t>
            </a:r>
            <a:endParaRPr sz="4000" b="1" i="0" u="none" strike="noStrike" cap="non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08" name="Google Shape;608;p67"/>
          <p:cNvCxnSpPr/>
          <p:nvPr/>
        </p:nvCxnSpPr>
        <p:spPr>
          <a:xfrm>
            <a:off x="8255999" y="0"/>
            <a:ext cx="3936000" cy="6831000"/>
          </a:xfrm>
          <a:prstGeom prst="straightConnector1">
            <a:avLst/>
          </a:prstGeom>
          <a:noFill/>
          <a:ln w="9525" cap="flat" cmpd="sng">
            <a:solidFill>
              <a:srgbClr val="323F4F"/>
            </a:solidFill>
            <a:prstDash val="solid"/>
            <a:round/>
            <a:headEnd type="none" w="sm" len="sm"/>
            <a:tailEnd type="none" w="sm" len="sm"/>
          </a:ln>
        </p:spPr>
      </p:cxnSp>
      <p:cxnSp>
        <p:nvCxnSpPr>
          <p:cNvPr id="609" name="Google Shape;609;p67"/>
          <p:cNvCxnSpPr/>
          <p:nvPr/>
        </p:nvCxnSpPr>
        <p:spPr>
          <a:xfrm flipH="1">
            <a:off x="4119783" y="27000"/>
            <a:ext cx="6747000" cy="6804000"/>
          </a:xfrm>
          <a:prstGeom prst="straightConnector1">
            <a:avLst/>
          </a:prstGeom>
          <a:noFill/>
          <a:ln w="9525" cap="flat" cmpd="sng">
            <a:solidFill>
              <a:srgbClr val="323F4F"/>
            </a:solidFill>
            <a:prstDash val="solid"/>
            <a:round/>
            <a:headEnd type="none" w="sm" len="sm"/>
            <a:tailEnd type="none" w="sm" len="sm"/>
          </a:ln>
        </p:spPr>
      </p:cxnSp>
      <p:cxnSp>
        <p:nvCxnSpPr>
          <p:cNvPr id="610" name="Google Shape;610;p67"/>
          <p:cNvCxnSpPr/>
          <p:nvPr/>
        </p:nvCxnSpPr>
        <p:spPr>
          <a:xfrm>
            <a:off x="1662194" y="26999"/>
            <a:ext cx="10529700" cy="4698000"/>
          </a:xfrm>
          <a:prstGeom prst="straightConnector1">
            <a:avLst/>
          </a:prstGeom>
          <a:noFill/>
          <a:ln w="9525" cap="flat" cmpd="sng">
            <a:solidFill>
              <a:srgbClr val="323F4F"/>
            </a:solidFill>
            <a:prstDash val="solid"/>
            <a:round/>
            <a:headEnd type="none" w="sm" len="sm"/>
            <a:tailEnd type="none" w="sm" len="sm"/>
          </a:ln>
        </p:spPr>
      </p:cxnSp>
      <p:cxnSp>
        <p:nvCxnSpPr>
          <p:cNvPr id="611" name="Google Shape;611;p67"/>
          <p:cNvCxnSpPr/>
          <p:nvPr/>
        </p:nvCxnSpPr>
        <p:spPr>
          <a:xfrm flipH="1">
            <a:off x="10055986" y="3983183"/>
            <a:ext cx="532500" cy="2847900"/>
          </a:xfrm>
          <a:prstGeom prst="straightConnector1">
            <a:avLst/>
          </a:prstGeom>
          <a:noFill/>
          <a:ln w="9525" cap="flat" cmpd="sng">
            <a:solidFill>
              <a:srgbClr val="323F4F"/>
            </a:solidFill>
            <a:prstDash val="solid"/>
            <a:round/>
            <a:headEnd type="none" w="sm" len="sm"/>
            <a:tailEnd type="none" w="sm" len="sm"/>
          </a:ln>
        </p:spPr>
      </p:cxnSp>
      <p:sp>
        <p:nvSpPr>
          <p:cNvPr id="612" name="Google Shape;612;p67"/>
          <p:cNvSpPr/>
          <p:nvPr/>
        </p:nvSpPr>
        <p:spPr>
          <a:xfrm rot="10800000" flipH="1">
            <a:off x="9192000" y="1651321"/>
            <a:ext cx="72000" cy="72000"/>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3" name="Google Shape;613;p67"/>
          <p:cNvSpPr/>
          <p:nvPr/>
        </p:nvSpPr>
        <p:spPr>
          <a:xfrm rot="8917620" flipH="1">
            <a:off x="7981441" y="2821469"/>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4" name="Google Shape;614;p67"/>
          <p:cNvSpPr/>
          <p:nvPr/>
        </p:nvSpPr>
        <p:spPr>
          <a:xfrm rot="8917620" flipH="1">
            <a:off x="10531520" y="3956092"/>
            <a:ext cx="72031" cy="72031"/>
          </a:xfrm>
          <a:prstGeom prst="ellipse">
            <a:avLst/>
          </a:pr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5" name="Google Shape;615;p67"/>
          <p:cNvSpPr/>
          <p:nvPr/>
        </p:nvSpPr>
        <p:spPr>
          <a:xfrm>
            <a:off x="9747778" y="27000"/>
            <a:ext cx="2370006" cy="2830518"/>
          </a:xfrm>
          <a:custGeom>
            <a:avLst/>
            <a:gdLst/>
            <a:ahLst/>
            <a:cxnLst/>
            <a:rect l="l" t="t" r="r" b="b"/>
            <a:pathLst>
              <a:path w="21600" h="21600" extrusionOk="0">
                <a:moveTo>
                  <a:pt x="0" y="21600"/>
                </a:moveTo>
                <a:lnTo>
                  <a:pt x="10231" y="0"/>
                </a:lnTo>
                <a:lnTo>
                  <a:pt x="21600" y="0"/>
                </a:lnTo>
                <a:lnTo>
                  <a:pt x="11369" y="2160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6" name="Google Shape;616;p67"/>
          <p:cNvSpPr/>
          <p:nvPr/>
        </p:nvSpPr>
        <p:spPr>
          <a:xfrm rot="-5400000">
            <a:off x="9666008" y="133204"/>
            <a:ext cx="2609982" cy="2370006"/>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7" name="Google Shape;617;p67"/>
          <p:cNvSpPr/>
          <p:nvPr/>
        </p:nvSpPr>
        <p:spPr>
          <a:xfrm rot="10800000">
            <a:off x="10631871" y="2268918"/>
            <a:ext cx="1526418" cy="1808082"/>
          </a:xfrm>
          <a:custGeom>
            <a:avLst/>
            <a:gdLst/>
            <a:ahLst/>
            <a:cxnLst/>
            <a:rect l="l" t="t" r="r" b="b"/>
            <a:pathLst>
              <a:path w="21600" h="21600" extrusionOk="0">
                <a:moveTo>
                  <a:pt x="0" y="21600"/>
                </a:moveTo>
                <a:lnTo>
                  <a:pt x="21600" y="21600"/>
                </a:lnTo>
                <a:lnTo>
                  <a:pt x="0" y="0"/>
                </a:lnTo>
                <a:close/>
              </a:path>
            </a:pathLst>
          </a:custGeom>
          <a:solidFill>
            <a:srgbClr val="323F4F"/>
          </a:solidFill>
          <a:ln w="25400" cap="flat" cmpd="sng">
            <a:solidFill>
              <a:srgbClr val="323F4F"/>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18" name="Google Shape;618;p67"/>
          <p:cNvSpPr/>
          <p:nvPr/>
        </p:nvSpPr>
        <p:spPr>
          <a:xfrm rot="8592263">
            <a:off x="9984137" y="2102997"/>
            <a:ext cx="1532651" cy="2692129"/>
          </a:xfrm>
          <a:custGeom>
            <a:avLst/>
            <a:gdLst/>
            <a:ahLst/>
            <a:cxnLst/>
            <a:rect l="l" t="t" r="r" b="b"/>
            <a:pathLst>
              <a:path w="21600" h="21600" extrusionOk="0">
                <a:moveTo>
                  <a:pt x="0" y="21600"/>
                </a:moveTo>
                <a:lnTo>
                  <a:pt x="21600" y="21600"/>
                </a:lnTo>
                <a:lnTo>
                  <a:pt x="0" y="0"/>
                </a:lnTo>
                <a:close/>
              </a:path>
            </a:pathLst>
          </a:custGeom>
          <a:solidFill>
            <a:srgbClr val="8296B0"/>
          </a:solidFill>
          <a:ln w="25400" cap="flat" cmpd="sng">
            <a:solidFill>
              <a:srgbClr val="8296B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358140" y="3152775"/>
            <a:ext cx="4443730" cy="1014730"/>
          </a:xfrm>
          <a:prstGeom prst="rect">
            <a:avLst/>
          </a:prstGeom>
          <a:noFill/>
        </p:spPr>
        <p:txBody>
          <a:bodyPr wrap="square" rtlCol="0">
            <a:spAutoFit/>
          </a:bodyPr>
          <a:p>
            <a:pPr algn="l" eaLnBrk="1" fontAlgn="auto" latinLnBrk="0" hangingPunct="1">
              <a:lnSpc>
                <a:spcPct val="150000"/>
              </a:lnSpc>
            </a:pPr>
            <a:r>
              <a:rPr lang="zh-CN" sz="4000" b="1">
                <a:latin typeface="+mj-ea"/>
                <a:ea typeface="+mj-ea"/>
                <a:sym typeface="+mn-ea"/>
              </a:rPr>
              <a:t>其他</a:t>
            </a:r>
            <a:endParaRPr lang="zh-CN" altLang="en-US" sz="4000" b="1">
              <a:latin typeface="+mj-ea"/>
              <a:ea typeface="+mj-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2"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9" name="文本框 8"/>
          <p:cNvSpPr txBox="1"/>
          <p:nvPr/>
        </p:nvSpPr>
        <p:spPr>
          <a:xfrm>
            <a:off x="2139950" y="458470"/>
            <a:ext cx="5219065" cy="398780"/>
          </a:xfrm>
          <a:prstGeom prst="rect">
            <a:avLst/>
          </a:prstGeom>
          <a:noFill/>
        </p:spPr>
        <p:txBody>
          <a:bodyPr wrap="square" rtlCol="0">
            <a:spAutoFit/>
          </a:bodyPr>
          <a:p>
            <a:pPr algn="l"/>
            <a:r>
              <a:rPr lang="zh-CN" altLang="en-US"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其他</a:t>
            </a:r>
            <a:endParaRPr lang="zh-CN" altLang="en-US" sz="2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endParaRPr>
          </a:p>
        </p:txBody>
      </p:sp>
      <p:sp>
        <p:nvSpPr>
          <p:cNvPr id="4" name="文本框 3"/>
          <p:cNvSpPr txBox="1"/>
          <p:nvPr/>
        </p:nvSpPr>
        <p:spPr>
          <a:xfrm>
            <a:off x="2139950" y="964565"/>
            <a:ext cx="9613265" cy="5262245"/>
          </a:xfrm>
          <a:prstGeom prst="rect">
            <a:avLst/>
          </a:prstGeom>
          <a:noFill/>
        </p:spPr>
        <p:txBody>
          <a:bodyPr wrap="square" rtlCol="0">
            <a:spAutoFit/>
          </a:bodyPr>
          <a:p>
            <a:pPr eaLnBrk="1" fontAlgn="auto" latinLnBrk="0" hangingPunct="1">
              <a:lnSpc>
                <a:spcPct val="150000"/>
              </a:lnSpc>
            </a:pPr>
            <a:r>
              <a:rPr lang="en-US" altLang="zh-CN" sz="1600">
                <a:solidFill>
                  <a:schemeClr val="tx1"/>
                </a:solidFill>
                <a:latin typeface="宋体" panose="02010600030101010101" pitchFamily="2" charset="-122"/>
                <a:ea typeface="宋体" panose="02010600030101010101" pitchFamily="2" charset="-122"/>
                <a:sym typeface="+mn-ea"/>
              </a:rPr>
              <a:t>1</a:t>
            </a:r>
            <a:r>
              <a:rPr lang="zh-CN" altLang="en-US" sz="1600">
                <a:solidFill>
                  <a:schemeClr val="tx1"/>
                </a:solidFill>
                <a:latin typeface="宋体" panose="02010600030101010101" pitchFamily="2" charset="-122"/>
                <a:ea typeface="宋体" panose="02010600030101010101" pitchFamily="2" charset="-122"/>
                <a:sym typeface="+mn-ea"/>
              </a:rPr>
              <a:t>、</a:t>
            </a:r>
            <a:r>
              <a:rPr lang="zh-CN" sz="1600">
                <a:solidFill>
                  <a:schemeClr val="tx1"/>
                </a:solidFill>
                <a:latin typeface="宋体" panose="02010600030101010101" pitchFamily="2" charset="-122"/>
                <a:ea typeface="宋体" panose="02010600030101010101" pitchFamily="2" charset="-122"/>
                <a:sym typeface="+mn-ea"/>
              </a:rPr>
              <a:t>知识产权：广告不得侵犯或违反第三方的内容权利，包括版权、商标权、隐私权、形象权或者其他个人权利或所有权。</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en-US" altLang="zh-CN" sz="1600">
                <a:solidFill>
                  <a:schemeClr val="tx1"/>
                </a:solidFill>
                <a:latin typeface="宋体" panose="02010600030101010101" pitchFamily="2" charset="-122"/>
                <a:ea typeface="宋体" panose="02010600030101010101" pitchFamily="2" charset="-122"/>
                <a:sym typeface="+mn-ea"/>
              </a:rPr>
              <a:t>2</a:t>
            </a:r>
            <a:r>
              <a:rPr lang="zh-CN" altLang="en-US" sz="1600">
                <a:solidFill>
                  <a:schemeClr val="tx1"/>
                </a:solidFill>
                <a:latin typeface="宋体" panose="02010600030101010101" pitchFamily="2" charset="-122"/>
                <a:ea typeface="宋体" panose="02010600030101010101" pitchFamily="2" charset="-122"/>
                <a:sym typeface="+mn-ea"/>
              </a:rPr>
              <a:t>、</a:t>
            </a:r>
            <a:r>
              <a:rPr lang="zh-CN" sz="1600">
                <a:solidFill>
                  <a:schemeClr val="tx1"/>
                </a:solidFill>
                <a:latin typeface="宋体" panose="02010600030101010101" pitchFamily="2" charset="-122"/>
                <a:ea typeface="宋体" panose="02010600030101010101" pitchFamily="2" charset="-122"/>
                <a:sym typeface="+mn-ea"/>
              </a:rPr>
              <a:t>误导或虚假内容广告不得包含欺骗性、虚假或误导性内容，包括欺骗性言论、优惠或商业行为。 </a:t>
            </a:r>
            <a:endParaRPr lang="zh-CN" sz="1600">
              <a:solidFill>
                <a:schemeClr val="tx1"/>
              </a:solidFill>
              <a:latin typeface="宋体" panose="02010600030101010101" pitchFamily="2" charset="-122"/>
              <a:ea typeface="宋体" panose="02010600030101010101" pitchFamily="2" charset="-122"/>
              <a:sym typeface="+mn-ea"/>
            </a:endParaRPr>
          </a:p>
          <a:p>
            <a:pPr eaLnBrk="1" fontAlgn="auto" latinLnBrk="0" hangingPunct="1">
              <a:lnSpc>
                <a:spcPct val="150000"/>
              </a:lnSpc>
            </a:pPr>
            <a:endParaRPr lang="zh-CN" sz="1600">
              <a:solidFill>
                <a:schemeClr val="tx1"/>
              </a:solidFill>
              <a:latin typeface="宋体" panose="02010600030101010101" pitchFamily="2" charset="-122"/>
              <a:ea typeface="宋体" panose="02010600030101010101" pitchFamily="2" charset="-122"/>
              <a:sym typeface="+mn-ea"/>
            </a:endParaRPr>
          </a:p>
          <a:p>
            <a:pPr eaLnBrk="1" fontAlgn="auto" latinLnBrk="0" hangingPunct="1">
              <a:lnSpc>
                <a:spcPct val="150000"/>
              </a:lnSpc>
            </a:pPr>
            <a:r>
              <a:rPr lang="en-US" altLang="zh-CN" sz="1600">
                <a:solidFill>
                  <a:schemeClr val="tx1"/>
                </a:solidFill>
                <a:latin typeface="宋体" panose="02010600030101010101" pitchFamily="2" charset="-122"/>
                <a:ea typeface="宋体" panose="02010600030101010101" pitchFamily="2" charset="-122"/>
                <a:sym typeface="+mn-ea"/>
              </a:rPr>
              <a:t>3</a:t>
            </a:r>
            <a:r>
              <a:rPr lang="zh-CN" altLang="en-US" sz="1600">
                <a:solidFill>
                  <a:schemeClr val="tx1"/>
                </a:solidFill>
                <a:latin typeface="宋体" panose="02010600030101010101" pitchFamily="2" charset="-122"/>
                <a:ea typeface="宋体" panose="02010600030101010101" pitchFamily="2" charset="-122"/>
                <a:sym typeface="+mn-ea"/>
              </a:rPr>
              <a:t>、</a:t>
            </a:r>
            <a:r>
              <a:rPr lang="zh-CN" sz="1600">
                <a:solidFill>
                  <a:schemeClr val="tx1"/>
                </a:solidFill>
                <a:latin typeface="宋体" panose="02010600030101010101" pitchFamily="2" charset="-122"/>
                <a:ea typeface="宋体" panose="02010600030101010101" pitchFamily="2" charset="-122"/>
                <a:sym typeface="+mn-ea"/>
              </a:rPr>
              <a:t>监控设备广告不得推销偷拍摄像头、手机追踪器或其他隐藏式监视设备。 </a:t>
            </a:r>
            <a:endParaRPr lang="zh-CN" sz="1600">
              <a:solidFill>
                <a:schemeClr val="tx1"/>
              </a:solidFill>
              <a:latin typeface="宋体" panose="02010600030101010101" pitchFamily="2" charset="-122"/>
              <a:ea typeface="宋体" panose="02010600030101010101" pitchFamily="2" charset="-122"/>
              <a:sym typeface="+mn-ea"/>
            </a:endParaRPr>
          </a:p>
          <a:p>
            <a:pPr eaLnBrk="1" fontAlgn="auto" latinLnBrk="0" hangingPunct="1">
              <a:lnSpc>
                <a:spcPct val="150000"/>
              </a:lnSpc>
            </a:pP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en-US" altLang="zh-CN" sz="1600">
                <a:solidFill>
                  <a:schemeClr val="tx1"/>
                </a:solidFill>
                <a:latin typeface="宋体" panose="02010600030101010101" pitchFamily="2" charset="-122"/>
                <a:ea typeface="宋体" panose="02010600030101010101" pitchFamily="2" charset="-122"/>
                <a:sym typeface="+mn-ea"/>
              </a:rPr>
              <a:t>4</a:t>
            </a:r>
            <a:r>
              <a:rPr lang="zh-CN" altLang="en-US" sz="1600">
                <a:solidFill>
                  <a:schemeClr val="tx1"/>
                </a:solidFill>
                <a:latin typeface="宋体" panose="02010600030101010101" pitchFamily="2" charset="-122"/>
                <a:ea typeface="宋体" panose="02010600030101010101" pitchFamily="2" charset="-122"/>
                <a:sym typeface="+mn-ea"/>
              </a:rPr>
              <a:t>、</a:t>
            </a:r>
            <a:r>
              <a:rPr lang="zh-CN" sz="1600">
                <a:solidFill>
                  <a:schemeClr val="tx1"/>
                </a:solidFill>
                <a:latin typeface="宋体" panose="02010600030101010101" pitchFamily="2" charset="-122"/>
                <a:ea typeface="宋体" panose="02010600030101010101" pitchFamily="2" charset="-122"/>
                <a:sym typeface="+mn-ea"/>
              </a:rPr>
              <a:t>落地页注意事项：广告不得包含无法规范运作的落地页。 </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sym typeface="+mn-ea"/>
              </a:rPr>
              <a:t>   目标网址：目标网址必须能够在所有的浏览器中都正常运作，包括桌面端和移动端，以及所有的操作 系统及电信运营商。</a:t>
            </a:r>
            <a:endParaRPr lang="zh-CN" sz="1600">
              <a:solidFill>
                <a:schemeClr val="tx1"/>
              </a:solidFill>
              <a:latin typeface="宋体" panose="02010600030101010101" pitchFamily="2" charset="-122"/>
              <a:ea typeface="宋体" panose="02010600030101010101" pitchFamily="2" charset="-122"/>
            </a:endParaRPr>
          </a:p>
          <a:p>
            <a:pPr eaLnBrk="1" fontAlgn="auto" latinLnBrk="0" hangingPunct="1">
              <a:lnSpc>
                <a:spcPct val="150000"/>
              </a:lnSpc>
            </a:pPr>
            <a:r>
              <a:rPr lang="zh-CN" sz="1600">
                <a:solidFill>
                  <a:schemeClr val="tx1"/>
                </a:solidFill>
                <a:latin typeface="宋体" panose="02010600030101010101" pitchFamily="2" charset="-122"/>
                <a:ea typeface="宋体" panose="02010600030101010101" pitchFamily="2" charset="-122"/>
                <a:sym typeface="+mn-ea"/>
              </a:rPr>
              <a:t>   错误网页: 目标网址不得将用户引导至正在建设中的网页或错误网页。同时，请确保所有跟踪网址都能准确地重新定向至您指定的落地页。 </a:t>
            </a:r>
            <a:endParaRPr lang="zh-CN" sz="1600">
              <a:solidFill>
                <a:schemeClr val="tx1"/>
              </a:solidFill>
              <a:latin typeface="宋体" panose="02010600030101010101" pitchFamily="2" charset="-122"/>
              <a:ea typeface="宋体" panose="02010600030101010101" pitchFamily="2" charset="-122"/>
              <a:sym typeface="+mn-ea"/>
            </a:endParaRPr>
          </a:p>
          <a:p>
            <a:pPr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a:p>
            <a:pPr eaLnBrk="1" fontAlgn="auto" latinLnBrk="0" hangingPunct="1">
              <a:lnSpc>
                <a:spcPct val="150000"/>
              </a:lnSpc>
            </a:pPr>
            <a:endParaRPr lang="zh-CN" altLang="en-US" sz="1600">
              <a:latin typeface="宋体" panose="02010600030101010101" pitchFamily="2" charset="-122"/>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mn-ea"/>
              </a:rPr>
              <a:t>9月</a:t>
            </a:r>
            <a:r>
              <a:rPr lang="en-US" altLang="zh-CN" sz="2400" b="1">
                <a:solidFill>
                  <a:schemeClr val="lt1"/>
                </a:solidFill>
                <a:latin typeface="宋体" panose="02010600030101010101" pitchFamily="2" charset="-122"/>
                <a:ea typeface="宋体" panose="02010600030101010101" pitchFamily="2" charset="-122"/>
                <a:sym typeface="+mn-ea"/>
              </a:rPr>
              <a:t>25</a:t>
            </a:r>
            <a:r>
              <a:rPr lang="zh-CN" sz="2400" b="1">
                <a:solidFill>
                  <a:schemeClr val="lt1"/>
                </a:solidFill>
                <a:latin typeface="宋体" panose="02010600030101010101" pitchFamily="2" charset="-122"/>
                <a:ea typeface="宋体" panose="02010600030101010101" pitchFamily="2" charset="-122"/>
                <a:sym typeface="+mn-ea"/>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sym typeface="Arial" panose="020B0604020202020204"/>
              </a:rPr>
              <a:t>（周</a:t>
            </a:r>
            <a:r>
              <a:rPr lang="zh-CN" sz="2400" b="1">
                <a:solidFill>
                  <a:schemeClr val="lt1"/>
                </a:solidFill>
                <a:latin typeface="宋体" panose="02010600030101010101" pitchFamily="2" charset="-122"/>
                <a:ea typeface="宋体" panose="02010600030101010101" pitchFamily="2" charset="-122"/>
                <a:sym typeface="+mn-ea"/>
              </a:rPr>
              <a:t>三</a:t>
            </a:r>
            <a:r>
              <a:rPr lang="zh-CN" sz="2400" b="1">
                <a:solidFill>
                  <a:schemeClr val="lt1"/>
                </a:solidFill>
                <a:latin typeface="宋体" panose="02010600030101010101" pitchFamily="2" charset="-122"/>
                <a:ea typeface="宋体" panose="02010600030101010101" pitchFamily="2" charset="-122"/>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pic>
        <p:nvPicPr>
          <p:cNvPr id="370" name="Google Shape;370;p55"/>
          <p:cNvPicPr preferRelativeResize="0"/>
          <p:nvPr/>
        </p:nvPicPr>
        <p:blipFill rotWithShape="1">
          <a:blip r:embed="rId1"/>
          <a:srcRect/>
          <a:stretch>
            <a:fillRect/>
          </a:stretch>
        </p:blipFill>
        <p:spPr>
          <a:xfrm>
            <a:off x="0" y="0"/>
            <a:ext cx="1654200" cy="6858000"/>
          </a:xfrm>
          <a:prstGeom prst="rect">
            <a:avLst/>
          </a:prstGeom>
          <a:noFill/>
          <a:ln>
            <a:noFill/>
          </a:ln>
        </p:spPr>
      </p:pic>
      <p:sp>
        <p:nvSpPr>
          <p:cNvPr id="371" name="Google Shape;371;p55"/>
          <p:cNvSpPr/>
          <p:nvPr/>
        </p:nvSpPr>
        <p:spPr>
          <a:xfrm>
            <a:off x="0" y="1812105"/>
            <a:ext cx="1672500" cy="3495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2" name="Google Shape;372;p55"/>
          <p:cNvSpPr txBox="1"/>
          <p:nvPr/>
        </p:nvSpPr>
        <p:spPr>
          <a:xfrm>
            <a:off x="56515" y="2289175"/>
            <a:ext cx="1398905" cy="782955"/>
          </a:xfrm>
          <a:prstGeom prst="rect">
            <a:avLst/>
          </a:prstGeom>
          <a:noFill/>
          <a:ln>
            <a:noFill/>
          </a:ln>
        </p:spPr>
        <p:txBody>
          <a:bodyPr spcFirstLastPara="1" wrap="square" lIns="68575" tIns="34275" rIns="68575" bIns="34275" anchor="t" anchorCtr="0">
            <a:noAutofit/>
          </a:bodyPr>
          <a:lstStyle/>
          <a:p>
            <a:pPr marL="342900" lvl="0" indent="-254000" algn="l" rtl="0">
              <a:lnSpc>
                <a:spcPct val="129000"/>
              </a:lnSpc>
              <a:spcBef>
                <a:spcPts val="0"/>
              </a:spcBef>
              <a:spcAft>
                <a:spcPts val="0"/>
              </a:spcAft>
              <a:buClr>
                <a:schemeClr val="lt1"/>
              </a:buClr>
              <a:buSzPts val="1400"/>
              <a:buChar char="❖"/>
            </a:pPr>
            <a:r>
              <a:rPr lang="zh-CN" b="1">
                <a:solidFill>
                  <a:schemeClr val="lt1"/>
                </a:solidFill>
                <a:ea typeface="宋体" panose="02010600030101010101" pitchFamily="2" charset="-122"/>
              </a:rPr>
              <a:t>电商违规图文案例</a:t>
            </a:r>
            <a:endParaRPr lang="en-US" altLang="zh-CN" b="1">
              <a:solidFill>
                <a:schemeClr val="lt1"/>
              </a:solidFill>
              <a:ea typeface="宋体" panose="02010600030101010101" pitchFamily="2" charset="-122"/>
            </a:endParaRPr>
          </a:p>
        </p:txBody>
      </p:sp>
      <p:sp>
        <p:nvSpPr>
          <p:cNvPr id="373" name="Google Shape;373;p55"/>
          <p:cNvSpPr/>
          <p:nvPr/>
        </p:nvSpPr>
        <p:spPr>
          <a:xfrm>
            <a:off x="-4445" y="3373120"/>
            <a:ext cx="1658700" cy="3492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4" name="Google Shape;374;p55"/>
          <p:cNvSpPr txBox="1"/>
          <p:nvPr/>
        </p:nvSpPr>
        <p:spPr>
          <a:xfrm>
            <a:off x="266683" y="3391760"/>
            <a:ext cx="1104300" cy="394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金融</a:t>
            </a: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r" rtl="0">
              <a:lnSpc>
                <a:spcPct val="100000"/>
              </a:lnSpc>
              <a:spcBef>
                <a:spcPts val="0"/>
              </a:spcBef>
              <a:spcAft>
                <a:spcPts val="0"/>
              </a:spcAft>
              <a:buClr>
                <a:srgbClr val="000000"/>
              </a:buClr>
              <a:buSzPts val="1500"/>
              <a:buFont typeface="Arial" panose="020B0604020202020204"/>
              <a:buNone/>
            </a:pPr>
            <a:endParaRPr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7" name="Google Shape;377;p55"/>
          <p:cNvSpPr/>
          <p:nvPr/>
        </p:nvSpPr>
        <p:spPr>
          <a:xfrm>
            <a:off x="-5715" y="4622165"/>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常见违规案例</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378" name="Google Shape;378;p55"/>
          <p:cNvSpPr txBox="1"/>
          <p:nvPr/>
        </p:nvSpPr>
        <p:spPr>
          <a:xfrm>
            <a:off x="226700" y="1769200"/>
            <a:ext cx="11442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a:solidFill>
                  <a:srgbClr val="F26522"/>
                </a:solidFill>
                <a:latin typeface="宋体" panose="02010600030101010101" pitchFamily="2" charset="-122"/>
                <a:ea typeface="宋体" panose="02010600030101010101" pitchFamily="2" charset="-122"/>
              </a:rPr>
              <a:t>电商</a:t>
            </a:r>
            <a:endParaRPr lang="zh-CN" sz="1800" b="1">
              <a:solidFill>
                <a:srgbClr val="F26522"/>
              </a:solidFill>
              <a:latin typeface="宋体" panose="02010600030101010101" pitchFamily="2" charset="-122"/>
              <a:ea typeface="宋体" panose="02010600030101010101" pitchFamily="2" charset="-122"/>
            </a:endParaRPr>
          </a:p>
        </p:txBody>
      </p:sp>
      <p:sp>
        <p:nvSpPr>
          <p:cNvPr id="4" name="Google Shape;377;p55"/>
          <p:cNvSpPr/>
          <p:nvPr/>
        </p:nvSpPr>
        <p:spPr>
          <a:xfrm>
            <a:off x="12700" y="5873750"/>
            <a:ext cx="1659900" cy="344100"/>
          </a:xfrm>
          <a:prstGeom prst="homePlate">
            <a:avLst>
              <a:gd name="adj" fmla="val 50000"/>
            </a:avLst>
          </a:prstGeom>
          <a:solidFill>
            <a:srgbClr val="FFFFFF"/>
          </a:solidFill>
          <a:ln w="25400" cap="flat" cmpd="sng">
            <a:solidFill>
              <a:srgbClr val="F26522"/>
            </a:solidFill>
            <a:prstDash val="solid"/>
            <a:round/>
            <a:headEnd type="none" w="sm" len="sm"/>
            <a:tailEnd type="none" w="sm" len="sm"/>
          </a:ln>
        </p:spPr>
        <p:txBody>
          <a:bodyPr spcFirstLastPara="1" wrap="square" lIns="68575" tIns="34275" rIns="68575" bIns="34275" anchor="ctr" anchorCtr="0">
            <a:noAutofit/>
          </a:bodyPr>
          <a:p>
            <a:pPr marL="0" marR="0" lvl="0" indent="0" algn="ctr" rtl="0">
              <a:lnSpc>
                <a:spcPct val="100000"/>
              </a:lnSpc>
              <a:spcBef>
                <a:spcPts val="0"/>
              </a:spcBef>
              <a:spcAft>
                <a:spcPts val="0"/>
              </a:spcAft>
              <a:buClr>
                <a:schemeClr val="dk1"/>
              </a:buClr>
              <a:buSzPts val="1500"/>
              <a:buFont typeface="Arial" panose="020B0604020202020204"/>
              <a:buNone/>
            </a:pPr>
            <a:r>
              <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rPr>
              <a:t> 其他</a:t>
            </a:r>
            <a:endParaRPr lang="zh-CN" sz="1800" b="1" i="0" u="none" strike="noStrike" cap="none">
              <a:solidFill>
                <a:srgbClr val="F26522"/>
              </a:solidFill>
              <a:latin typeface="宋体" panose="02010600030101010101" pitchFamily="2" charset="-122"/>
              <a:ea typeface="宋体" panose="02010600030101010101" pitchFamily="2" charset="-122"/>
              <a:cs typeface="Arial" panose="020B0604020202020204"/>
              <a:sym typeface="Arial" panose="020B0604020202020204"/>
            </a:endParaRPr>
          </a:p>
        </p:txBody>
      </p:sp>
      <p:sp>
        <p:nvSpPr>
          <p:cNvPr id="7" name="Google Shape;372;p55"/>
          <p:cNvSpPr txBox="1"/>
          <p:nvPr/>
        </p:nvSpPr>
        <p:spPr>
          <a:xfrm>
            <a:off x="13335" y="3785870"/>
            <a:ext cx="1398905" cy="782955"/>
          </a:xfrm>
          <a:prstGeom prst="rect">
            <a:avLst/>
          </a:prstGeom>
          <a:noFill/>
          <a:ln>
            <a:noFill/>
          </a:ln>
        </p:spPr>
        <p:txBody>
          <a:bodyPr spcFirstLastPara="1" wrap="square" lIns="68575" tIns="34275" rIns="68575" bIns="34275" anchor="t" anchorCtr="0">
            <a:noAutofit/>
          </a:bodyPr>
          <a:p>
            <a:pPr marL="342900" lvl="0" indent="-254000" algn="l" rtl="0">
              <a:lnSpc>
                <a:spcPct val="129000"/>
              </a:lnSpc>
              <a:spcBef>
                <a:spcPts val="0"/>
              </a:spcBef>
              <a:spcAft>
                <a:spcPts val="0"/>
              </a:spcAft>
              <a:buClr>
                <a:schemeClr val="lt1"/>
              </a:buClr>
              <a:buSzPts val="1400"/>
              <a:buChar char="❖"/>
            </a:pPr>
            <a:r>
              <a:rPr lang="zh-CN" altLang="en-US" b="1">
                <a:solidFill>
                  <a:schemeClr val="lt1"/>
                </a:solidFill>
                <a:ea typeface="宋体" panose="02010600030101010101" pitchFamily="2" charset="-122"/>
              </a:rPr>
              <a:t>金融行业注意事项</a:t>
            </a:r>
            <a:endParaRPr lang="zh-CN" altLang="en-US" b="1">
              <a:solidFill>
                <a:schemeClr val="lt1"/>
              </a:solidFill>
              <a:ea typeface="宋体" panose="02010600030101010101" pitchFamily="2" charset="-122"/>
            </a:endParaRPr>
          </a:p>
        </p:txBody>
      </p:sp>
      <p:sp>
        <p:nvSpPr>
          <p:cNvPr id="8" name="Google Shape;375;p55"/>
          <p:cNvSpPr txBox="1"/>
          <p:nvPr/>
        </p:nvSpPr>
        <p:spPr>
          <a:xfrm>
            <a:off x="13441" y="151783"/>
            <a:ext cx="1625100" cy="1012200"/>
          </a:xfrm>
          <a:prstGeom prst="rect">
            <a:avLst/>
          </a:prstGeom>
          <a:noFill/>
          <a:ln>
            <a:noFill/>
          </a:ln>
        </p:spPr>
        <p:txBody>
          <a:bodyPr spcFirstLastPara="1" wrap="square" lIns="68575" tIns="34275" rIns="68575" bIns="34275" anchor="t" anchorCtr="0">
            <a:noAutofit/>
          </a:bodyPr>
          <a:p>
            <a:pPr marL="0" lvl="0" indent="0" algn="ctr" rtl="0">
              <a:spcBef>
                <a:spcPts val="0"/>
              </a:spcBef>
              <a:spcAft>
                <a:spcPts val="0"/>
              </a:spcAft>
              <a:buClr>
                <a:schemeClr val="dk1"/>
              </a:buClr>
              <a:buSzPts val="1500"/>
              <a:buFont typeface="Arial" panose="020B0604020202020204"/>
              <a:buNone/>
            </a:pPr>
            <a:r>
              <a:rPr lang="zh-CN" sz="2400" b="1">
                <a:solidFill>
                  <a:schemeClr val="lt1"/>
                </a:solidFill>
                <a:latin typeface="宋体" panose="02010600030101010101" pitchFamily="2" charset="-122"/>
                <a:ea typeface="宋体" panose="02010600030101010101" pitchFamily="2" charset="-122"/>
              </a:rPr>
              <a:t>9月</a:t>
            </a:r>
            <a:r>
              <a:rPr lang="en-US" altLang="zh-CN" sz="2400" b="1">
                <a:solidFill>
                  <a:schemeClr val="lt1"/>
                </a:solidFill>
                <a:latin typeface="宋体" panose="02010600030101010101" pitchFamily="2" charset="-122"/>
                <a:ea typeface="宋体" panose="02010600030101010101" pitchFamily="2" charset="-122"/>
              </a:rPr>
              <a:t>25</a:t>
            </a:r>
            <a:r>
              <a:rPr lang="zh-CN" sz="2400" b="1">
                <a:solidFill>
                  <a:schemeClr val="lt1"/>
                </a:solidFill>
                <a:latin typeface="宋体" panose="02010600030101010101" pitchFamily="2" charset="-122"/>
                <a:ea typeface="宋体" panose="02010600030101010101" pitchFamily="2" charset="-122"/>
              </a:rPr>
              <a:t>日</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500"/>
              <a:buFont typeface="Arial" panose="020B0604020202020204"/>
              <a:buNone/>
            </a:pPr>
            <a:r>
              <a:rPr lang="zh-CN"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rPr>
              <a:t>（周</a:t>
            </a:r>
            <a:r>
              <a:rPr lang="zh-CN" sz="2400" b="1">
                <a:solidFill>
                  <a:schemeClr val="lt1"/>
                </a:solidFill>
                <a:latin typeface="宋体" panose="02010600030101010101" pitchFamily="2" charset="-122"/>
                <a:ea typeface="宋体" panose="02010600030101010101" pitchFamily="2" charset="-122"/>
              </a:rPr>
              <a:t>三</a:t>
            </a:r>
            <a:r>
              <a:rPr lang="zh-CN"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rPr>
              <a:t>）</a:t>
            </a:r>
            <a:endParaRPr sz="2400" b="1" i="0" u="none" strike="noStrike" cap="none">
              <a:solidFill>
                <a:schemeClr val="lt1"/>
              </a:solidFill>
              <a:latin typeface="宋体" panose="02010600030101010101" pitchFamily="2" charset="-122"/>
              <a:ea typeface="宋体" panose="02010600030101010101" pitchFamily="2" charset="-122"/>
              <a:cs typeface="Arial" panose="020B0604020202020204"/>
              <a:sym typeface="Arial" panose="020B0604020202020204"/>
            </a:endParaRPr>
          </a:p>
        </p:txBody>
      </p:sp>
      <p:grpSp>
        <p:nvGrpSpPr>
          <p:cNvPr id="12" name="组合 11"/>
          <p:cNvGrpSpPr/>
          <p:nvPr/>
        </p:nvGrpSpPr>
        <p:grpSpPr>
          <a:xfrm>
            <a:off x="2129155" y="1640840"/>
            <a:ext cx="9446260" cy="1094740"/>
            <a:chOff x="2523" y="2867"/>
            <a:chExt cx="14876" cy="1724"/>
          </a:xfrm>
        </p:grpSpPr>
        <p:sp>
          <p:nvSpPr>
            <p:cNvPr id="10" name="文本框 9"/>
            <p:cNvSpPr txBox="1"/>
            <p:nvPr/>
          </p:nvSpPr>
          <p:spPr>
            <a:xfrm>
              <a:off x="2523" y="2867"/>
              <a:ext cx="14876" cy="1598"/>
            </a:xfrm>
            <a:prstGeom prst="rect">
              <a:avLst/>
            </a:prstGeom>
            <a:noFill/>
          </p:spPr>
          <p:txBody>
            <a:bodyPr wrap="square" rtlCol="0">
              <a:spAutoFit/>
            </a:bodyPr>
            <a:p>
              <a:pPr algn="ctr"/>
              <a:r>
                <a:rPr lang="zh-CN" altLang="en-US" sz="6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做得对，才能做得   ！</a:t>
              </a:r>
              <a:endParaRPr lang="zh-CN" altLang="en-US" sz="6000" b="1">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pic>
          <p:nvPicPr>
            <p:cNvPr id="11" name="图片 10"/>
            <p:cNvPicPr>
              <a:picLocks noChangeAspect="1"/>
            </p:cNvPicPr>
            <p:nvPr/>
          </p:nvPicPr>
          <p:blipFill>
            <a:blip r:embed="rId2"/>
            <a:srcRect l="12314" r="11269" b="8198"/>
            <a:stretch>
              <a:fillRect/>
            </a:stretch>
          </p:blipFill>
          <p:spPr>
            <a:xfrm>
              <a:off x="13458" y="2867"/>
              <a:ext cx="1435" cy="1724"/>
            </a:xfrm>
            <a:prstGeom prst="rect">
              <a:avLst/>
            </a:prstGeom>
          </p:spPr>
        </p:pic>
      </p:grpSp>
    </p:spTree>
  </p:cSld>
  <p:clrMapOvr>
    <a:masterClrMapping/>
  </p:clrMapOvr>
</p:sld>
</file>

<file path=ppt/theme/theme1.xml><?xml version="1.0" encoding="utf-8"?>
<a:theme xmlns:a="http://schemas.openxmlformats.org/drawingml/2006/main" name="2_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4204</Words>
  <Application>WPS 演示</Application>
  <PresentationFormat/>
  <Paragraphs>576</Paragraphs>
  <Slides>28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28</vt:i4>
      </vt:variant>
    </vt:vector>
  </HeadingPairs>
  <TitlesOfParts>
    <vt:vector size="40" baseType="lpstr">
      <vt:lpstr>Arial</vt:lpstr>
      <vt:lpstr>宋体</vt:lpstr>
      <vt:lpstr>Wingdings</vt:lpstr>
      <vt:lpstr>Arial</vt:lpstr>
      <vt:lpstr>Calibri</vt:lpstr>
      <vt:lpstr>微软雅黑</vt:lpstr>
      <vt:lpstr>Helvetica Neue</vt:lpstr>
      <vt:lpstr>Helvetica Neue Light</vt:lpstr>
      <vt:lpstr>Arial Unicode MS</vt:lpstr>
      <vt:lpstr>新宋体</vt:lpstr>
      <vt:lpstr>2_自定义设计方案</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小虎牙</cp:lastModifiedBy>
  <cp:revision>54</cp:revision>
  <dcterms:created xsi:type="dcterms:W3CDTF">2019-09-16T09:15:00Z</dcterms:created>
  <dcterms:modified xsi:type="dcterms:W3CDTF">2025-04-01T01:45:02Z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73232762C5BA4C04B4807C4D07D98EF6_12</vt:lpwstr>
  </property>
</Properties>
</file>